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61" r:id="rId3"/>
    <p:sldId id="262" r:id="rId4"/>
    <p:sldId id="275" r:id="rId5"/>
    <p:sldId id="267" r:id="rId6"/>
    <p:sldId id="284" r:id="rId7"/>
    <p:sldId id="265" r:id="rId8"/>
    <p:sldId id="277" r:id="rId9"/>
    <p:sldId id="264" r:id="rId10"/>
    <p:sldId id="272" r:id="rId11"/>
    <p:sldId id="273" r:id="rId12"/>
    <p:sldId id="281" r:id="rId13"/>
    <p:sldId id="282" r:id="rId14"/>
    <p:sldId id="283" r:id="rId15"/>
    <p:sldId id="268" r:id="rId16"/>
    <p:sldId id="269" r:id="rId17"/>
    <p:sldId id="257" r:id="rId18"/>
    <p:sldId id="260"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2" autoAdjust="0"/>
    <p:restoredTop sz="94660"/>
  </p:normalViewPr>
  <p:slideViewPr>
    <p:cSldViewPr snapToGrid="0">
      <p:cViewPr varScale="1">
        <p:scale>
          <a:sx n="91" d="100"/>
          <a:sy n="91" d="100"/>
        </p:scale>
        <p:origin x="-774" y="-96"/>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xmlns="" val="392363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091692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f0ec5c72bf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f0ec5c72bf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308943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f0ec5c72bf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f0ec5c72bf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4002689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12" name="Google Shape;54;p13">
            <a:extLst>
              <a:ext uri="{FF2B5EF4-FFF2-40B4-BE49-F238E27FC236}">
                <a16:creationId xmlns="" xmlns:a16="http://schemas.microsoft.com/office/drawing/2014/main" id="{10E0B2F0-0B78-4B02-8DA8-FFEBB559D4DA}"/>
              </a:ext>
            </a:extLst>
          </p:cNvPr>
          <p:cNvSpPr txBox="1"/>
          <p:nvPr/>
        </p:nvSpPr>
        <p:spPr>
          <a:xfrm>
            <a:off x="1249242" y="351277"/>
            <a:ext cx="7024316"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dirty="0">
                <a:solidFill>
                  <a:schemeClr val="dk1"/>
                </a:solidFill>
                <a:highlight>
                  <a:schemeClr val="lt1"/>
                </a:highlight>
                <a:latin typeface="Times New Roman"/>
                <a:ea typeface="Times New Roman"/>
                <a:cs typeface="Times New Roman"/>
                <a:sym typeface="Times New Roman"/>
              </a:rPr>
              <a:t>UNIVERSITY COLLEGE OF ENGINEERING, BIT CAMPUS, </a:t>
            </a:r>
          </a:p>
          <a:p>
            <a:pPr marL="0" lvl="0" indent="0" algn="ctr" rtl="0">
              <a:spcBef>
                <a:spcPts val="0"/>
              </a:spcBef>
              <a:spcAft>
                <a:spcPts val="0"/>
              </a:spcAft>
              <a:buNone/>
            </a:pPr>
            <a:r>
              <a:rPr lang="en" sz="1800" b="1" dirty="0">
                <a:solidFill>
                  <a:schemeClr val="dk1"/>
                </a:solidFill>
                <a:highlight>
                  <a:schemeClr val="lt1"/>
                </a:highlight>
                <a:latin typeface="Times New Roman"/>
                <a:ea typeface="Times New Roman"/>
                <a:cs typeface="Times New Roman"/>
                <a:sym typeface="Times New Roman"/>
              </a:rPr>
              <a:t>TIRUCHIRAPPALLI-620024</a:t>
            </a:r>
            <a:endParaRPr sz="1800" b="1" dirty="0">
              <a:solidFill>
                <a:schemeClr val="dk1"/>
              </a:solidFill>
              <a:latin typeface="Times New Roman"/>
              <a:ea typeface="Times New Roman"/>
              <a:cs typeface="Times New Roman"/>
              <a:sym typeface="Times New Roman"/>
            </a:endParaRPr>
          </a:p>
        </p:txBody>
      </p:sp>
      <p:sp>
        <p:nvSpPr>
          <p:cNvPr id="13" name="Google Shape;57;p13">
            <a:extLst>
              <a:ext uri="{FF2B5EF4-FFF2-40B4-BE49-F238E27FC236}">
                <a16:creationId xmlns="" xmlns:a16="http://schemas.microsoft.com/office/drawing/2014/main" id="{1E4D6647-F062-4080-ABC0-CD8587DB88AE}"/>
              </a:ext>
            </a:extLst>
          </p:cNvPr>
          <p:cNvSpPr txBox="1"/>
          <p:nvPr/>
        </p:nvSpPr>
        <p:spPr>
          <a:xfrm>
            <a:off x="-71714" y="3679959"/>
            <a:ext cx="3045324" cy="1077188"/>
          </a:xfrm>
          <a:prstGeom prst="rect">
            <a:avLst/>
          </a:prstGeom>
          <a:noFill/>
          <a:ln>
            <a:noFill/>
          </a:ln>
        </p:spPr>
        <p:txBody>
          <a:bodyPr spcFirstLastPara="1" wrap="square" lIns="91425" tIns="91425" rIns="91425" bIns="91425" anchor="t" anchorCtr="0">
            <a:spAutoFit/>
          </a:bodyPr>
          <a:lstStyle/>
          <a:p>
            <a:pPr indent="457200">
              <a:lnSpc>
                <a:spcPct val="50000"/>
              </a:lnSpc>
            </a:pPr>
            <a:r>
              <a:rPr lang="en" dirty="0">
                <a:solidFill>
                  <a:schemeClr val="dk1"/>
                </a:solidFill>
                <a:latin typeface="Times New Roman"/>
                <a:ea typeface="Times New Roman"/>
                <a:cs typeface="Times New Roman"/>
                <a:sym typeface="Times New Roman"/>
              </a:rPr>
              <a:t>Presented By:</a:t>
            </a:r>
          </a:p>
          <a:p>
            <a:pPr indent="457200">
              <a:lnSpc>
                <a:spcPct val="50000"/>
              </a:lnSpc>
            </a:pPr>
            <a:endParaRPr dirty="0">
              <a:solidFill>
                <a:schemeClr val="dk1"/>
              </a:solidFill>
              <a:latin typeface="Times New Roman"/>
              <a:ea typeface="Times New Roman"/>
              <a:cs typeface="Times New Roman"/>
              <a:sym typeface="Times New Roman"/>
            </a:endParaRPr>
          </a:p>
          <a:p>
            <a:pPr>
              <a:lnSpc>
                <a:spcPct val="50000"/>
              </a:lnSpc>
              <a:spcBef>
                <a:spcPts val="1200"/>
              </a:spcBef>
            </a:pPr>
            <a:r>
              <a:rPr lang="en" dirty="0">
                <a:solidFill>
                  <a:schemeClr val="dk1"/>
                </a:solidFill>
                <a:latin typeface="Times New Roman"/>
                <a:ea typeface="Times New Roman"/>
                <a:cs typeface="Times New Roman"/>
                <a:sym typeface="Times New Roman"/>
              </a:rPr>
              <a:t>          Sakthivel.M (810020205502)</a:t>
            </a:r>
            <a:endParaRPr dirty="0">
              <a:solidFill>
                <a:schemeClr val="dk1"/>
              </a:solidFill>
              <a:latin typeface="Times New Roman"/>
              <a:ea typeface="Times New Roman"/>
              <a:cs typeface="Times New Roman"/>
              <a:sym typeface="Times New Roman"/>
            </a:endParaRPr>
          </a:p>
          <a:p>
            <a:pPr>
              <a:lnSpc>
                <a:spcPct val="50000"/>
              </a:lnSpc>
              <a:spcBef>
                <a:spcPts val="1200"/>
              </a:spcBef>
              <a:spcAft>
                <a:spcPts val="1200"/>
              </a:spcAft>
            </a:pPr>
            <a:r>
              <a:rPr lang="en" dirty="0">
                <a:solidFill>
                  <a:schemeClr val="dk1"/>
                </a:solidFill>
                <a:latin typeface="Times New Roman"/>
                <a:ea typeface="Times New Roman"/>
                <a:cs typeface="Times New Roman"/>
                <a:sym typeface="Times New Roman"/>
              </a:rPr>
              <a:t>          Selvakumar.G(810020205316)</a:t>
            </a:r>
            <a:endParaRPr dirty="0">
              <a:solidFill>
                <a:schemeClr val="dk1"/>
              </a:solidFill>
              <a:latin typeface="Times New Roman"/>
              <a:ea typeface="Times New Roman"/>
              <a:cs typeface="Times New Roman"/>
              <a:sym typeface="Times New Roman"/>
            </a:endParaRPr>
          </a:p>
        </p:txBody>
      </p:sp>
      <p:sp>
        <p:nvSpPr>
          <p:cNvPr id="14" name="Google Shape;58;p13">
            <a:extLst>
              <a:ext uri="{FF2B5EF4-FFF2-40B4-BE49-F238E27FC236}">
                <a16:creationId xmlns="" xmlns:a16="http://schemas.microsoft.com/office/drawing/2014/main" id="{40F048DD-A397-43C9-AD43-D0B4C3B3A216}"/>
              </a:ext>
            </a:extLst>
          </p:cNvPr>
          <p:cNvSpPr txBox="1"/>
          <p:nvPr/>
        </p:nvSpPr>
        <p:spPr>
          <a:xfrm>
            <a:off x="1040975" y="2067699"/>
            <a:ext cx="6815401" cy="738632"/>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en-IN" sz="3200" b="1" dirty="0"/>
              <a:t>Bone Fracture Detection Using Machine Learning</a:t>
            </a:r>
            <a:endParaRPr lang="en" sz="2400" b="1" dirty="0">
              <a:solidFill>
                <a:schemeClr val="dk1"/>
              </a:solidFill>
              <a:highlight>
                <a:srgbClr val="FFFFFF"/>
              </a:highlight>
              <a:latin typeface="Times New Roman"/>
              <a:ea typeface="Times New Roman"/>
              <a:cs typeface="Times New Roman"/>
            </a:endParaRPr>
          </a:p>
        </p:txBody>
      </p:sp>
      <p:sp>
        <p:nvSpPr>
          <p:cNvPr id="15" name="Text Box 9">
            <a:extLst>
              <a:ext uri="{FF2B5EF4-FFF2-40B4-BE49-F238E27FC236}">
                <a16:creationId xmlns="" xmlns:a16="http://schemas.microsoft.com/office/drawing/2014/main" id="{9A472D50-B243-4F76-9701-B8854C2F3309}"/>
              </a:ext>
            </a:extLst>
          </p:cNvPr>
          <p:cNvSpPr txBox="1"/>
          <p:nvPr/>
        </p:nvSpPr>
        <p:spPr>
          <a:xfrm>
            <a:off x="6693091" y="3540531"/>
            <a:ext cx="2450909" cy="138499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Under the guidance of,</a:t>
            </a:r>
          </a:p>
          <a:p>
            <a:endParaRPr lang="en-US" dirty="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DR.I.Shahanas</a:t>
            </a:r>
            <a:r>
              <a:rPr lang="en-US" smtClean="0">
                <a:latin typeface="Times New Roman" panose="02020603050405020304" pitchFamily="18" charset="0"/>
                <a:cs typeface="Times New Roman" panose="02020603050405020304" pitchFamily="18" charset="0"/>
              </a:rPr>
              <a:t> Begum</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Assistant  professor,</a:t>
            </a:r>
          </a:p>
          <a:p>
            <a:r>
              <a:rPr lang="en-US" dirty="0">
                <a:latin typeface="Times New Roman" panose="02020603050405020304" pitchFamily="18" charset="0"/>
                <a:cs typeface="Times New Roman" panose="02020603050405020304" pitchFamily="18" charset="0"/>
              </a:rPr>
              <a:t>Department of CSE</a:t>
            </a:r>
          </a:p>
          <a:p>
            <a:endParaRPr lang="en-US" dirty="0">
              <a:latin typeface="Times New Roman" panose="02020603050405020304" pitchFamily="18" charset="0"/>
              <a:cs typeface="Times New Roman" panose="02020603050405020304" pitchFamily="18" charset="0"/>
            </a:endParaRPr>
          </a:p>
        </p:txBody>
      </p:sp>
      <p:pic>
        <p:nvPicPr>
          <p:cNvPr id="16" name="Picture 2" descr="https://lh3.googleusercontent.com/qrf0lWsq_xAezc1lw7h_VfzLnAu3LJ6byOM0M_8051mRmlvIqOtLcI6AKUYQVI-Dhe-ZfYQH-cGRyQU-m34ibAEW5zRT4UD9ZCNH7eU0TPjImhHEOGkRTDNK7WYB_43DteT1zhooeLhAM5jT5_YqLMkxHQ=s2048">
            <a:extLst>
              <a:ext uri="{FF2B5EF4-FFF2-40B4-BE49-F238E27FC236}">
                <a16:creationId xmlns="" xmlns:a16="http://schemas.microsoft.com/office/drawing/2014/main" id="{8D436164-32E2-4180-A51C-42C0319CB1FA}"/>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5928" y="186903"/>
            <a:ext cx="939525" cy="89682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7D4CAD-3A5B-4536-82F1-DC4D9227B880}"/>
              </a:ext>
            </a:extLst>
          </p:cNvPr>
          <p:cNvSpPr>
            <a:spLocks noGrp="1"/>
          </p:cNvSpPr>
          <p:nvPr>
            <p:ph type="title"/>
          </p:nvPr>
        </p:nvSpPr>
        <p:spPr>
          <a:xfrm>
            <a:off x="311700" y="537572"/>
            <a:ext cx="8520600" cy="572700"/>
          </a:xfrm>
        </p:spPr>
        <p:txBody>
          <a:bodyPr>
            <a:normAutofit fontScale="90000"/>
          </a:bodyPr>
          <a:lstStyle/>
          <a:p>
            <a:pPr>
              <a:buFont typeface="Wingdings" pitchFamily="2" charset="2"/>
              <a:buChar char="Ø"/>
            </a:pPr>
            <a:r>
              <a:rPr lang="en-IN" dirty="0">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 xmlns:a16="http://schemas.microsoft.com/office/drawing/2014/main" id="{1EFF48B6-7C35-4C5E-A668-BA49F1BE60C6}"/>
              </a:ext>
            </a:extLst>
          </p:cNvPr>
          <p:cNvSpPr>
            <a:spLocks noGrp="1"/>
          </p:cNvSpPr>
          <p:nvPr>
            <p:ph type="body" idx="1"/>
          </p:nvPr>
        </p:nvSpPr>
        <p:spPr>
          <a:xfrm>
            <a:off x="311700" y="1110272"/>
            <a:ext cx="8520600" cy="3416400"/>
          </a:xfrm>
        </p:spPr>
        <p:txBody>
          <a:bodyPr>
            <a:normAutofit fontScale="70000" lnSpcReduction="20000"/>
          </a:bodyPr>
          <a:lstStyle/>
          <a:p>
            <a:pPr algn="just">
              <a:buFont typeface="Arial" panose="020B0604020202020204" pitchFamily="34" charset="0"/>
              <a:buChar char="•"/>
            </a:pPr>
            <a:r>
              <a:rPr lang="en-US" sz="2300" dirty="0">
                <a:solidFill>
                  <a:schemeClr val="tx1"/>
                </a:solidFill>
                <a:latin typeface="Times New Roman" pitchFamily="18" charset="0"/>
                <a:cs typeface="Times New Roman" pitchFamily="18" charset="0"/>
              </a:rPr>
              <a:t>Fracture occurs when a heavy force disburse against a bone is tough than the bone can structurally resist. Among the various diseases, detection of bone fracture and its treatment, which affects many people, is becoming increasingly important in today's culture. </a:t>
            </a:r>
          </a:p>
          <a:p>
            <a:pPr algn="just">
              <a:buFont typeface="Arial" panose="020B0604020202020204" pitchFamily="34" charset="0"/>
              <a:buChar char="•"/>
            </a:pPr>
            <a:endParaRPr lang="en-US" sz="2300" dirty="0">
              <a:solidFill>
                <a:schemeClr val="tx1"/>
              </a:solidFill>
              <a:latin typeface="Times New Roman" pitchFamily="18" charset="0"/>
              <a:cs typeface="Times New Roman" pitchFamily="18" charset="0"/>
            </a:endParaRPr>
          </a:p>
          <a:p>
            <a:pPr algn="just">
              <a:buFont typeface="Arial" panose="020B0604020202020204" pitchFamily="34" charset="0"/>
              <a:buChar char="•"/>
            </a:pPr>
            <a:r>
              <a:rPr lang="en-US" sz="2300" dirty="0">
                <a:solidFill>
                  <a:schemeClr val="tx1"/>
                </a:solidFill>
                <a:latin typeface="Times New Roman" pitchFamily="18" charset="0"/>
                <a:cs typeface="Times New Roman" pitchFamily="18" charset="0"/>
              </a:rPr>
              <a:t>Bone fracture is a common problem in most developed countries, and the number of fractures is increasing rapidly</a:t>
            </a:r>
          </a:p>
          <a:p>
            <a:pPr algn="just">
              <a:buFont typeface="Arial" panose="020B0604020202020204" pitchFamily="34" charset="0"/>
              <a:buChar char="•"/>
            </a:pPr>
            <a:endParaRPr lang="en-US" sz="2300" dirty="0">
              <a:solidFill>
                <a:schemeClr val="tx1"/>
              </a:solidFill>
              <a:latin typeface="Times New Roman" pitchFamily="18" charset="0"/>
              <a:cs typeface="Times New Roman" pitchFamily="18" charset="0"/>
            </a:endParaRPr>
          </a:p>
          <a:p>
            <a:pPr algn="just">
              <a:buFont typeface="Arial" panose="020B0604020202020204" pitchFamily="34" charset="0"/>
              <a:buChar char="•"/>
            </a:pPr>
            <a:r>
              <a:rPr lang="en-US" sz="2300" dirty="0">
                <a:solidFill>
                  <a:schemeClr val="tx1"/>
                </a:solidFill>
                <a:latin typeface="Times New Roman" pitchFamily="18" charset="0"/>
                <a:cs typeface="Times New Roman" pitchFamily="18" charset="0"/>
              </a:rPr>
              <a:t>In practice, specialists and radiologists rely heavily on X-ray images to determine whether or not a fracture has occurred, as well as the precise location of the fracture.</a:t>
            </a:r>
          </a:p>
          <a:p>
            <a:pPr algn="just">
              <a:buFont typeface="Arial" panose="020B0604020202020204" pitchFamily="34" charset="0"/>
              <a:buChar char="•"/>
            </a:pPr>
            <a:endParaRPr lang="en-US" sz="2300" dirty="0">
              <a:solidFill>
                <a:schemeClr val="tx1"/>
              </a:solidFill>
              <a:latin typeface="Times New Roman" pitchFamily="18" charset="0"/>
              <a:cs typeface="Times New Roman" pitchFamily="18" charset="0"/>
            </a:endParaRPr>
          </a:p>
          <a:p>
            <a:pPr algn="just">
              <a:buFont typeface="Arial" panose="020B0604020202020204" pitchFamily="34" charset="0"/>
              <a:buChar char="•"/>
            </a:pPr>
            <a:endParaRPr lang="en-US" sz="2300" dirty="0">
              <a:solidFill>
                <a:schemeClr val="tx1"/>
              </a:solidFill>
              <a:latin typeface="Times New Roman" pitchFamily="18" charset="0"/>
              <a:cs typeface="Times New Roman" pitchFamily="18" charset="0"/>
            </a:endParaRPr>
          </a:p>
          <a:p>
            <a:pPr algn="just">
              <a:buFont typeface="Arial" panose="020B0604020202020204" pitchFamily="34" charset="0"/>
              <a:buChar char="•"/>
            </a:pPr>
            <a:r>
              <a:rPr lang="en-US" sz="2300" dirty="0">
                <a:solidFill>
                  <a:schemeClr val="tx1"/>
                </a:solidFill>
                <a:latin typeface="Times New Roman" pitchFamily="18" charset="0"/>
                <a:cs typeface="Times New Roman" pitchFamily="18" charset="0"/>
              </a:rPr>
              <a:t>The focus of this study is to provide solution to the challenges of detecting fracture or non-fracture bone images</a:t>
            </a:r>
            <a:endParaRPr lang="en-US" sz="2300" b="0" i="0" dirty="0">
              <a:solidFill>
                <a:schemeClr val="tx1"/>
              </a:solidFill>
              <a:effectLst/>
              <a:latin typeface="Times New Roman" pitchFamily="18" charset="0"/>
              <a:cs typeface="Times New Roman" pitchFamily="18" charset="0"/>
            </a:endParaRPr>
          </a:p>
          <a:p>
            <a:pPr marL="114300" indent="0" algn="just">
              <a:buNone/>
            </a:pPr>
            <a:endParaRPr lang="en-US" sz="1400" b="0" i="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49753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D73CC5A0-AF2B-4044-94A4-C6B4EE316C16}"/>
              </a:ext>
            </a:extLst>
          </p:cNvPr>
          <p:cNvSpPr>
            <a:spLocks noGrp="1"/>
          </p:cNvSpPr>
          <p:nvPr>
            <p:ph type="title"/>
          </p:nvPr>
        </p:nvSpPr>
        <p:spPr>
          <a:xfrm>
            <a:off x="360937" y="641971"/>
            <a:ext cx="8520600" cy="511578"/>
          </a:xfrm>
        </p:spPr>
        <p:txBody>
          <a:bodyPr>
            <a:normAutofit fontScale="90000"/>
          </a:bodyPr>
          <a:lstStyle/>
          <a:p>
            <a:pPr>
              <a:buFont typeface="Wingdings" pitchFamily="2" charset="2"/>
              <a:buChar char="Ø"/>
            </a:pPr>
            <a:r>
              <a:rPr lang="en-IN" dirty="0">
                <a:latin typeface="Times New Roman" panose="02020603050405020304" pitchFamily="18" charset="0"/>
                <a:cs typeface="Times New Roman" panose="02020603050405020304" pitchFamily="18" charset="0"/>
              </a:rPr>
              <a:t>PROBLEM STATEMENT</a:t>
            </a:r>
          </a:p>
        </p:txBody>
      </p:sp>
      <p:sp>
        <p:nvSpPr>
          <p:cNvPr id="5" name="Text Placeholder 4">
            <a:extLst>
              <a:ext uri="{FF2B5EF4-FFF2-40B4-BE49-F238E27FC236}">
                <a16:creationId xmlns="" xmlns:a16="http://schemas.microsoft.com/office/drawing/2014/main" id="{2B2665FC-B8CE-467F-B0BA-D07D4B9F8929}"/>
              </a:ext>
            </a:extLst>
          </p:cNvPr>
          <p:cNvSpPr>
            <a:spLocks noGrp="1"/>
          </p:cNvSpPr>
          <p:nvPr>
            <p:ph type="body" idx="1"/>
          </p:nvPr>
        </p:nvSpPr>
        <p:spPr>
          <a:xfrm>
            <a:off x="360937" y="1153549"/>
            <a:ext cx="8471363" cy="2469545"/>
          </a:xfrm>
        </p:spPr>
        <p:txBody>
          <a:bodyPr>
            <a:normAutofit/>
          </a:bodyPr>
          <a:lstStyle/>
          <a:p>
            <a:pPr algn="l"/>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cs typeface="Times New Roman" panose="02020603050405020304" pitchFamily="18" charset="0"/>
              </a:rPr>
              <a:t>To </a:t>
            </a:r>
            <a:r>
              <a:rPr lang="en-US" sz="1800" u="none" strike="noStrike" baseline="0" dirty="0">
                <a:solidFill>
                  <a:schemeClr val="tx1"/>
                </a:solidFill>
                <a:latin typeface="Times New Roman" panose="02020603050405020304" pitchFamily="18" charset="0"/>
                <a:cs typeface="Times New Roman" panose="02020603050405020304" pitchFamily="18" charset="0"/>
              </a:rPr>
              <a:t>collect</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efficient datasets which include different types </a:t>
            </a: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xray</a:t>
            </a:r>
            <a:r>
              <a:rPr lang="en-US" dirty="0">
                <a:solidFill>
                  <a:srgbClr val="000000"/>
                </a:solidFill>
                <a:latin typeface="Times New Roman" panose="02020603050405020304" pitchFamily="18" charset="0"/>
                <a:cs typeface="Times New Roman" panose="02020603050405020304" pitchFamily="18" charset="0"/>
              </a:rPr>
              <a:t> images</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p>
          <a:p>
            <a:r>
              <a:rPr lang="en-US" sz="1800" b="0" i="0" u="none" strike="noStrike" baseline="0" dirty="0">
                <a:solidFill>
                  <a:srgbClr val="000000"/>
                </a:solidFill>
                <a:latin typeface="Times New Roman" panose="02020603050405020304" pitchFamily="18" charset="0"/>
                <a:cs typeface="Times New Roman" panose="02020603050405020304" pitchFamily="18" charset="0"/>
              </a:rPr>
              <a:t>To </a:t>
            </a:r>
            <a:r>
              <a:rPr lang="en-US" dirty="0">
                <a:solidFill>
                  <a:srgbClr val="000000"/>
                </a:solidFill>
                <a:latin typeface="Times New Roman" panose="02020603050405020304" pitchFamily="18" charset="0"/>
                <a:cs typeface="Times New Roman" panose="02020603050405020304" pitchFamily="18" charset="0"/>
              </a:rPr>
              <a:t>identify</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and optimize the dataset for training the model. </a:t>
            </a:r>
          </a:p>
          <a:p>
            <a:r>
              <a:rPr lang="en-US" sz="1800" b="0" i="0" u="none" strike="noStrike" baseline="0" dirty="0">
                <a:solidFill>
                  <a:srgbClr val="000000"/>
                </a:solidFill>
                <a:latin typeface="Times New Roman" panose="02020603050405020304" pitchFamily="18" charset="0"/>
                <a:cs typeface="Times New Roman" panose="02020603050405020304" pitchFamily="18" charset="0"/>
              </a:rPr>
              <a:t>To develop the  model using </a:t>
            </a:r>
            <a:r>
              <a:rPr lang="en-US" dirty="0">
                <a:solidFill>
                  <a:srgbClr val="000000"/>
                </a:solidFill>
                <a:latin typeface="Times New Roman" panose="02020603050405020304" pitchFamily="18" charset="0"/>
                <a:cs typeface="Times New Roman" panose="02020603050405020304" pitchFamily="18" charset="0"/>
              </a:rPr>
              <a:t>machine </a:t>
            </a:r>
            <a:r>
              <a:rPr lang="en-US" dirty="0" smtClean="0">
                <a:solidFill>
                  <a:srgbClr val="000000"/>
                </a:solidFill>
                <a:latin typeface="Times New Roman" panose="02020603050405020304" pitchFamily="18" charset="0"/>
                <a:cs typeface="Times New Roman" panose="02020603050405020304" pitchFamily="18" charset="0"/>
              </a:rPr>
              <a:t>learning.</a:t>
            </a:r>
            <a:r>
              <a:rPr lang="en-US" sz="1800" b="0" i="0" u="none" strike="noStrike" baseline="0" dirty="0" smtClean="0">
                <a:solidFill>
                  <a:srgbClr val="000000"/>
                </a:solidFill>
                <a:latin typeface="Times New Roman" panose="02020603050405020304" pitchFamily="18" charset="0"/>
                <a:cs typeface="Times New Roman" panose="02020603050405020304" pitchFamily="18" charset="0"/>
              </a:rPr>
              <a:t>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To identify </a:t>
            </a:r>
            <a:r>
              <a:rPr lang="en-US" dirty="0" smtClean="0">
                <a:solidFill>
                  <a:srgbClr val="000000"/>
                </a:solidFill>
                <a:latin typeface="Times New Roman" panose="02020603050405020304" pitchFamily="18" charset="0"/>
                <a:cs typeface="Times New Roman" panose="02020603050405020304" pitchFamily="18" charset="0"/>
              </a:rPr>
              <a:t>and detecting fracture or non-fracture bone images.</a:t>
            </a:r>
            <a:endParaRPr lang="en-US" sz="1600" dirty="0">
              <a:solidFill>
                <a:schemeClr val="tx1"/>
              </a:solidFill>
              <a:effectLst/>
              <a:latin typeface="Times New Roman" panose="02020603050405020304" pitchFamily="18" charset="0"/>
              <a:cs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114300" indent="0" algn="just">
              <a:lnSpc>
                <a:spcPct val="150000"/>
              </a:lnSpc>
              <a:buNone/>
            </a:pPr>
            <a:endParaRPr lang="en-IN" sz="1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66131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buFont typeface="Wingdings" pitchFamily="2" charset="2"/>
              <a:buChar char="Ø"/>
            </a:pPr>
            <a:r>
              <a:rPr lang="en-US" dirty="0" smtClean="0"/>
              <a:t>DATASET</a:t>
            </a:r>
            <a:endParaRPr lang="en-US" dirty="0"/>
          </a:p>
        </p:txBody>
      </p:sp>
      <p:sp>
        <p:nvSpPr>
          <p:cNvPr id="3" name="Text Placeholder 2"/>
          <p:cNvSpPr>
            <a:spLocks noGrp="1"/>
          </p:cNvSpPr>
          <p:nvPr>
            <p:ph type="body" idx="1"/>
          </p:nvPr>
        </p:nvSpPr>
        <p:spPr>
          <a:xfrm>
            <a:off x="154045" y="1208689"/>
            <a:ext cx="8520600" cy="3370696"/>
          </a:xfrm>
        </p:spPr>
        <p:txBody>
          <a:bodyPr/>
          <a:lstStyle/>
          <a:p>
            <a:r>
              <a:rPr lang="en-US" dirty="0" smtClean="0">
                <a:solidFill>
                  <a:schemeClr val="tx1"/>
                </a:solidFill>
                <a:latin typeface="Times New Roman" pitchFamily="18" charset="0"/>
                <a:cs typeface="Times New Roman" pitchFamily="18" charset="0"/>
              </a:rPr>
              <a:t>The data set we </a:t>
            </a:r>
            <a:r>
              <a:rPr lang="en-US" dirty="0" smtClean="0">
                <a:solidFill>
                  <a:schemeClr val="tx1"/>
                </a:solidFill>
                <a:latin typeface="Times New Roman" pitchFamily="18" charset="0"/>
                <a:cs typeface="Times New Roman" pitchFamily="18" charset="0"/>
              </a:rPr>
              <a:t>used </a:t>
            </a:r>
            <a:r>
              <a:rPr lang="en-US" dirty="0" smtClean="0">
                <a:solidFill>
                  <a:schemeClr val="tx1"/>
                </a:solidFill>
                <a:latin typeface="Times New Roman" pitchFamily="18" charset="0"/>
                <a:cs typeface="Times New Roman" pitchFamily="18" charset="0"/>
              </a:rPr>
              <a:t> included 3 different bone parts</a:t>
            </a:r>
            <a:r>
              <a:rPr lang="en-US" dirty="0" smtClean="0">
                <a:solidFill>
                  <a:schemeClr val="tx1"/>
                </a:solidFill>
              </a:rPr>
              <a:t>,  </a:t>
            </a:r>
            <a:endParaRPr lang="en-US" dirty="0">
              <a:solidFill>
                <a:schemeClr val="tx1"/>
              </a:solidFill>
            </a:endParaRPr>
          </a:p>
        </p:txBody>
      </p:sp>
      <p:graphicFrame>
        <p:nvGraphicFramePr>
          <p:cNvPr id="4" name="Table 3"/>
          <p:cNvGraphicFramePr>
            <a:graphicFrameLocks noGrp="1"/>
          </p:cNvGraphicFramePr>
          <p:nvPr/>
        </p:nvGraphicFramePr>
        <p:xfrm>
          <a:off x="1608082" y="2270233"/>
          <a:ext cx="6096000" cy="1360960"/>
        </p:xfrm>
        <a:graphic>
          <a:graphicData uri="http://schemas.openxmlformats.org/drawingml/2006/table">
            <a:tbl>
              <a:tblPr firstRow="1" bandRow="1">
                <a:tableStyleId>{5C22544A-7EE6-4342-B048-85BDC9FD1C3A}</a:tableStyleId>
              </a:tblPr>
              <a:tblGrid>
                <a:gridCol w="1524000"/>
                <a:gridCol w="1524000"/>
                <a:gridCol w="1524000"/>
                <a:gridCol w="1524000"/>
              </a:tblGrid>
              <a:tr h="340240">
                <a:tc>
                  <a:txBody>
                    <a:bodyPr/>
                    <a:lstStyle/>
                    <a:p>
                      <a:r>
                        <a:rPr lang="en-US" dirty="0" smtClean="0"/>
                        <a:t>       PART</a:t>
                      </a:r>
                      <a:endParaRPr lang="en-US" dirty="0"/>
                    </a:p>
                  </a:txBody>
                  <a:tcPr/>
                </a:tc>
                <a:tc>
                  <a:txBody>
                    <a:bodyPr/>
                    <a:lstStyle/>
                    <a:p>
                      <a:r>
                        <a:rPr lang="en-US" dirty="0" smtClean="0"/>
                        <a:t>     NORMAL</a:t>
                      </a:r>
                      <a:endParaRPr lang="en-US" dirty="0"/>
                    </a:p>
                  </a:txBody>
                  <a:tcPr/>
                </a:tc>
                <a:tc>
                  <a:txBody>
                    <a:bodyPr/>
                    <a:lstStyle/>
                    <a:p>
                      <a:r>
                        <a:rPr lang="en-US" dirty="0" smtClean="0"/>
                        <a:t>  </a:t>
                      </a:r>
                      <a:r>
                        <a:rPr lang="en-US" baseline="0" dirty="0" smtClean="0"/>
                        <a:t> </a:t>
                      </a:r>
                      <a:r>
                        <a:rPr lang="en-US" dirty="0" smtClean="0"/>
                        <a:t>FRACTURED</a:t>
                      </a:r>
                      <a:endParaRPr lang="en-US" dirty="0"/>
                    </a:p>
                  </a:txBody>
                  <a:tcPr/>
                </a:tc>
                <a:tc>
                  <a:txBody>
                    <a:bodyPr/>
                    <a:lstStyle/>
                    <a:p>
                      <a:r>
                        <a:rPr lang="en-US" dirty="0" smtClean="0"/>
                        <a:t>      TOTAL</a:t>
                      </a:r>
                      <a:endParaRPr lang="en-US" dirty="0"/>
                    </a:p>
                  </a:txBody>
                  <a:tcPr/>
                </a:tc>
              </a:tr>
              <a:tr h="340240">
                <a:tc>
                  <a:txBody>
                    <a:bodyPr/>
                    <a:lstStyle/>
                    <a:p>
                      <a:r>
                        <a:rPr lang="en-US" dirty="0" smtClean="0"/>
                        <a:t>Elbow</a:t>
                      </a:r>
                      <a:endParaRPr lang="en-US" dirty="0"/>
                    </a:p>
                  </a:txBody>
                  <a:tcPr/>
                </a:tc>
                <a:tc>
                  <a:txBody>
                    <a:bodyPr/>
                    <a:lstStyle/>
                    <a:p>
                      <a:r>
                        <a:rPr lang="en-US" dirty="0" smtClean="0"/>
                        <a:t>3160</a:t>
                      </a:r>
                      <a:endParaRPr lang="en-US" dirty="0"/>
                    </a:p>
                  </a:txBody>
                  <a:tcPr/>
                </a:tc>
                <a:tc>
                  <a:txBody>
                    <a:bodyPr/>
                    <a:lstStyle/>
                    <a:p>
                      <a:r>
                        <a:rPr lang="en-US" dirty="0" smtClean="0"/>
                        <a:t>2236</a:t>
                      </a:r>
                      <a:endParaRPr lang="en-US" dirty="0"/>
                    </a:p>
                  </a:txBody>
                  <a:tcPr/>
                </a:tc>
                <a:tc>
                  <a:txBody>
                    <a:bodyPr/>
                    <a:lstStyle/>
                    <a:p>
                      <a:r>
                        <a:rPr lang="en-US" dirty="0" smtClean="0"/>
                        <a:t>5396</a:t>
                      </a:r>
                      <a:endParaRPr lang="en-US" dirty="0"/>
                    </a:p>
                  </a:txBody>
                  <a:tcPr/>
                </a:tc>
              </a:tr>
              <a:tr h="340240">
                <a:tc>
                  <a:txBody>
                    <a:bodyPr/>
                    <a:lstStyle/>
                    <a:p>
                      <a:r>
                        <a:rPr lang="en-US" dirty="0" smtClean="0"/>
                        <a:t>Hand</a:t>
                      </a:r>
                      <a:endParaRPr lang="en-US" dirty="0"/>
                    </a:p>
                  </a:txBody>
                  <a:tcPr/>
                </a:tc>
                <a:tc>
                  <a:txBody>
                    <a:bodyPr/>
                    <a:lstStyle/>
                    <a:p>
                      <a:r>
                        <a:rPr lang="en-US" dirty="0" smtClean="0"/>
                        <a:t>4330</a:t>
                      </a:r>
                      <a:endParaRPr lang="en-US" dirty="0"/>
                    </a:p>
                  </a:txBody>
                  <a:tcPr/>
                </a:tc>
                <a:tc>
                  <a:txBody>
                    <a:bodyPr/>
                    <a:lstStyle/>
                    <a:p>
                      <a:r>
                        <a:rPr lang="en-US" dirty="0" smtClean="0"/>
                        <a:t>1673</a:t>
                      </a:r>
                      <a:endParaRPr lang="en-US" dirty="0"/>
                    </a:p>
                  </a:txBody>
                  <a:tcPr/>
                </a:tc>
                <a:tc>
                  <a:txBody>
                    <a:bodyPr/>
                    <a:lstStyle/>
                    <a:p>
                      <a:r>
                        <a:rPr lang="en-US" dirty="0" smtClean="0"/>
                        <a:t>6003</a:t>
                      </a:r>
                      <a:endParaRPr lang="en-US" dirty="0"/>
                    </a:p>
                  </a:txBody>
                  <a:tcPr/>
                </a:tc>
              </a:tr>
              <a:tr h="340240">
                <a:tc>
                  <a:txBody>
                    <a:bodyPr/>
                    <a:lstStyle/>
                    <a:p>
                      <a:r>
                        <a:rPr lang="en-US" dirty="0" smtClean="0"/>
                        <a:t>Shoulder</a:t>
                      </a:r>
                      <a:endParaRPr lang="en-US" dirty="0"/>
                    </a:p>
                  </a:txBody>
                  <a:tcPr/>
                </a:tc>
                <a:tc>
                  <a:txBody>
                    <a:bodyPr/>
                    <a:lstStyle/>
                    <a:p>
                      <a:r>
                        <a:rPr lang="en-US" dirty="0" smtClean="0"/>
                        <a:t>4496</a:t>
                      </a:r>
                      <a:endParaRPr lang="en-US" dirty="0"/>
                    </a:p>
                  </a:txBody>
                  <a:tcPr/>
                </a:tc>
                <a:tc>
                  <a:txBody>
                    <a:bodyPr/>
                    <a:lstStyle/>
                    <a:p>
                      <a:r>
                        <a:rPr lang="en-US" dirty="0" smtClean="0"/>
                        <a:t>4440</a:t>
                      </a:r>
                      <a:endParaRPr lang="en-US" dirty="0"/>
                    </a:p>
                  </a:txBody>
                  <a:tcPr/>
                </a:tc>
                <a:tc>
                  <a:txBody>
                    <a:bodyPr/>
                    <a:lstStyle/>
                    <a:p>
                      <a:r>
                        <a:rPr lang="en-US" dirty="0" smtClean="0"/>
                        <a:t>8936</a:t>
                      </a:r>
                      <a:endParaRPr lang="en-US"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DATA COLLECTION</a:t>
            </a:r>
            <a:endParaRPr lang="en-US" sz="2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dirty="0" smtClean="0">
                <a:solidFill>
                  <a:schemeClr val="tx1"/>
                </a:solidFill>
                <a:latin typeface="Times New Roman" pitchFamily="18" charset="0"/>
                <a:cs typeface="Times New Roman" pitchFamily="18" charset="0"/>
              </a:rPr>
              <a:t>Our data contains about 20,000 x-ray images, including three different types of bones - elbow, hand, and shoulder</a:t>
            </a:r>
            <a:r>
              <a:rPr lang="en-US" dirty="0" smtClean="0">
                <a:solidFill>
                  <a:schemeClr val="tx1"/>
                </a:solidFill>
                <a:latin typeface="Times New Roman" pitchFamily="18" charset="0"/>
                <a:cs typeface="Times New Roman" pitchFamily="18" charset="0"/>
              </a:rPr>
              <a:t>.</a:t>
            </a:r>
          </a:p>
          <a:p>
            <a:endParaRPr lang="en-US" dirty="0" smtClean="0">
              <a:solidFill>
                <a:schemeClr val="tx1"/>
              </a:solidFill>
              <a:latin typeface="Times New Roman" pitchFamily="18" charset="0"/>
              <a:cs typeface="Times New Roman" pitchFamily="18" charset="0"/>
            </a:endParaRPr>
          </a:p>
          <a:p>
            <a:r>
              <a:rPr lang="en-US" dirty="0" smtClean="0">
                <a:solidFill>
                  <a:schemeClr val="tx1"/>
                </a:solidFill>
                <a:latin typeface="Times New Roman" pitchFamily="18" charset="0"/>
                <a:cs typeface="Times New Roman" pitchFamily="18" charset="0"/>
              </a:rPr>
              <a:t>The algorithm starts with data augmentation and pre-processing the x-ray images, such as flip horizontal. </a:t>
            </a:r>
            <a:endParaRPr lang="en-US" dirty="0" smtClean="0">
              <a:solidFill>
                <a:schemeClr val="tx1"/>
              </a:solidFill>
              <a:latin typeface="Times New Roman" pitchFamily="18" charset="0"/>
              <a:cs typeface="Times New Roman" pitchFamily="18" charset="0"/>
            </a:endParaRPr>
          </a:p>
          <a:p>
            <a:pPr>
              <a:buNone/>
            </a:pPr>
            <a:endParaRPr lang="en-US" dirty="0" smtClean="0">
              <a:solidFill>
                <a:schemeClr val="tx1"/>
              </a:solidFill>
              <a:latin typeface="Times New Roman" pitchFamily="18" charset="0"/>
              <a:cs typeface="Times New Roman" pitchFamily="18" charset="0"/>
            </a:endParaRPr>
          </a:p>
          <a:p>
            <a:r>
              <a:rPr lang="en-US" dirty="0" smtClean="0">
                <a:solidFill>
                  <a:schemeClr val="tx1"/>
                </a:solidFill>
                <a:latin typeface="Times New Roman" pitchFamily="18" charset="0"/>
                <a:cs typeface="Times New Roman" pitchFamily="18" charset="0"/>
              </a:rPr>
              <a:t>The bone fracture detection system consists of four main modules, which are preprocessing, edge detection, feature extraction, and classification.</a:t>
            </a:r>
          </a:p>
          <a:p>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9763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656" y="171756"/>
            <a:ext cx="8464438" cy="500906"/>
          </a:xfrm>
        </p:spPr>
        <p:txBody>
          <a:bodyPr>
            <a:normAutofit fontScale="90000"/>
          </a:bodyPr>
          <a:lstStyle/>
          <a:p>
            <a:pPr>
              <a:buFont typeface="Wingdings" pitchFamily="2" charset="2"/>
              <a:buChar char="Ø"/>
            </a:pPr>
            <a:r>
              <a:rPr lang="en-US" dirty="0" smtClean="0"/>
              <a:t>ARCHITECTURE DIAGRAM</a:t>
            </a:r>
            <a:endParaRPr lang="en-US" dirty="0"/>
          </a:p>
        </p:txBody>
      </p:sp>
      <p:pic>
        <p:nvPicPr>
          <p:cNvPr id="4" name="Picture 3" descr="Architecture.png"/>
          <p:cNvPicPr>
            <a:picLocks noChangeAspect="1"/>
          </p:cNvPicPr>
          <p:nvPr/>
        </p:nvPicPr>
        <p:blipFill>
          <a:blip r:embed="rId2"/>
          <a:stretch>
            <a:fillRect/>
          </a:stretch>
        </p:blipFill>
        <p:spPr>
          <a:xfrm>
            <a:off x="1385887" y="788276"/>
            <a:ext cx="5762625" cy="40254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01383" y="1396428"/>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Input user X-Ray for Image</a:t>
            </a:r>
            <a:endParaRPr lang="en-US" dirty="0"/>
          </a:p>
        </p:txBody>
      </p:sp>
      <p:sp>
        <p:nvSpPr>
          <p:cNvPr id="3" name="Rounded Rectangle 2"/>
          <p:cNvSpPr/>
          <p:nvPr/>
        </p:nvSpPr>
        <p:spPr>
          <a:xfrm>
            <a:off x="2722650" y="1396428"/>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Preprocessing</a:t>
            </a:r>
            <a:endParaRPr lang="en-US" dirty="0"/>
          </a:p>
        </p:txBody>
      </p:sp>
      <p:sp>
        <p:nvSpPr>
          <p:cNvPr id="4" name="Rounded Rectangle 3"/>
          <p:cNvSpPr/>
          <p:nvPr/>
        </p:nvSpPr>
        <p:spPr>
          <a:xfrm>
            <a:off x="6565184" y="1396428"/>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Feature Extraction</a:t>
            </a:r>
            <a:endParaRPr lang="en-US" dirty="0"/>
          </a:p>
        </p:txBody>
      </p:sp>
      <p:sp>
        <p:nvSpPr>
          <p:cNvPr id="5" name="Rounded Rectangle 4"/>
          <p:cNvSpPr/>
          <p:nvPr/>
        </p:nvSpPr>
        <p:spPr>
          <a:xfrm>
            <a:off x="4643917" y="1396428"/>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Segmentation</a:t>
            </a:r>
            <a:endParaRPr lang="en-US" dirty="0"/>
          </a:p>
        </p:txBody>
      </p:sp>
      <p:sp>
        <p:nvSpPr>
          <p:cNvPr id="6" name="Rounded Rectangle 5"/>
          <p:cNvSpPr/>
          <p:nvPr/>
        </p:nvSpPr>
        <p:spPr>
          <a:xfrm>
            <a:off x="4643916" y="2883613"/>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Bone Detection</a:t>
            </a:r>
            <a:endParaRPr lang="en-US" dirty="0"/>
          </a:p>
        </p:txBody>
      </p:sp>
      <p:sp>
        <p:nvSpPr>
          <p:cNvPr id="7" name="Rounded Rectangle 6"/>
          <p:cNvSpPr/>
          <p:nvPr/>
        </p:nvSpPr>
        <p:spPr>
          <a:xfrm>
            <a:off x="6565184" y="2883613"/>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Classification</a:t>
            </a:r>
            <a:endParaRPr lang="en-US" dirty="0"/>
          </a:p>
        </p:txBody>
      </p:sp>
      <p:sp>
        <p:nvSpPr>
          <p:cNvPr id="8" name="Rounded Rectangle 7"/>
          <p:cNvSpPr/>
          <p:nvPr/>
        </p:nvSpPr>
        <p:spPr>
          <a:xfrm>
            <a:off x="2768883" y="2883613"/>
            <a:ext cx="1417833" cy="73974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Predict </a:t>
            </a:r>
            <a:r>
              <a:rPr lang="en-US" dirty="0" err="1" smtClean="0"/>
              <a:t>Resut</a:t>
            </a:r>
            <a:endParaRPr lang="en-US" dirty="0"/>
          </a:p>
        </p:txBody>
      </p:sp>
      <p:cxnSp>
        <p:nvCxnSpPr>
          <p:cNvPr id="10" name="Straight Arrow Connector 9"/>
          <p:cNvCxnSpPr>
            <a:stCxn id="2" idx="3"/>
            <a:endCxn id="3" idx="1"/>
          </p:cNvCxnSpPr>
          <p:nvPr/>
        </p:nvCxnSpPr>
        <p:spPr>
          <a:xfrm>
            <a:off x="2219216" y="1766298"/>
            <a:ext cx="50343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4140482" y="1766298"/>
            <a:ext cx="50343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a:off x="6061749" y="1766298"/>
            <a:ext cx="503434"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p:cNvCxnSpPr>
            <a:stCxn id="4" idx="2"/>
            <a:endCxn id="7" idx="0"/>
          </p:cNvCxnSpPr>
          <p:nvPr/>
        </p:nvCxnSpPr>
        <p:spPr>
          <a:xfrm>
            <a:off x="7274101" y="2136168"/>
            <a:ext cx="0" cy="74744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p:cNvCxnSpPr>
            <a:stCxn id="7" idx="1"/>
            <a:endCxn id="6" idx="3"/>
          </p:cNvCxnSpPr>
          <p:nvPr/>
        </p:nvCxnSpPr>
        <p:spPr>
          <a:xfrm flipH="1">
            <a:off x="6061749" y="3253483"/>
            <a:ext cx="50343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p:cNvCxnSpPr/>
          <p:nvPr/>
        </p:nvCxnSpPr>
        <p:spPr>
          <a:xfrm flipH="1">
            <a:off x="4140482" y="3227797"/>
            <a:ext cx="50343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450553" y="626723"/>
            <a:ext cx="3187091" cy="400110"/>
          </a:xfrm>
          <a:prstGeom prst="rect">
            <a:avLst/>
          </a:prstGeom>
          <a:noFill/>
        </p:spPr>
        <p:txBody>
          <a:bodyPr wrap="none" rtlCol="0">
            <a:sp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DATA FLOW DIAGRAM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78144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buFont typeface="Wingdings" pitchFamily="2" charset="2"/>
              <a:buChar char="Ø"/>
            </a:pPr>
            <a:r>
              <a:rPr lang="en-US" dirty="0" smtClean="0"/>
              <a:t>INSTALL REQUIREMENTS.txt</a:t>
            </a:r>
            <a:endParaRPr lang="en-US" dirty="0"/>
          </a:p>
        </p:txBody>
      </p:sp>
      <p:sp>
        <p:nvSpPr>
          <p:cNvPr id="3" name="Text Placeholder 2"/>
          <p:cNvSpPr>
            <a:spLocks noGrp="1"/>
          </p:cNvSpPr>
          <p:nvPr>
            <p:ph type="body" idx="1"/>
          </p:nvPr>
        </p:nvSpPr>
        <p:spPr/>
        <p:txBody>
          <a:bodyPr>
            <a:normAutofit fontScale="92500" lnSpcReduction="20000"/>
          </a:bodyPr>
          <a:lstStyle/>
          <a:p>
            <a:r>
              <a:rPr lang="en-US" dirty="0" err="1" smtClean="0">
                <a:solidFill>
                  <a:schemeClr val="tx1"/>
                </a:solidFill>
                <a:latin typeface="Times New Roman" pitchFamily="18" charset="0"/>
                <a:cs typeface="Times New Roman" pitchFamily="18" charset="0"/>
              </a:rPr>
              <a:t>customtkinter</a:t>
            </a:r>
            <a:r>
              <a:rPr lang="en-US" dirty="0" smtClean="0">
                <a:solidFill>
                  <a:schemeClr val="tx1"/>
                </a:solidFill>
                <a:latin typeface="Times New Roman" pitchFamily="18" charset="0"/>
                <a:cs typeface="Times New Roman" pitchFamily="18" charset="0"/>
              </a:rPr>
              <a:t>~=5.0.3</a:t>
            </a:r>
          </a:p>
          <a:p>
            <a:r>
              <a:rPr lang="en-US" dirty="0" err="1" smtClean="0">
                <a:solidFill>
                  <a:schemeClr val="tx1"/>
                </a:solidFill>
                <a:latin typeface="Times New Roman" pitchFamily="18" charset="0"/>
                <a:cs typeface="Times New Roman" pitchFamily="18" charset="0"/>
              </a:rPr>
              <a:t>PyAutoGUI</a:t>
            </a:r>
            <a:r>
              <a:rPr lang="en-US" dirty="0" smtClean="0">
                <a:solidFill>
                  <a:schemeClr val="tx1"/>
                </a:solidFill>
                <a:latin typeface="Times New Roman" pitchFamily="18" charset="0"/>
                <a:cs typeface="Times New Roman" pitchFamily="18" charset="0"/>
              </a:rPr>
              <a:t>~=0.9.53</a:t>
            </a:r>
          </a:p>
          <a:p>
            <a:r>
              <a:rPr lang="en-US" dirty="0" err="1" smtClean="0">
                <a:solidFill>
                  <a:schemeClr val="tx1"/>
                </a:solidFill>
                <a:latin typeface="Times New Roman" pitchFamily="18" charset="0"/>
                <a:cs typeface="Times New Roman" pitchFamily="18" charset="0"/>
              </a:rPr>
              <a:t>PyGetWindow</a:t>
            </a:r>
            <a:r>
              <a:rPr lang="en-US" dirty="0" smtClean="0">
                <a:solidFill>
                  <a:schemeClr val="tx1"/>
                </a:solidFill>
                <a:latin typeface="Times New Roman" pitchFamily="18" charset="0"/>
                <a:cs typeface="Times New Roman" pitchFamily="18" charset="0"/>
              </a:rPr>
              <a:t>~=0.0.9</a:t>
            </a:r>
          </a:p>
          <a:p>
            <a:r>
              <a:rPr lang="en-US" dirty="0" smtClean="0">
                <a:solidFill>
                  <a:schemeClr val="tx1"/>
                </a:solidFill>
                <a:latin typeface="Times New Roman" pitchFamily="18" charset="0"/>
                <a:cs typeface="Times New Roman" pitchFamily="18" charset="0"/>
              </a:rPr>
              <a:t>Pillow~=8.4.0</a:t>
            </a:r>
          </a:p>
          <a:p>
            <a:r>
              <a:rPr lang="en-US" dirty="0" err="1" smtClean="0">
                <a:solidFill>
                  <a:schemeClr val="tx1"/>
                </a:solidFill>
                <a:latin typeface="Times New Roman" pitchFamily="18" charset="0"/>
                <a:cs typeface="Times New Roman" pitchFamily="18" charset="0"/>
              </a:rPr>
              <a:t>numpy</a:t>
            </a:r>
            <a:r>
              <a:rPr lang="en-US" dirty="0" smtClean="0">
                <a:solidFill>
                  <a:schemeClr val="tx1"/>
                </a:solidFill>
                <a:latin typeface="Times New Roman" pitchFamily="18" charset="0"/>
                <a:cs typeface="Times New Roman" pitchFamily="18" charset="0"/>
              </a:rPr>
              <a:t>~=1.19.5</a:t>
            </a:r>
          </a:p>
          <a:p>
            <a:r>
              <a:rPr lang="en-US" dirty="0" err="1" smtClean="0">
                <a:solidFill>
                  <a:schemeClr val="tx1"/>
                </a:solidFill>
                <a:latin typeface="Times New Roman" pitchFamily="18" charset="0"/>
                <a:cs typeface="Times New Roman" pitchFamily="18" charset="0"/>
              </a:rPr>
              <a:t>tensorflow</a:t>
            </a:r>
            <a:r>
              <a:rPr lang="en-US" dirty="0" smtClean="0">
                <a:solidFill>
                  <a:schemeClr val="tx1"/>
                </a:solidFill>
                <a:latin typeface="Times New Roman" pitchFamily="18" charset="0"/>
                <a:cs typeface="Times New Roman" pitchFamily="18" charset="0"/>
              </a:rPr>
              <a:t>~=2.6.2</a:t>
            </a:r>
          </a:p>
          <a:p>
            <a:r>
              <a:rPr lang="en-US" dirty="0" err="1" smtClean="0">
                <a:solidFill>
                  <a:schemeClr val="tx1"/>
                </a:solidFill>
                <a:latin typeface="Times New Roman" pitchFamily="18" charset="0"/>
                <a:cs typeface="Times New Roman" pitchFamily="18" charset="0"/>
              </a:rPr>
              <a:t>keras</a:t>
            </a:r>
            <a:r>
              <a:rPr lang="en-US" dirty="0" smtClean="0">
                <a:solidFill>
                  <a:schemeClr val="tx1"/>
                </a:solidFill>
                <a:latin typeface="Times New Roman" pitchFamily="18" charset="0"/>
                <a:cs typeface="Times New Roman" pitchFamily="18" charset="0"/>
              </a:rPr>
              <a:t>~=2.6.0</a:t>
            </a:r>
          </a:p>
          <a:p>
            <a:r>
              <a:rPr lang="en-US" dirty="0" smtClean="0">
                <a:solidFill>
                  <a:schemeClr val="tx1"/>
                </a:solidFill>
                <a:latin typeface="Times New Roman" pitchFamily="18" charset="0"/>
                <a:cs typeface="Times New Roman" pitchFamily="18" charset="0"/>
              </a:rPr>
              <a:t>pandas~=1.1.5</a:t>
            </a:r>
          </a:p>
          <a:p>
            <a:r>
              <a:rPr lang="en-US" dirty="0" err="1" smtClean="0">
                <a:solidFill>
                  <a:schemeClr val="tx1"/>
                </a:solidFill>
                <a:latin typeface="Times New Roman" pitchFamily="18" charset="0"/>
                <a:cs typeface="Times New Roman" pitchFamily="18" charset="0"/>
              </a:rPr>
              <a:t>matplotlib</a:t>
            </a:r>
            <a:r>
              <a:rPr lang="en-US" dirty="0" smtClean="0">
                <a:solidFill>
                  <a:schemeClr val="tx1"/>
                </a:solidFill>
                <a:latin typeface="Times New Roman" pitchFamily="18" charset="0"/>
                <a:cs typeface="Times New Roman" pitchFamily="18" charset="0"/>
              </a:rPr>
              <a:t>~=3.3.4</a:t>
            </a:r>
          </a:p>
          <a:p>
            <a:r>
              <a:rPr lang="en-US" dirty="0" err="1" smtClean="0">
                <a:solidFill>
                  <a:schemeClr val="tx1"/>
                </a:solidFill>
                <a:latin typeface="Times New Roman" pitchFamily="18" charset="0"/>
                <a:cs typeface="Times New Roman" pitchFamily="18" charset="0"/>
              </a:rPr>
              <a:t>scikit</a:t>
            </a:r>
            <a:r>
              <a:rPr lang="en-US" dirty="0" smtClean="0">
                <a:solidFill>
                  <a:schemeClr val="tx1"/>
                </a:solidFill>
                <a:latin typeface="Times New Roman" pitchFamily="18" charset="0"/>
                <a:cs typeface="Times New Roman" pitchFamily="18" charset="0"/>
              </a:rPr>
              <a:t>-learn~=0.24.2</a:t>
            </a:r>
          </a:p>
          <a:p>
            <a:r>
              <a:rPr lang="en-US" dirty="0" err="1" smtClean="0">
                <a:solidFill>
                  <a:schemeClr val="tx1"/>
                </a:solidFill>
                <a:latin typeface="Times New Roman" pitchFamily="18" charset="0"/>
                <a:cs typeface="Times New Roman" pitchFamily="18" charset="0"/>
              </a:rPr>
              <a:t>colorama</a:t>
            </a:r>
            <a:r>
              <a:rPr lang="en-US" dirty="0" smtClean="0">
                <a:solidFill>
                  <a:schemeClr val="tx1"/>
                </a:solidFill>
                <a:latin typeface="Times New Roman" pitchFamily="18" charset="0"/>
                <a:cs typeface="Times New Roman" pitchFamily="18" charset="0"/>
              </a:rPr>
              <a:t>~=</a:t>
            </a:r>
            <a:r>
              <a:rPr lang="en-US" dirty="0" smtClean="0">
                <a:solidFill>
                  <a:schemeClr val="tx1"/>
                </a:solidFill>
                <a:latin typeface="Times New Roman" pitchFamily="18" charset="0"/>
                <a:cs typeface="Times New Roman" pitchFamily="18" charset="0"/>
              </a:rPr>
              <a:t>0.4.5</a:t>
            </a:r>
          </a:p>
          <a:p>
            <a:endParaRPr lang="en-US" dirty="0" smtClean="0">
              <a:solidFill>
                <a:schemeClr val="tx1"/>
              </a:solidFill>
              <a:latin typeface="Times New Roman" pitchFamily="18" charset="0"/>
              <a:cs typeface="Times New Roman" pitchFamily="18" charset="0"/>
            </a:endParaRPr>
          </a:p>
          <a:p>
            <a:pPr>
              <a:buFont typeface="Wingdings" pitchFamily="2" charset="2"/>
              <a:buChar char="Ø"/>
            </a:pPr>
            <a:r>
              <a:rPr lang="en-US" dirty="0" smtClean="0">
                <a:solidFill>
                  <a:schemeClr val="tx1"/>
                </a:solidFill>
                <a:latin typeface="Times New Roman" pitchFamily="18" charset="0"/>
                <a:cs typeface="Times New Roman" pitchFamily="18" charset="0"/>
              </a:rPr>
              <a:t>Run mainGUI.PY</a:t>
            </a:r>
            <a:endParaRPr lang="en-US" dirty="0" smtClean="0">
              <a:solidFill>
                <a:schemeClr val="tx1"/>
              </a:solidFill>
              <a:latin typeface="Times New Roman" pitchFamily="18" charset="0"/>
              <a:cs typeface="Times New Roman" pitchFamily="18" charset="0"/>
            </a:endParaRP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2064" y="688369"/>
            <a:ext cx="1630575" cy="400110"/>
          </a:xfrm>
          <a:prstGeom prst="rect">
            <a:avLst/>
          </a:prstGeom>
          <a:noFill/>
        </p:spPr>
        <p:txBody>
          <a:bodyPr wrap="none" rtlCol="0">
            <a:sp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MODULES</a:t>
            </a:r>
            <a:endParaRPr lang="en-US" sz="2000" dirty="0">
              <a:latin typeface="Times New Roman" panose="02020603050405020304" pitchFamily="18" charset="0"/>
              <a:cs typeface="Times New Roman" panose="02020603050405020304" pitchFamily="18" charset="0"/>
            </a:endParaRPr>
          </a:p>
        </p:txBody>
      </p:sp>
      <p:sp>
        <p:nvSpPr>
          <p:cNvPr id="4" name="Pentagon 3"/>
          <p:cNvSpPr/>
          <p:nvPr/>
        </p:nvSpPr>
        <p:spPr>
          <a:xfrm>
            <a:off x="450951" y="1787703"/>
            <a:ext cx="1428107" cy="678094"/>
          </a:xfrm>
          <a:prstGeom prst="homePlat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Data Collection</a:t>
            </a:r>
            <a:endParaRPr lang="en-US" dirty="0"/>
          </a:p>
        </p:txBody>
      </p:sp>
      <p:sp>
        <p:nvSpPr>
          <p:cNvPr id="8" name="Pentagon 7"/>
          <p:cNvSpPr/>
          <p:nvPr/>
        </p:nvSpPr>
        <p:spPr>
          <a:xfrm>
            <a:off x="2183858" y="1753456"/>
            <a:ext cx="1428107" cy="678094"/>
          </a:xfrm>
          <a:prstGeom prst="homePlat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Data Preprocessing</a:t>
            </a:r>
            <a:endParaRPr lang="en-US" dirty="0"/>
          </a:p>
        </p:txBody>
      </p:sp>
      <p:sp>
        <p:nvSpPr>
          <p:cNvPr id="10" name="Pentagon 9"/>
          <p:cNvSpPr/>
          <p:nvPr/>
        </p:nvSpPr>
        <p:spPr>
          <a:xfrm>
            <a:off x="7593883" y="1753456"/>
            <a:ext cx="1428107" cy="678094"/>
          </a:xfrm>
          <a:prstGeom prst="homePlat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Model Evaluation</a:t>
            </a:r>
            <a:endParaRPr lang="en-US" dirty="0"/>
          </a:p>
        </p:txBody>
      </p:sp>
      <p:sp>
        <p:nvSpPr>
          <p:cNvPr id="11" name="Pentagon 10"/>
          <p:cNvSpPr/>
          <p:nvPr/>
        </p:nvSpPr>
        <p:spPr>
          <a:xfrm>
            <a:off x="5722191" y="1753456"/>
            <a:ext cx="1428107" cy="678094"/>
          </a:xfrm>
          <a:prstGeom prst="homePlat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Model Development</a:t>
            </a:r>
            <a:endParaRPr lang="en-US" dirty="0"/>
          </a:p>
        </p:txBody>
      </p:sp>
      <p:sp>
        <p:nvSpPr>
          <p:cNvPr id="12" name="Pentagon 11"/>
          <p:cNvSpPr/>
          <p:nvPr/>
        </p:nvSpPr>
        <p:spPr>
          <a:xfrm>
            <a:off x="3916765" y="1753456"/>
            <a:ext cx="1428107" cy="678094"/>
          </a:xfrm>
          <a:prstGeom prst="homePlat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smtClean="0"/>
              <a:t>Data Transformation</a:t>
            </a:r>
            <a:endParaRPr lang="en-US" dirty="0"/>
          </a:p>
        </p:txBody>
      </p:sp>
    </p:spTree>
    <p:extLst>
      <p:ext uri="{BB962C8B-B14F-4D97-AF65-F5344CB8AC3E}">
        <p14:creationId xmlns:p14="http://schemas.microsoft.com/office/powerpoint/2010/main" xmlns="" val="2472406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MODEL DEVELOPMENT</a:t>
            </a:r>
            <a:endParaRPr lang="en-US" sz="2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dirty="0">
                <a:solidFill>
                  <a:schemeClr val="tx1"/>
                </a:solidFill>
                <a:latin typeface="Times New Roman" pitchFamily="18" charset="0"/>
                <a:cs typeface="Times New Roman" pitchFamily="18" charset="0"/>
              </a:rPr>
              <a:t>Gather a dataset of medical images containing both fracture and non-fracture cases. This dataset should be diverse and representative of the population you're </a:t>
            </a:r>
            <a:r>
              <a:rPr lang="en-US" dirty="0" smtClean="0">
                <a:solidFill>
                  <a:schemeClr val="tx1"/>
                </a:solidFill>
                <a:latin typeface="Times New Roman" pitchFamily="18" charset="0"/>
                <a:cs typeface="Times New Roman" pitchFamily="18" charset="0"/>
              </a:rPr>
              <a:t>targeting.</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Apply the data transformation steps mentioned earlier, including cleaning, normalization, feature engineering, and augmentation</a:t>
            </a:r>
            <a:r>
              <a:rPr lang="en-US" dirty="0" smtClean="0">
                <a:solidFill>
                  <a:schemeClr val="tx1"/>
                </a:solidFill>
                <a:latin typeface="Times New Roman" pitchFamily="18" charset="0"/>
                <a:cs typeface="Times New Roman" pitchFamily="18" charset="0"/>
              </a:rPr>
              <a:t>.</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 Choose an appropriate machine learning algorithm for image classification. Convolutional Neural Networks (CNNs) are commonly used for image-based tasks and are likely suitable for bone fracture detection</a:t>
            </a:r>
            <a:r>
              <a:rPr lang="en-US" dirty="0" smtClean="0">
                <a:solidFill>
                  <a:schemeClr val="tx1"/>
                </a:solidFill>
                <a:latin typeface="Times New Roman" pitchFamily="18" charset="0"/>
                <a:cs typeface="Times New Roman" pitchFamily="18" charset="0"/>
              </a:rPr>
              <a:t>.</a:t>
            </a:r>
          </a:p>
          <a:p>
            <a:endParaRPr lang="en-US" dirty="0"/>
          </a:p>
          <a:p>
            <a:pPr marL="114300" indent="0">
              <a:buNone/>
            </a:pPr>
            <a:endParaRPr lang="en-US" dirty="0" smtClean="0"/>
          </a:p>
          <a:p>
            <a:endParaRPr lang="en-US" dirty="0"/>
          </a:p>
          <a:p>
            <a:endParaRPr lang="en-US" dirty="0"/>
          </a:p>
        </p:txBody>
      </p:sp>
    </p:spTree>
    <p:extLst>
      <p:ext uri="{BB962C8B-B14F-4D97-AF65-F5344CB8AC3E}">
        <p14:creationId xmlns:p14="http://schemas.microsoft.com/office/powerpoint/2010/main" xmlns="" val="635828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MODEL EVALUTION</a:t>
            </a:r>
            <a:endParaRPr lang="en-US" sz="2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dirty="0">
                <a:solidFill>
                  <a:schemeClr val="tx1"/>
                </a:solidFill>
                <a:latin typeface="Times New Roman" pitchFamily="18" charset="0"/>
                <a:cs typeface="Times New Roman" pitchFamily="18" charset="0"/>
              </a:rPr>
              <a:t>In terms of classification and detection, this technique has an overall accuracy of 94</a:t>
            </a:r>
            <a:r>
              <a:rPr lang="en-US" dirty="0" smtClean="0">
                <a:solidFill>
                  <a:schemeClr val="tx1"/>
                </a:solidFill>
                <a:latin typeface="Times New Roman" pitchFamily="18" charset="0"/>
                <a:cs typeface="Times New Roman" pitchFamily="18" charset="0"/>
              </a:rPr>
              <a:t>% </a:t>
            </a:r>
            <a:r>
              <a:rPr lang="en-US" dirty="0">
                <a:solidFill>
                  <a:schemeClr val="tx1"/>
                </a:solidFill>
                <a:latin typeface="Times New Roman" pitchFamily="18" charset="0"/>
                <a:cs typeface="Times New Roman" pitchFamily="18" charset="0"/>
              </a:rPr>
              <a:t>to distinguish between fractured and healthy bone, a deep neural network model was </a:t>
            </a:r>
            <a:r>
              <a:rPr lang="en-US" dirty="0" smtClean="0">
                <a:solidFill>
                  <a:schemeClr val="tx1"/>
                </a:solidFill>
                <a:latin typeface="Times New Roman" pitchFamily="18" charset="0"/>
                <a:cs typeface="Times New Roman" pitchFamily="18" charset="0"/>
              </a:rPr>
              <a:t>created.</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After the model is trained, it undergoes model evaluation. It is tested on a separate set of X-ray images not used in </a:t>
            </a:r>
            <a:r>
              <a:rPr lang="en-US" dirty="0" smtClean="0">
                <a:solidFill>
                  <a:schemeClr val="tx1"/>
                </a:solidFill>
                <a:latin typeface="Times New Roman" pitchFamily="18" charset="0"/>
                <a:cs typeface="Times New Roman" pitchFamily="18" charset="0"/>
              </a:rPr>
              <a:t>training.</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The model's accuracy, sensitivity, and specificity in detecting fractures are evaluated by comparing its predictions with the ground truth labels to assess its performance.</a:t>
            </a:r>
          </a:p>
        </p:txBody>
      </p:sp>
    </p:spTree>
    <p:extLst>
      <p:ext uri="{BB962C8B-B14F-4D97-AF65-F5344CB8AC3E}">
        <p14:creationId xmlns:p14="http://schemas.microsoft.com/office/powerpoint/2010/main" xmlns="" val="275549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638" y="255839"/>
            <a:ext cx="8520600" cy="572700"/>
          </a:xfrm>
        </p:spPr>
        <p:txBody>
          <a:bodyPr>
            <a:normAutofit fontScale="90000"/>
          </a:bodyPr>
          <a:lstStyle/>
          <a:p>
            <a:pPr>
              <a:buFont typeface="Wingdings" pitchFamily="2" charset="2"/>
              <a:buChar char="Ø"/>
            </a:pPr>
            <a:r>
              <a:rPr lang="en-US" dirty="0" smtClean="0"/>
              <a:t>INFO-RULES</a:t>
            </a:r>
            <a:endParaRPr lang="en-US" dirty="0"/>
          </a:p>
        </p:txBody>
      </p:sp>
      <p:pic>
        <p:nvPicPr>
          <p:cNvPr id="4" name="Picture 3" descr="BFD 2.png"/>
          <p:cNvPicPr>
            <a:picLocks noChangeAspect="1"/>
          </p:cNvPicPr>
          <p:nvPr/>
        </p:nvPicPr>
        <p:blipFill>
          <a:blip r:embed="rId2"/>
          <a:stretch>
            <a:fillRect/>
          </a:stretch>
        </p:blipFill>
        <p:spPr>
          <a:xfrm>
            <a:off x="2198445" y="945053"/>
            <a:ext cx="4305673" cy="40618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400" y="150734"/>
            <a:ext cx="8520600" cy="572700"/>
          </a:xfrm>
        </p:spPr>
        <p:txBody>
          <a:bodyPr>
            <a:normAutofit fontScale="90000"/>
          </a:bodyPr>
          <a:lstStyle/>
          <a:p>
            <a:pPr>
              <a:buFont typeface="Wingdings" pitchFamily="2" charset="2"/>
              <a:buChar char="Ø"/>
            </a:pPr>
            <a:r>
              <a:rPr lang="en-US" dirty="0" smtClean="0"/>
              <a:t>MAIN</a:t>
            </a:r>
            <a:endParaRPr lang="en-US" dirty="0"/>
          </a:p>
        </p:txBody>
      </p:sp>
      <p:pic>
        <p:nvPicPr>
          <p:cNvPr id="4" name="Picture 3" descr="BFD 1.png"/>
          <p:cNvPicPr>
            <a:picLocks noChangeAspect="1"/>
          </p:cNvPicPr>
          <p:nvPr/>
        </p:nvPicPr>
        <p:blipFill>
          <a:blip r:embed="rId2"/>
          <a:stretch>
            <a:fillRect/>
          </a:stretch>
        </p:blipFill>
        <p:spPr>
          <a:xfrm>
            <a:off x="2139648" y="788276"/>
            <a:ext cx="3834690" cy="41726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086" y="129714"/>
            <a:ext cx="8520600" cy="572700"/>
          </a:xfrm>
        </p:spPr>
        <p:txBody>
          <a:bodyPr>
            <a:normAutofit fontScale="90000"/>
          </a:bodyPr>
          <a:lstStyle/>
          <a:p>
            <a:pPr>
              <a:buFont typeface="Wingdings" pitchFamily="2" charset="2"/>
              <a:buChar char="Ø"/>
            </a:pPr>
            <a:r>
              <a:rPr lang="en-US" dirty="0" smtClean="0">
                <a:solidFill>
                  <a:schemeClr val="tx1"/>
                </a:solidFill>
              </a:rPr>
              <a:t>TEST NORMAL &amp; FRACTURED</a:t>
            </a:r>
            <a:endParaRPr lang="en-US" dirty="0">
              <a:solidFill>
                <a:schemeClr val="tx1"/>
              </a:solidFill>
            </a:endParaRPr>
          </a:p>
        </p:txBody>
      </p:sp>
      <p:pic>
        <p:nvPicPr>
          <p:cNvPr id="4" name="Picture 3" descr="BFD 3.png"/>
          <p:cNvPicPr>
            <a:picLocks noChangeAspect="1"/>
          </p:cNvPicPr>
          <p:nvPr/>
        </p:nvPicPr>
        <p:blipFill>
          <a:blip r:embed="rId2"/>
          <a:stretch>
            <a:fillRect/>
          </a:stretch>
        </p:blipFill>
        <p:spPr>
          <a:xfrm>
            <a:off x="457993" y="756745"/>
            <a:ext cx="3546448" cy="4246180"/>
          </a:xfrm>
          <a:prstGeom prst="rect">
            <a:avLst/>
          </a:prstGeom>
        </p:spPr>
      </p:pic>
      <p:pic>
        <p:nvPicPr>
          <p:cNvPr id="5" name="Picture 4" descr="BFD 4.png"/>
          <p:cNvPicPr>
            <a:picLocks noChangeAspect="1"/>
          </p:cNvPicPr>
          <p:nvPr/>
        </p:nvPicPr>
        <p:blipFill>
          <a:blip r:embed="rId3"/>
          <a:stretch>
            <a:fillRect/>
          </a:stretch>
        </p:blipFill>
        <p:spPr>
          <a:xfrm>
            <a:off x="4231207" y="714704"/>
            <a:ext cx="3493896" cy="42566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DATA PREPROCESSING</a:t>
            </a:r>
            <a:endParaRPr lang="en-US" sz="2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dirty="0">
                <a:solidFill>
                  <a:schemeClr val="tx1"/>
                </a:solidFill>
                <a:latin typeface="Times New Roman" pitchFamily="18" charset="0"/>
                <a:cs typeface="Times New Roman" pitchFamily="18" charset="0"/>
              </a:rPr>
              <a:t>Our Model was built in such a way that it can pierce through numerical data and analyze it further</a:t>
            </a:r>
            <a:r>
              <a:rPr lang="en-US" dirty="0" smtClean="0">
                <a:solidFill>
                  <a:schemeClr val="tx1"/>
                </a:solidFill>
                <a:latin typeface="Times New Roman" pitchFamily="18" charset="0"/>
                <a:cs typeface="Times New Roman" pitchFamily="18" charset="0"/>
              </a:rPr>
              <a:t>.</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If our Entries aren't properly transformed to a format that our model can appreciate, they'll be discarded</a:t>
            </a:r>
            <a:r>
              <a:rPr lang="en-US" dirty="0" smtClean="0">
                <a:solidFill>
                  <a:schemeClr val="tx1"/>
                </a:solidFill>
                <a:latin typeface="Times New Roman" pitchFamily="18" charset="0"/>
                <a:cs typeface="Times New Roman" pitchFamily="18" charset="0"/>
              </a:rPr>
              <a:t>.</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The first step in resolving this is to scale </a:t>
            </a:r>
            <a:r>
              <a:rPr lang="en-US" dirty="0" smtClean="0">
                <a:solidFill>
                  <a:schemeClr val="tx1"/>
                </a:solidFill>
                <a:latin typeface="Times New Roman" pitchFamily="18" charset="0"/>
                <a:cs typeface="Times New Roman" pitchFamily="18" charset="0"/>
              </a:rPr>
              <a:t>all of </a:t>
            </a:r>
            <a:r>
              <a:rPr lang="en-US" dirty="0">
                <a:solidFill>
                  <a:schemeClr val="tx1"/>
                </a:solidFill>
                <a:latin typeface="Times New Roman" pitchFamily="18" charset="0"/>
                <a:cs typeface="Times New Roman" pitchFamily="18" charset="0"/>
              </a:rPr>
              <a:t>our photographs to argentine proportions</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633096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buFont typeface="Wingdings" pitchFamily="2" charset="2"/>
              <a:buChar char="Ø"/>
            </a:pPr>
            <a:r>
              <a:rPr lang="en-US" sz="2000" dirty="0" smtClean="0">
                <a:latin typeface="Times New Roman" panose="02020603050405020304" pitchFamily="18" charset="0"/>
                <a:cs typeface="Times New Roman" panose="02020603050405020304" pitchFamily="18" charset="0"/>
              </a:rPr>
              <a:t>DATA </a:t>
            </a:r>
            <a:r>
              <a:rPr lang="en-US" sz="2000" dirty="0" smtClean="0">
                <a:latin typeface="Times New Roman" panose="02020603050405020304" pitchFamily="18" charset="0"/>
                <a:cs typeface="Times New Roman" panose="02020603050405020304" pitchFamily="18" charset="0"/>
              </a:rPr>
              <a:t>TRANSFORMATION</a:t>
            </a:r>
            <a:endParaRPr lang="en-US" sz="2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lstStyle/>
          <a:p>
            <a:r>
              <a:rPr lang="en-US" dirty="0" smtClean="0">
                <a:solidFill>
                  <a:schemeClr val="tx1"/>
                </a:solidFill>
                <a:latin typeface="Times New Roman" pitchFamily="18" charset="0"/>
                <a:cs typeface="Times New Roman" pitchFamily="18" charset="0"/>
              </a:rPr>
              <a:t>Data </a:t>
            </a:r>
            <a:r>
              <a:rPr lang="en-US" dirty="0">
                <a:solidFill>
                  <a:schemeClr val="tx1"/>
                </a:solidFill>
                <a:latin typeface="Times New Roman" pitchFamily="18" charset="0"/>
                <a:cs typeface="Times New Roman" pitchFamily="18" charset="0"/>
              </a:rPr>
              <a:t>transformation is a crucial step in preparing data for machine learning models, especially for tasks like bone fracture detection</a:t>
            </a:r>
            <a:r>
              <a:rPr lang="en-US" dirty="0" smtClean="0">
                <a:solidFill>
                  <a:schemeClr val="tx1"/>
                </a:solidFill>
                <a:latin typeface="Times New Roman" pitchFamily="18" charset="0"/>
                <a:cs typeface="Times New Roman" pitchFamily="18" charset="0"/>
              </a:rPr>
              <a:t>.</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Remove any irrelevant or inconsistent data points. This could include removing duplicates, correcting errors, and handling missing values</a:t>
            </a:r>
            <a:r>
              <a:rPr lang="en-US" dirty="0" smtClean="0">
                <a:solidFill>
                  <a:schemeClr val="tx1"/>
                </a:solidFill>
                <a:latin typeface="Times New Roman" pitchFamily="18" charset="0"/>
                <a:cs typeface="Times New Roman" pitchFamily="18" charset="0"/>
              </a:rPr>
              <a:t>.</a:t>
            </a:r>
          </a:p>
          <a:p>
            <a:endParaRPr lang="en-US" dirty="0">
              <a:solidFill>
                <a:schemeClr val="tx1"/>
              </a:solidFill>
              <a:latin typeface="Times New Roman" pitchFamily="18" charset="0"/>
              <a:cs typeface="Times New Roman" pitchFamily="18" charset="0"/>
            </a:endParaRPr>
          </a:p>
          <a:p>
            <a:r>
              <a:rPr lang="en-US" dirty="0">
                <a:solidFill>
                  <a:schemeClr val="tx1"/>
                </a:solidFill>
                <a:latin typeface="Times New Roman" pitchFamily="18" charset="0"/>
                <a:cs typeface="Times New Roman" pitchFamily="18" charset="0"/>
              </a:rPr>
              <a:t>Scale the features to a similar range to ensure that no single feature dominates the learning process. Normalization scales the data to a range between 0 and 1, while standardization scales it to have a mean of 0 and a standard deviation of 1</a:t>
            </a:r>
            <a:r>
              <a:rPr lang="en-US" dirty="0" smtClean="0">
                <a:solidFill>
                  <a:schemeClr val="tx1"/>
                </a:solidFill>
                <a:latin typeface="Times New Roman" pitchFamily="18" charset="0"/>
                <a:cs typeface="Times New Roman" pitchFamily="18" charset="0"/>
              </a:rPr>
              <a:t>.</a:t>
            </a:r>
          </a:p>
          <a:p>
            <a:endParaRPr lang="en-US" dirty="0"/>
          </a:p>
        </p:txBody>
      </p:sp>
    </p:spTree>
    <p:extLst>
      <p:ext uri="{BB962C8B-B14F-4D97-AF65-F5344CB8AC3E}">
        <p14:creationId xmlns:p14="http://schemas.microsoft.com/office/powerpoint/2010/main" xmlns="" val="3389319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319425" y="344878"/>
            <a:ext cx="7505700" cy="65415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Font typeface="Wingdings" pitchFamily="2" charset="2"/>
              <a:buChar char="Ø"/>
            </a:pPr>
            <a:r>
              <a:rPr lang="en" sz="2500" dirty="0">
                <a:latin typeface="Times New Roman"/>
                <a:ea typeface="Times New Roman"/>
                <a:cs typeface="Times New Roman"/>
                <a:sym typeface="Times New Roman"/>
              </a:rPr>
              <a:t>PROJECT OVERVIEW</a:t>
            </a:r>
            <a:endParaRPr sz="2500" dirty="0">
              <a:latin typeface="Times New Roman"/>
              <a:ea typeface="Times New Roman"/>
              <a:cs typeface="Times New Roman"/>
              <a:sym typeface="Times New Roman"/>
            </a:endParaRPr>
          </a:p>
        </p:txBody>
      </p:sp>
      <p:sp>
        <p:nvSpPr>
          <p:cNvPr id="64" name="Google Shape;64;p14"/>
          <p:cNvSpPr txBox="1"/>
          <p:nvPr/>
        </p:nvSpPr>
        <p:spPr>
          <a:xfrm>
            <a:off x="319425" y="1155940"/>
            <a:ext cx="8369734" cy="3642681"/>
          </a:xfrm>
          <a:prstGeom prst="rect">
            <a:avLst/>
          </a:prstGeom>
          <a:noFill/>
          <a:ln>
            <a:noFill/>
          </a:ln>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sz="1600" dirty="0">
                <a:latin typeface="Times New Roman" pitchFamily="18" charset="0"/>
                <a:cs typeface="Times New Roman" pitchFamily="18" charset="0"/>
              </a:rPr>
              <a:t>The Hough transform was used to determine whether or not a break point exists in the uploaded x-ray image, and a circle was drawn at the breakpoint </a:t>
            </a:r>
          </a:p>
          <a:p>
            <a:pPr algn="l"/>
            <a:endParaRPr lang="en" sz="1600" dirty="0">
              <a:solidFill>
                <a:srgbClr val="0D0D0D"/>
              </a:solidFill>
              <a:highlight>
                <a:srgbClr val="FFFFFF"/>
              </a:highlight>
              <a:latin typeface="Times New Roman" pitchFamily="18" charset="0"/>
              <a:ea typeface="Times New Roman"/>
              <a:cs typeface="Times New Roman" pitchFamily="18" charset="0"/>
              <a:sym typeface="Times New Roman"/>
            </a:endParaRPr>
          </a:p>
          <a:p>
            <a:pPr marL="285750" indent="-285750" algn="l">
              <a:buFont typeface="Arial" panose="020B0604020202020204" pitchFamily="34" charset="0"/>
              <a:buChar char="•"/>
            </a:pPr>
            <a:r>
              <a:rPr lang="en-US" sz="1600" dirty="0">
                <a:latin typeface="Times New Roman" pitchFamily="18" charset="0"/>
                <a:cs typeface="Times New Roman" pitchFamily="18" charset="0"/>
              </a:rPr>
              <a:t>Create a 2Darray corresponding to a discrete set of values for ρ and ѳ. Each element in this array is often referred to as accumulator cell. </a:t>
            </a:r>
          </a:p>
          <a:p>
            <a:pPr algn="l"/>
            <a:endParaRPr lang="en" sz="1600" dirty="0">
              <a:solidFill>
                <a:srgbClr val="0D0D0D"/>
              </a:solidFill>
              <a:highlight>
                <a:srgbClr val="FFFFFF"/>
              </a:highlight>
              <a:latin typeface="Times New Roman" pitchFamily="18" charset="0"/>
              <a:ea typeface="Times New Roman"/>
              <a:cs typeface="Times New Roman" pitchFamily="18" charset="0"/>
              <a:sym typeface="Times New Roman"/>
            </a:endParaRPr>
          </a:p>
          <a:p>
            <a:pPr marL="285750" indent="-285750" algn="l">
              <a:buFont typeface="Arial" panose="020B0604020202020204" pitchFamily="34" charset="0"/>
              <a:buChar char="•"/>
            </a:pPr>
            <a:r>
              <a:rPr lang="en-US" sz="1600" dirty="0">
                <a:latin typeface="Times New Roman" pitchFamily="18" charset="0"/>
                <a:cs typeface="Times New Roman" pitchFamily="18" charset="0"/>
              </a:rPr>
              <a:t>For each pixel (x, y) in the image and for each chosen value of ѳ, compute ρ from equation (1) and write the result in the corresponding position (</a:t>
            </a:r>
            <a:r>
              <a:rPr lang="en-US" sz="1600" dirty="0" err="1">
                <a:latin typeface="Times New Roman" pitchFamily="18" charset="0"/>
                <a:cs typeface="Times New Roman" pitchFamily="18" charset="0"/>
              </a:rPr>
              <a:t>ρ,ѳ</a:t>
            </a:r>
            <a:r>
              <a:rPr lang="en-US" sz="1600" dirty="0">
                <a:latin typeface="Times New Roman" pitchFamily="18" charset="0"/>
                <a:cs typeface="Times New Roman" pitchFamily="18" charset="0"/>
              </a:rPr>
              <a:t>) in the accumulator array. </a:t>
            </a:r>
          </a:p>
          <a:p>
            <a:pPr algn="l"/>
            <a:endParaRPr lang="en-US" sz="1600" dirty="0">
              <a:latin typeface="Times New Roman" pitchFamily="18" charset="0"/>
              <a:cs typeface="Times New Roman" pitchFamily="18" charset="0"/>
            </a:endParaRPr>
          </a:p>
          <a:p>
            <a:pPr marL="285750" indent="-285750" algn="l">
              <a:buFont typeface="Arial" panose="020B0604020202020204" pitchFamily="34" charset="0"/>
              <a:buChar char="•"/>
            </a:pPr>
            <a:r>
              <a:rPr lang="en-US" sz="1600" dirty="0">
                <a:latin typeface="Times New Roman" pitchFamily="18" charset="0"/>
                <a:cs typeface="Times New Roman" pitchFamily="18" charset="0"/>
              </a:rPr>
              <a:t>The final step was to categorize fracture bone types using classifiers such as KNN, SVM, ANN, and </a:t>
            </a:r>
            <a:r>
              <a:rPr lang="en-US" sz="1600" dirty="0" smtClean="0">
                <a:latin typeface="Times New Roman" pitchFamily="18" charset="0"/>
                <a:cs typeface="Times New Roman" pitchFamily="18" charset="0"/>
              </a:rPr>
              <a:t>CNN. </a:t>
            </a:r>
            <a:r>
              <a:rPr lang="en-US" sz="1600" dirty="0">
                <a:latin typeface="Times New Roman" pitchFamily="18" charset="0"/>
                <a:cs typeface="Times New Roman" pitchFamily="18" charset="0"/>
              </a:rPr>
              <a:t>These classifiers were chosen primarily for their ability to reduce training time while increasing classification accuracy. </a:t>
            </a:r>
            <a:endParaRPr lang="en" sz="1600" dirty="0">
              <a:solidFill>
                <a:srgbClr val="0D0D0D"/>
              </a:solidFill>
              <a:highlight>
                <a:srgbClr val="FFFFFF"/>
              </a:highlight>
              <a:latin typeface="Times New Roman" pitchFamily="18" charset="0"/>
              <a:ea typeface="Times New Roman"/>
              <a:cs typeface="Times New Roman" pitchFamily="18" charset="0"/>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p:nvPr/>
        </p:nvSpPr>
        <p:spPr>
          <a:xfrm>
            <a:off x="451625" y="324908"/>
            <a:ext cx="8520600" cy="572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Font typeface="Wingdings" pitchFamily="2" charset="2"/>
              <a:buChar char="Ø"/>
            </a:pPr>
            <a:r>
              <a:rPr lang="en" sz="2500" dirty="0">
                <a:latin typeface="Times New Roman" panose="02020603050405020304" pitchFamily="18" charset="0"/>
                <a:ea typeface="Times New Roman"/>
                <a:cs typeface="Times New Roman" panose="02020603050405020304" pitchFamily="18" charset="0"/>
              </a:rPr>
              <a:t>REFERENCES</a:t>
            </a:r>
            <a:endParaRPr lang="en" sz="2500" dirty="0">
              <a:solidFill>
                <a:srgbClr val="000000"/>
              </a:solidFill>
              <a:latin typeface="Times New Roman" panose="02020603050405020304" pitchFamily="18" charset="0"/>
              <a:ea typeface="Times New Roman"/>
              <a:cs typeface="Times New Roman" panose="02020603050405020304" pitchFamily="18" charset="0"/>
            </a:endParaRPr>
          </a:p>
        </p:txBody>
      </p:sp>
      <p:sp>
        <p:nvSpPr>
          <p:cNvPr id="85" name="Google Shape;85;p17"/>
          <p:cNvSpPr txBox="1"/>
          <p:nvPr/>
        </p:nvSpPr>
        <p:spPr>
          <a:xfrm>
            <a:off x="451625" y="1225975"/>
            <a:ext cx="8240750" cy="3323400"/>
          </a:xfrm>
          <a:prstGeom prst="rect">
            <a:avLst/>
          </a:prstGeom>
          <a:noFill/>
          <a:ln>
            <a:noFill/>
          </a:ln>
        </p:spPr>
        <p:txBody>
          <a:bodyPr spcFirstLastPara="1" wrap="square" lIns="91425" tIns="91425" rIns="91425" bIns="91425" anchor="t" anchorCtr="0">
            <a:noAutofit/>
          </a:bodyPr>
          <a:lstStyle/>
          <a:p>
            <a:pPr algn="just"/>
            <a:endParaRPr lang="en" sz="2000" dirty="0">
              <a:solidFill>
                <a:srgbClr val="0D0D0D"/>
              </a:solidFill>
              <a:highlight>
                <a:srgbClr val="FFFFFF"/>
              </a:highlight>
              <a:latin typeface="Times New Roman"/>
              <a:ea typeface="Times New Roman"/>
              <a:cs typeface="Times New Roman"/>
            </a:endParaRPr>
          </a:p>
        </p:txBody>
      </p:sp>
      <p:sp>
        <p:nvSpPr>
          <p:cNvPr id="4" name="Google Shape;85;p17">
            <a:extLst>
              <a:ext uri="{FF2B5EF4-FFF2-40B4-BE49-F238E27FC236}">
                <a16:creationId xmlns="" xmlns:a16="http://schemas.microsoft.com/office/drawing/2014/main" id="{9C29633D-7A74-45CD-8DC8-BD32690BD074}"/>
              </a:ext>
            </a:extLst>
          </p:cNvPr>
          <p:cNvSpPr txBox="1"/>
          <p:nvPr/>
        </p:nvSpPr>
        <p:spPr>
          <a:xfrm>
            <a:off x="751925" y="897608"/>
            <a:ext cx="7940450" cy="3323400"/>
          </a:xfrm>
          <a:prstGeom prst="rect">
            <a:avLst/>
          </a:prstGeom>
          <a:noFill/>
          <a:ln>
            <a:noFill/>
          </a:ln>
        </p:spPr>
        <p:txBody>
          <a:bodyPr spcFirstLastPara="1" wrap="square" lIns="91425" tIns="91425" rIns="91425" bIns="91425" anchor="t" anchorCtr="0">
            <a:noAutofit/>
          </a:bodyPr>
          <a:lstStyle/>
          <a:p>
            <a:pPr algn="l"/>
            <a:r>
              <a:rPr lang="en-US" b="0" i="0" u="none" strike="noStrike" baseline="0" dirty="0">
                <a:solidFill>
                  <a:srgbClr val="000000"/>
                </a:solidFill>
                <a:latin typeface="Times New Roman" panose="02020603050405020304" pitchFamily="18" charset="0"/>
                <a:cs typeface="Times New Roman" panose="02020603050405020304" pitchFamily="18" charset="0"/>
              </a:rPr>
              <a:t>[1] K</a:t>
            </a:r>
            <a:r>
              <a:rPr lang="en-US" dirty="0"/>
              <a:t>[1] </a:t>
            </a:r>
            <a:r>
              <a:rPr lang="en-US" dirty="0" err="1"/>
              <a:t>Myint</a:t>
            </a:r>
            <a:r>
              <a:rPr lang="en-US" dirty="0"/>
              <a:t> </a:t>
            </a:r>
            <a:r>
              <a:rPr lang="en-US" dirty="0" err="1"/>
              <a:t>Wint</a:t>
            </a:r>
            <a:r>
              <a:rPr lang="en-US" dirty="0"/>
              <a:t> Wah, Tun KS, Tun HM. Analysis on leg bone fracture detection and classification using x-ray images, 2018;3(3):49-59. </a:t>
            </a:r>
          </a:p>
          <a:p>
            <a:pPr algn="l"/>
            <a:endParaRPr lang="en-IN" sz="1600" b="0" i="0" u="none" strike="noStrike" baseline="0" dirty="0">
              <a:solidFill>
                <a:srgbClr val="004393"/>
              </a:solidFill>
              <a:latin typeface="Times New Roman" panose="02020603050405020304" pitchFamily="18" charset="0"/>
              <a:cs typeface="Times New Roman" panose="02020603050405020304" pitchFamily="18" charset="0"/>
            </a:endParaRPr>
          </a:p>
          <a:p>
            <a:pPr algn="l"/>
            <a:r>
              <a:rPr lang="en-US" dirty="0"/>
              <a:t>[2]Johari N, Singh N. Bone fracture detection using edge detection technique. Advances in Intelligent Systems and Computing, 584:11–19, 2018.</a:t>
            </a:r>
          </a:p>
          <a:p>
            <a:pPr algn="l"/>
            <a:endParaRPr lang="en-US" dirty="0">
              <a:solidFill>
                <a:srgbClr val="004393"/>
              </a:solidFill>
              <a:highlight>
                <a:srgbClr val="FFFFFF"/>
              </a:highlight>
              <a:latin typeface="Times New Roman" panose="02020603050405020304" pitchFamily="18" charset="0"/>
              <a:ea typeface="Times New Roman"/>
              <a:cs typeface="Times New Roman" panose="02020603050405020304" pitchFamily="18" charset="0"/>
            </a:endParaRPr>
          </a:p>
          <a:p>
            <a:pPr algn="l"/>
            <a:r>
              <a:rPr lang="en-US" dirty="0"/>
              <a:t>[3]Kaur T, Garg A. Review of various fractal detection techniques in x- ray images. 2016; 4(2):553–559.</a:t>
            </a:r>
          </a:p>
          <a:p>
            <a:pPr algn="l"/>
            <a:endParaRPr lang="en-US" dirty="0">
              <a:solidFill>
                <a:srgbClr val="004393"/>
              </a:solidFill>
              <a:highlight>
                <a:srgbClr val="FFFFFF"/>
              </a:highlight>
              <a:latin typeface="Times New Roman" panose="02020603050405020304" pitchFamily="18" charset="0"/>
              <a:ea typeface="Times New Roman"/>
              <a:cs typeface="Times New Roman" panose="02020603050405020304" pitchFamily="18" charset="0"/>
            </a:endParaRPr>
          </a:p>
          <a:p>
            <a:pPr algn="l"/>
            <a:r>
              <a:rPr lang="en-US" dirty="0"/>
              <a:t>[4]</a:t>
            </a:r>
            <a:r>
              <a:rPr lang="en-US" dirty="0" err="1"/>
              <a:t>Yangling</a:t>
            </a:r>
            <a:r>
              <a:rPr lang="en-US" dirty="0"/>
              <a:t> Ma, </a:t>
            </a:r>
            <a:r>
              <a:rPr lang="en-US" dirty="0" err="1"/>
              <a:t>Yixin</a:t>
            </a:r>
            <a:r>
              <a:rPr lang="en-US" dirty="0"/>
              <a:t> Luo, Bone fracture detection through the two-stage system of Crack Sensitive Convolutional Neural Network, Informatics in Medicine Unlocked 22, 100452,2021. </a:t>
            </a:r>
            <a:endParaRPr lang="en-IN" dirty="0">
              <a:solidFill>
                <a:srgbClr val="004393"/>
              </a:solidFill>
              <a:highlight>
                <a:srgbClr val="FFFFFF"/>
              </a:highlight>
              <a:latin typeface="Times New Roman" panose="02020603050405020304" pitchFamily="18" charset="0"/>
              <a:ea typeface="Times New Roman"/>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826</Words>
  <Application>Microsoft Office PowerPoint</Application>
  <PresentationFormat>On-screen Show (16:9)</PresentationFormat>
  <Paragraphs>125</Paragraphs>
  <Slides>18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Times New Roman</vt:lpstr>
      <vt:lpstr>Wingdings</vt:lpstr>
      <vt:lpstr>Simple Light</vt:lpstr>
      <vt:lpstr>Slide 1</vt:lpstr>
      <vt:lpstr>INTRODUCTION</vt:lpstr>
      <vt:lpstr>PROBLEM STATEMENT</vt:lpstr>
      <vt:lpstr>DATASET</vt:lpstr>
      <vt:lpstr>DATA COLLECTION</vt:lpstr>
      <vt:lpstr>ARCHITECTURE DIAGRAM</vt:lpstr>
      <vt:lpstr>Slide 7</vt:lpstr>
      <vt:lpstr>INSTALL REQUIREMENTS.txt</vt:lpstr>
      <vt:lpstr>Slide 9</vt:lpstr>
      <vt:lpstr>MODEL DEVELOPMENT</vt:lpstr>
      <vt:lpstr>MODEL EVALUTION</vt:lpstr>
      <vt:lpstr>INFO-RULES</vt:lpstr>
      <vt:lpstr>MAIN</vt:lpstr>
      <vt:lpstr>TEST NORMAL &amp; FRACTURED</vt:lpstr>
      <vt:lpstr>DATA PREPROCESSING</vt:lpstr>
      <vt:lpstr>DATA TRANSFORMATION</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Hariharan R</dc:creator>
  <cp:lastModifiedBy>user</cp:lastModifiedBy>
  <cp:revision>270</cp:revision>
  <dcterms:modified xsi:type="dcterms:W3CDTF">2024-04-26T04:29:25Z</dcterms:modified>
</cp:coreProperties>
</file>