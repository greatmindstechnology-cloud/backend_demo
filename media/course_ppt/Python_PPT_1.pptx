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9" r:id="rId4"/>
    <p:sldId id="267" r:id="rId5"/>
    <p:sldId id="260" r:id="rId6"/>
    <p:sldId id="261" r:id="rId7"/>
    <p:sldId id="262" r:id="rId8"/>
    <p:sldId id="264" r:id="rId9"/>
    <p:sldId id="265" r:id="rId10"/>
    <p:sldId id="263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58" r:id="rId25"/>
  </p:sldIdLst>
  <p:sldSz cx="9753600" cy="7315200"/>
  <p:notesSz cx="6858000" cy="9144000"/>
  <p:embeddedFontLst>
    <p:embeddedFont>
      <p:font typeface="Helvetica World" panose="020B0604020202020204" charset="-128"/>
      <p:regular r:id="rId27"/>
    </p:embeddedFont>
    <p:embeddedFont>
      <p:font typeface="Helvetica World Bold" panose="020B0604020202020204" charset="-128"/>
      <p:regular r:id="rId28"/>
    </p:embeddedFont>
    <p:embeddedFont>
      <p:font typeface="Bahnschrift SemiBold" panose="020B0502040204020203" pitchFamily="34" charset="0"/>
      <p:bold r:id="rId29"/>
    </p:embeddedFont>
    <p:embeddedFont>
      <p:font typeface="Brittany" panose="020B0604020202020204" charset="0"/>
      <p:regular r:id="rId30"/>
    </p:embeddedFont>
    <p:embeddedFont>
      <p:font typeface="Cambria" panose="02040503050406030204" pitchFamily="18" charset="0"/>
      <p:regular r:id="rId31"/>
      <p:bold r:id="rId32"/>
      <p:italic r:id="rId33"/>
      <p:boldItalic r:id="rId34"/>
    </p:embeddedFont>
    <p:embeddedFont>
      <p:font typeface="Consolas" panose="020B0609020204030204" pitchFamily="49" charset="0"/>
      <p:regular r:id="rId35"/>
      <p:bold r:id="rId36"/>
      <p:italic r:id="rId37"/>
      <p:boldItalic r:id="rId38"/>
    </p:embeddedFont>
    <p:embeddedFont>
      <p:font typeface="Georgia" panose="02040502050405020303" pitchFamily="18" charset="0"/>
      <p:regular r:id="rId39"/>
      <p:bold r:id="rId40"/>
      <p:italic r:id="rId41"/>
      <p:boldItalic r:id="rId42"/>
    </p:embeddedFont>
    <p:embeddedFont>
      <p:font typeface="Microsoft Sans Serif" panose="020B0604020202020204" pitchFamily="34" charset="0"/>
      <p:regular r:id="rId43"/>
    </p:embeddedFont>
    <p:embeddedFont>
      <p:font typeface="Segoe UI Black" panose="020B0A02040204020203" pitchFamily="34" charset="0"/>
      <p:bold r:id="rId44"/>
      <p:boldItalic r:id="rId45"/>
    </p:embeddedFont>
    <p:embeddedFont>
      <p:font typeface="Segoe UI Semibold" panose="020B0702040204020203" pitchFamily="34" charset="0"/>
      <p:bold r:id="rId46"/>
      <p:boldItalic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2C4F"/>
    <a:srgbClr val="0000CC"/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4" autoAdjust="0"/>
    <p:restoredTop sz="94622" autoAdjust="0"/>
  </p:normalViewPr>
  <p:slideViewPr>
    <p:cSldViewPr>
      <p:cViewPr varScale="1">
        <p:scale>
          <a:sx n="73" d="100"/>
          <a:sy n="73" d="100"/>
        </p:scale>
        <p:origin x="171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font" Target="fonts/font21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font" Target="fonts/font20.fntdata"/><Relationship Id="rId20" Type="http://schemas.openxmlformats.org/officeDocument/2006/relationships/slide" Target="slides/slide19.xml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7512BA-1EE4-45B0-BAA0-6FEC2ED43A4C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6F4117-203F-4FD2-B7C5-F5748CE8B1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741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6F4117-203F-4FD2-B7C5-F5748CE8B15B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887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F6F16-39D8-9968-86A3-92CCB2020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E09E94-B21D-771E-3681-58F94E036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62DB49-3553-968E-DE3F-F3D758D0B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39193-1CDD-14C0-502B-8C015237C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6F4117-203F-4FD2-B7C5-F5748CE8B15B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829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4.jpeg"/><Relationship Id="rId4" Type="http://schemas.openxmlformats.org/officeDocument/2006/relationships/image" Target="../media/image6.sv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25.jpeg"/><Relationship Id="rId4" Type="http://schemas.openxmlformats.org/officeDocument/2006/relationships/image" Target="../media/image6.svg"/><Relationship Id="rId9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29.jpeg"/><Relationship Id="rId4" Type="http://schemas.openxmlformats.org/officeDocument/2006/relationships/image" Target="../media/image6.svg"/><Relationship Id="rId9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31.jpeg"/><Relationship Id="rId4" Type="http://schemas.openxmlformats.org/officeDocument/2006/relationships/image" Target="../media/image6.svg"/><Relationship Id="rId9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3.png"/><Relationship Id="rId5" Type="http://schemas.openxmlformats.org/officeDocument/2006/relationships/image" Target="../media/image6.svg"/><Relationship Id="rId10" Type="http://schemas.openxmlformats.org/officeDocument/2006/relationships/image" Target="../media/image32.jpeg"/><Relationship Id="rId4" Type="http://schemas.openxmlformats.org/officeDocument/2006/relationships/image" Target="../media/image5.png"/><Relationship Id="rId9" Type="http://schemas.openxmlformats.org/officeDocument/2006/relationships/image" Target="../media/image4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34.png"/><Relationship Id="rId4" Type="http://schemas.openxmlformats.org/officeDocument/2006/relationships/image" Target="../media/image5.png"/><Relationship Id="rId9" Type="http://schemas.openxmlformats.org/officeDocument/2006/relationships/image" Target="../media/image4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42.svg"/><Relationship Id="rId3" Type="http://schemas.openxmlformats.org/officeDocument/2006/relationships/image" Target="../media/image36.svg"/><Relationship Id="rId7" Type="http://schemas.openxmlformats.org/officeDocument/2006/relationships/image" Target="../media/image38.svg"/><Relationship Id="rId12" Type="http://schemas.openxmlformats.org/officeDocument/2006/relationships/image" Target="../media/image41.png"/><Relationship Id="rId2" Type="http://schemas.openxmlformats.org/officeDocument/2006/relationships/image" Target="../media/image35.png"/><Relationship Id="rId16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0.sv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image" Target="../media/image39.png"/><Relationship Id="rId4" Type="http://schemas.openxmlformats.org/officeDocument/2006/relationships/image" Target="../media/image1.jpeg"/><Relationship Id="rId9" Type="http://schemas.openxmlformats.org/officeDocument/2006/relationships/image" Target="../media/image6.svg"/><Relationship Id="rId14" Type="http://schemas.openxmlformats.org/officeDocument/2006/relationships/hyperlink" Target="mailto:info@greatmindstechnology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21973"/>
          </a:xfrm>
          <a:custGeom>
            <a:avLst/>
            <a:gdLst/>
            <a:ahLst/>
            <a:cxnLst/>
            <a:rect l="l" t="t" r="r" b="b"/>
            <a:pathLst>
              <a:path w="9753600" h="7321973">
                <a:moveTo>
                  <a:pt x="0" y="0"/>
                </a:moveTo>
                <a:lnTo>
                  <a:pt x="9753600" y="0"/>
                </a:lnTo>
                <a:lnTo>
                  <a:pt x="9753600" y="7321973"/>
                </a:lnTo>
                <a:lnTo>
                  <a:pt x="0" y="73219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10371" r="-230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84193" y="2051671"/>
            <a:ext cx="6385213" cy="2595745"/>
          </a:xfrm>
          <a:custGeom>
            <a:avLst/>
            <a:gdLst/>
            <a:ahLst/>
            <a:cxnLst/>
            <a:rect l="l" t="t" r="r" b="b"/>
            <a:pathLst>
              <a:path w="6385213" h="2595745">
                <a:moveTo>
                  <a:pt x="0" y="0"/>
                </a:moveTo>
                <a:lnTo>
                  <a:pt x="6385214" y="0"/>
                </a:lnTo>
                <a:lnTo>
                  <a:pt x="6385214" y="2595745"/>
                </a:lnTo>
                <a:lnTo>
                  <a:pt x="0" y="25957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8239509" y="6446190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387" y="6446190"/>
            <a:ext cx="5080948" cy="699299"/>
          </a:xfrm>
          <a:custGeom>
            <a:avLst/>
            <a:gdLst/>
            <a:ahLst/>
            <a:cxnLst/>
            <a:rect l="l" t="t" r="r" b="b"/>
            <a:pathLst>
              <a:path w="5080948" h="699299">
                <a:moveTo>
                  <a:pt x="0" y="0"/>
                </a:moveTo>
                <a:lnTo>
                  <a:pt x="5080948" y="0"/>
                </a:lnTo>
                <a:lnTo>
                  <a:pt x="5080948" y="699299"/>
                </a:lnTo>
                <a:lnTo>
                  <a:pt x="0" y="6992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953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789" y="6446190"/>
            <a:ext cx="5477590" cy="691463"/>
          </a:xfrm>
          <a:custGeom>
            <a:avLst/>
            <a:gdLst/>
            <a:ahLst/>
            <a:cxnLst/>
            <a:rect l="l" t="t" r="r" b="b"/>
            <a:pathLst>
              <a:path w="5477590" h="691463">
                <a:moveTo>
                  <a:pt x="0" y="0"/>
                </a:moveTo>
                <a:lnTo>
                  <a:pt x="5477590" y="0"/>
                </a:lnTo>
                <a:lnTo>
                  <a:pt x="5477590" y="691463"/>
                </a:lnTo>
                <a:lnTo>
                  <a:pt x="0" y="6914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0155" b="-1133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981498" y="6762767"/>
            <a:ext cx="2787736" cy="330092"/>
            <a:chOff x="0" y="0"/>
            <a:chExt cx="972591" cy="1151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2016980" y="6779303"/>
            <a:ext cx="297020" cy="297020"/>
          </a:xfrm>
          <a:custGeom>
            <a:avLst/>
            <a:gdLst/>
            <a:ahLst/>
            <a:cxnLst/>
            <a:rect l="l" t="t" r="r" b="b"/>
            <a:pathLst>
              <a:path w="297020" h="297020">
                <a:moveTo>
                  <a:pt x="0" y="0"/>
                </a:moveTo>
                <a:lnTo>
                  <a:pt x="297020" y="0"/>
                </a:lnTo>
                <a:lnTo>
                  <a:pt x="297020" y="297020"/>
                </a:lnTo>
                <a:lnTo>
                  <a:pt x="0" y="2970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103835" y="6446190"/>
            <a:ext cx="2932382" cy="532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2040"/>
              </a:lnSpc>
              <a:spcBef>
                <a:spcPct val="0"/>
              </a:spcBef>
            </a:pPr>
            <a:endParaRPr lang="en-US" sz="1700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375928" y="6834743"/>
            <a:ext cx="3304408" cy="18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7"/>
              </a:lnSpc>
              <a:spcBef>
                <a:spcPct val="0"/>
              </a:spcBef>
            </a:pPr>
            <a:r>
              <a:rPr lang="en-US" sz="1131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3" name="AutoShape 13"/>
          <p:cNvSpPr/>
          <p:nvPr/>
        </p:nvSpPr>
        <p:spPr>
          <a:xfrm>
            <a:off x="0" y="71437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V="1">
            <a:off x="9789" y="222341"/>
            <a:ext cx="9753600" cy="11506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6885" y="1939522"/>
            <a:ext cx="7587252" cy="3084403"/>
          </a:xfrm>
          <a:custGeom>
            <a:avLst/>
            <a:gdLst/>
            <a:ahLst/>
            <a:cxnLst/>
            <a:rect l="l" t="t" r="r" b="b"/>
            <a:pathLst>
              <a:path w="7587252" h="3084403">
                <a:moveTo>
                  <a:pt x="0" y="0"/>
                </a:moveTo>
                <a:lnTo>
                  <a:pt x="7587252" y="0"/>
                </a:lnTo>
                <a:lnTo>
                  <a:pt x="7587252" y="3084403"/>
                </a:lnTo>
                <a:lnTo>
                  <a:pt x="0" y="3084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70567" y="471100"/>
            <a:ext cx="1953631" cy="794199"/>
          </a:xfrm>
          <a:custGeom>
            <a:avLst/>
            <a:gdLst/>
            <a:ahLst/>
            <a:cxnLst/>
            <a:rect l="l" t="t" r="r" b="b"/>
            <a:pathLst>
              <a:path w="1953631" h="794199">
                <a:moveTo>
                  <a:pt x="0" y="0"/>
                </a:moveTo>
                <a:lnTo>
                  <a:pt x="1953631" y="0"/>
                </a:lnTo>
                <a:lnTo>
                  <a:pt x="1953631" y="794199"/>
                </a:lnTo>
                <a:lnTo>
                  <a:pt x="0" y="794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6446190"/>
            <a:ext cx="4976798" cy="658727"/>
          </a:xfrm>
          <a:custGeom>
            <a:avLst/>
            <a:gdLst/>
            <a:ahLst/>
            <a:cxnLst/>
            <a:rect l="l" t="t" r="r" b="b"/>
            <a:pathLst>
              <a:path w="6199781" h="658727">
                <a:moveTo>
                  <a:pt x="0" y="0"/>
                </a:moveTo>
                <a:lnTo>
                  <a:pt x="6199781" y="0"/>
                </a:lnTo>
                <a:lnTo>
                  <a:pt x="619978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57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>
            <a:off x="3387" y="6446190"/>
            <a:ext cx="5353071" cy="658727"/>
          </a:xfrm>
          <a:custGeom>
            <a:avLst/>
            <a:gdLst/>
            <a:ahLst/>
            <a:cxnLst/>
            <a:rect l="l" t="t" r="r" b="b"/>
            <a:pathLst>
              <a:path w="5353071" h="658727">
                <a:moveTo>
                  <a:pt x="0" y="0"/>
                </a:moveTo>
                <a:lnTo>
                  <a:pt x="5353071" y="0"/>
                </a:lnTo>
                <a:lnTo>
                  <a:pt x="535307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817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053983" y="6744400"/>
            <a:ext cx="2625995" cy="310941"/>
            <a:chOff x="0" y="0"/>
            <a:chExt cx="972591" cy="1151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087407" y="6759977"/>
            <a:ext cx="279787" cy="279787"/>
          </a:xfrm>
          <a:custGeom>
            <a:avLst/>
            <a:gdLst/>
            <a:ahLst/>
            <a:cxnLst/>
            <a:rect l="l" t="t" r="r" b="b"/>
            <a:pathLst>
              <a:path w="279787" h="279787">
                <a:moveTo>
                  <a:pt x="0" y="0"/>
                </a:moveTo>
                <a:lnTo>
                  <a:pt x="279787" y="0"/>
                </a:lnTo>
                <a:lnTo>
                  <a:pt x="279787" y="279787"/>
                </a:lnTo>
                <a:lnTo>
                  <a:pt x="0" y="279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169223" y="6446190"/>
            <a:ext cx="2762250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  <a:spcBef>
                <a:spcPct val="0"/>
              </a:spcBef>
            </a:pPr>
            <a:r>
              <a:rPr lang="en-US" sz="1601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1921"/>
              </a:lnSpc>
              <a:spcBef>
                <a:spcPct val="0"/>
              </a:spcBef>
            </a:pPr>
            <a:endParaRPr lang="en-US" sz="1601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425529" y="6812199"/>
            <a:ext cx="3112691" cy="1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  <a:spcBef>
                <a:spcPct val="0"/>
              </a:spcBef>
            </a:pPr>
            <a:r>
              <a:rPr lang="en-US" sz="1065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2" name="Freeform 12"/>
          <p:cNvSpPr/>
          <p:nvPr/>
        </p:nvSpPr>
        <p:spPr>
          <a:xfrm>
            <a:off x="8239509" y="6446190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13" name="AutoShape 13"/>
          <p:cNvSpPr/>
          <p:nvPr/>
        </p:nvSpPr>
        <p:spPr>
          <a:xfrm>
            <a:off x="0" y="71437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V="1">
            <a:off x="9789" y="233846"/>
            <a:ext cx="9740424" cy="1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17B525-B545-A385-F6ED-D2BD5D9A0305}"/>
              </a:ext>
            </a:extLst>
          </p:cNvPr>
          <p:cNvSpPr txBox="1"/>
          <p:nvPr/>
        </p:nvSpPr>
        <p:spPr>
          <a:xfrm>
            <a:off x="1371600" y="1447800"/>
            <a:ext cx="7436651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eorgia" panose="02040502050405020303" pitchFamily="18" charset="0"/>
                <a:cs typeface="Segoe UI" panose="020B0502040204020203" pitchFamily="34" charset="0"/>
              </a:rPr>
              <a:t>NAME : </a:t>
            </a:r>
            <a:r>
              <a:rPr lang="en-US" sz="2800" dirty="0">
                <a:solidFill>
                  <a:schemeClr val="tx2"/>
                </a:solidFill>
                <a:latin typeface="Georgia" panose="02040502050405020303" pitchFamily="18" charset="0"/>
                <a:cs typeface="Segoe UI" panose="020B0502040204020203" pitchFamily="34" charset="0"/>
              </a:rPr>
              <a:t>GOKULA LAKSHMI M</a:t>
            </a:r>
          </a:p>
          <a:p>
            <a:endParaRPr lang="en-US" sz="2800" dirty="0">
              <a:latin typeface="Georgia" panose="02040502050405020303" pitchFamily="18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Georgia" panose="02040502050405020303" pitchFamily="18" charset="0"/>
                <a:cs typeface="Segoe UI" panose="020B0502040204020203" pitchFamily="34" charset="0"/>
              </a:rPr>
              <a:t>COMPANY : </a:t>
            </a:r>
            <a:r>
              <a:rPr lang="en-US" sz="2800" dirty="0">
                <a:solidFill>
                  <a:schemeClr val="tx2"/>
                </a:solidFill>
                <a:latin typeface="Georgia" panose="02040502050405020303" pitchFamily="18" charset="0"/>
                <a:cs typeface="Segoe UI" panose="020B0502040204020203" pitchFamily="34" charset="0"/>
              </a:rPr>
              <a:t>GREAT MINDS TECHNOLOGY </a:t>
            </a:r>
          </a:p>
          <a:p>
            <a:endParaRPr lang="en-US" sz="2800" dirty="0">
              <a:latin typeface="Georgia" panose="02040502050405020303" pitchFamily="18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Georgia" panose="02040502050405020303" pitchFamily="18" charset="0"/>
                <a:cs typeface="Segoe UI" panose="020B0502040204020203" pitchFamily="34" charset="0"/>
              </a:rPr>
              <a:t>DATE : </a:t>
            </a:r>
            <a:r>
              <a:rPr lang="en-US" sz="2800" dirty="0">
                <a:solidFill>
                  <a:schemeClr val="tx2"/>
                </a:solidFill>
                <a:latin typeface="Georgia" panose="02040502050405020303" pitchFamily="18" charset="0"/>
                <a:cs typeface="Segoe UI" panose="020B0502040204020203" pitchFamily="34" charset="0"/>
              </a:rPr>
              <a:t>14-07-2024</a:t>
            </a:r>
          </a:p>
          <a:p>
            <a:endParaRPr lang="en-US" sz="2800" dirty="0">
              <a:latin typeface="Georgia" panose="02040502050405020303" pitchFamily="18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Georgia" panose="02040502050405020303" pitchFamily="18" charset="0"/>
                <a:cs typeface="Segoe UI" panose="020B0502040204020203" pitchFamily="34" charset="0"/>
              </a:rPr>
              <a:t>TITLE : </a:t>
            </a:r>
            <a:r>
              <a:rPr lang="en-US" sz="2800" dirty="0">
                <a:solidFill>
                  <a:schemeClr val="tx2"/>
                </a:solidFill>
                <a:latin typeface="Georgia" panose="02040502050405020303" pitchFamily="18" charset="0"/>
                <a:cs typeface="Segoe UI" panose="020B0502040204020203" pitchFamily="34" charset="0"/>
              </a:rPr>
              <a:t>PYTHON </a:t>
            </a:r>
            <a:endParaRPr lang="en-IN" sz="2800" dirty="0">
              <a:solidFill>
                <a:schemeClr val="tx2"/>
              </a:solidFill>
              <a:latin typeface="Georgia" panose="02040502050405020303" pitchFamily="18" charset="0"/>
              <a:cs typeface="Segoe UI" panose="020B0502040204020203" pitchFamily="34" charset="0"/>
            </a:endParaRPr>
          </a:p>
        </p:txBody>
      </p:sp>
      <p:pic>
        <p:nvPicPr>
          <p:cNvPr id="2050" name="Picture 2" descr="What is Python programming? - techknowledgehub">
            <a:extLst>
              <a:ext uri="{FF2B5EF4-FFF2-40B4-BE49-F238E27FC236}">
                <a16:creationId xmlns:a16="http://schemas.microsoft.com/office/drawing/2014/main" id="{4E342013-C87A-58CD-1192-A7B6F001B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197" y="3240682"/>
            <a:ext cx="4495800" cy="2209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A9D0E-FD28-786D-DC07-3E9D61BD5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32B4AB8-72C7-CFD2-F5E0-95CD7A9D4FC7}"/>
              </a:ext>
            </a:extLst>
          </p:cNvPr>
          <p:cNvSpPr/>
          <p:nvPr/>
        </p:nvSpPr>
        <p:spPr>
          <a:xfrm>
            <a:off x="2351428" y="1980821"/>
            <a:ext cx="7587252" cy="3084403"/>
          </a:xfrm>
          <a:custGeom>
            <a:avLst/>
            <a:gdLst/>
            <a:ahLst/>
            <a:cxnLst/>
            <a:rect l="l" t="t" r="r" b="b"/>
            <a:pathLst>
              <a:path w="7587252" h="3084403">
                <a:moveTo>
                  <a:pt x="0" y="0"/>
                </a:moveTo>
                <a:lnTo>
                  <a:pt x="7587252" y="0"/>
                </a:lnTo>
                <a:lnTo>
                  <a:pt x="7587252" y="3084403"/>
                </a:lnTo>
                <a:lnTo>
                  <a:pt x="0" y="3084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240BF26-5613-7CF7-DAC1-B405DA475126}"/>
              </a:ext>
            </a:extLst>
          </p:cNvPr>
          <p:cNvSpPr/>
          <p:nvPr/>
        </p:nvSpPr>
        <p:spPr>
          <a:xfrm>
            <a:off x="7670567" y="471100"/>
            <a:ext cx="1953631" cy="794199"/>
          </a:xfrm>
          <a:custGeom>
            <a:avLst/>
            <a:gdLst/>
            <a:ahLst/>
            <a:cxnLst/>
            <a:rect l="l" t="t" r="r" b="b"/>
            <a:pathLst>
              <a:path w="1953631" h="794199">
                <a:moveTo>
                  <a:pt x="0" y="0"/>
                </a:moveTo>
                <a:lnTo>
                  <a:pt x="1953631" y="0"/>
                </a:lnTo>
                <a:lnTo>
                  <a:pt x="1953631" y="794199"/>
                </a:lnTo>
                <a:lnTo>
                  <a:pt x="0" y="794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ECFF7A4-C5DE-10B3-7F39-37AAE630F987}"/>
              </a:ext>
            </a:extLst>
          </p:cNvPr>
          <p:cNvSpPr/>
          <p:nvPr/>
        </p:nvSpPr>
        <p:spPr>
          <a:xfrm>
            <a:off x="0" y="6446190"/>
            <a:ext cx="4976798" cy="658727"/>
          </a:xfrm>
          <a:custGeom>
            <a:avLst/>
            <a:gdLst/>
            <a:ahLst/>
            <a:cxnLst/>
            <a:rect l="l" t="t" r="r" b="b"/>
            <a:pathLst>
              <a:path w="6199781" h="658727">
                <a:moveTo>
                  <a:pt x="0" y="0"/>
                </a:moveTo>
                <a:lnTo>
                  <a:pt x="6199781" y="0"/>
                </a:lnTo>
                <a:lnTo>
                  <a:pt x="619978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57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0B5C5A2-50F0-91EF-8132-1CF5F1B9A171}"/>
              </a:ext>
            </a:extLst>
          </p:cNvPr>
          <p:cNvSpPr/>
          <p:nvPr/>
        </p:nvSpPr>
        <p:spPr>
          <a:xfrm>
            <a:off x="3387" y="6446190"/>
            <a:ext cx="5353071" cy="658727"/>
          </a:xfrm>
          <a:custGeom>
            <a:avLst/>
            <a:gdLst/>
            <a:ahLst/>
            <a:cxnLst/>
            <a:rect l="l" t="t" r="r" b="b"/>
            <a:pathLst>
              <a:path w="5353071" h="658727">
                <a:moveTo>
                  <a:pt x="0" y="0"/>
                </a:moveTo>
                <a:lnTo>
                  <a:pt x="5353071" y="0"/>
                </a:lnTo>
                <a:lnTo>
                  <a:pt x="535307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817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A91B473-D613-2940-F30E-CFBB928A9A27}"/>
              </a:ext>
            </a:extLst>
          </p:cNvPr>
          <p:cNvGrpSpPr/>
          <p:nvPr/>
        </p:nvGrpSpPr>
        <p:grpSpPr>
          <a:xfrm>
            <a:off x="2053983" y="6744400"/>
            <a:ext cx="2625995" cy="310941"/>
            <a:chOff x="0" y="0"/>
            <a:chExt cx="972591" cy="11516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3DE8B91-0AEE-6D02-63F4-2DE6B409995A}"/>
                </a:ext>
              </a:extLst>
            </p:cNvPr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F785963-6B72-4211-32D4-40FBF6448431}"/>
                </a:ext>
              </a:extLst>
            </p:cNvPr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3424BA53-D303-49E3-CEF9-3148F27347F0}"/>
              </a:ext>
            </a:extLst>
          </p:cNvPr>
          <p:cNvSpPr/>
          <p:nvPr/>
        </p:nvSpPr>
        <p:spPr>
          <a:xfrm>
            <a:off x="2087407" y="6759977"/>
            <a:ext cx="279787" cy="279787"/>
          </a:xfrm>
          <a:custGeom>
            <a:avLst/>
            <a:gdLst/>
            <a:ahLst/>
            <a:cxnLst/>
            <a:rect l="l" t="t" r="r" b="b"/>
            <a:pathLst>
              <a:path w="279787" h="279787">
                <a:moveTo>
                  <a:pt x="0" y="0"/>
                </a:moveTo>
                <a:lnTo>
                  <a:pt x="279787" y="0"/>
                </a:lnTo>
                <a:lnTo>
                  <a:pt x="279787" y="279787"/>
                </a:lnTo>
                <a:lnTo>
                  <a:pt x="0" y="279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2D61B65-0F28-1A54-0772-985572B5E6AD}"/>
              </a:ext>
            </a:extLst>
          </p:cNvPr>
          <p:cNvSpPr txBox="1"/>
          <p:nvPr/>
        </p:nvSpPr>
        <p:spPr>
          <a:xfrm>
            <a:off x="2169223" y="6446190"/>
            <a:ext cx="2762250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  <a:spcBef>
                <a:spcPct val="0"/>
              </a:spcBef>
            </a:pPr>
            <a:r>
              <a:rPr lang="en-US" sz="1601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1921"/>
              </a:lnSpc>
              <a:spcBef>
                <a:spcPct val="0"/>
              </a:spcBef>
            </a:pPr>
            <a:endParaRPr lang="en-US" sz="1601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E313EDA-DF27-5CAE-715C-FEDE0DA28F26}"/>
              </a:ext>
            </a:extLst>
          </p:cNvPr>
          <p:cNvSpPr txBox="1"/>
          <p:nvPr/>
        </p:nvSpPr>
        <p:spPr>
          <a:xfrm>
            <a:off x="2425529" y="6812199"/>
            <a:ext cx="3112691" cy="1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  <a:spcBef>
                <a:spcPct val="0"/>
              </a:spcBef>
            </a:pPr>
            <a:r>
              <a:rPr lang="en-US" sz="1065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2BA5999-C45E-B8B4-8429-EFAF82815940}"/>
              </a:ext>
            </a:extLst>
          </p:cNvPr>
          <p:cNvSpPr/>
          <p:nvPr/>
        </p:nvSpPr>
        <p:spPr>
          <a:xfrm>
            <a:off x="8239509" y="6446190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AC055A54-FA26-7FDB-18E2-3DFFD0F71F68}"/>
              </a:ext>
            </a:extLst>
          </p:cNvPr>
          <p:cNvSpPr/>
          <p:nvPr/>
        </p:nvSpPr>
        <p:spPr>
          <a:xfrm>
            <a:off x="0" y="71437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D7A1C26B-0645-D463-953E-F81224B03926}"/>
              </a:ext>
            </a:extLst>
          </p:cNvPr>
          <p:cNvSpPr/>
          <p:nvPr/>
        </p:nvSpPr>
        <p:spPr>
          <a:xfrm flipV="1">
            <a:off x="9789" y="233846"/>
            <a:ext cx="9740424" cy="1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2DC423-88E9-1A30-33A5-9F12D5F342C1}"/>
              </a:ext>
            </a:extLst>
          </p:cNvPr>
          <p:cNvSpPr txBox="1"/>
          <p:nvPr/>
        </p:nvSpPr>
        <p:spPr>
          <a:xfrm>
            <a:off x="381000" y="1447800"/>
            <a:ext cx="312420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What is Python?</a:t>
            </a:r>
          </a:p>
          <a:p>
            <a:r>
              <a:rPr lang="en-US" sz="2800" dirty="0">
                <a:solidFill>
                  <a:srgbClr val="990099"/>
                </a:solidFill>
                <a:latin typeface="Georgia" panose="02040502050405020303" pitchFamily="18" charset="0"/>
                <a:cs typeface="Segoe UI" panose="020B0502040204020203" pitchFamily="34" charset="0"/>
              </a:rPr>
              <a:t>        </a:t>
            </a:r>
            <a:r>
              <a:rPr lang="en-US" sz="2000" dirty="0">
                <a:solidFill>
                  <a:srgbClr val="990099"/>
                </a:solidFill>
                <a:latin typeface="Georgia" panose="02040502050405020303" pitchFamily="18" charset="0"/>
              </a:rPr>
              <a:t>Python is like a friendly, all-purpose toolbox for building software—it’s simple enough for beginners to learn, but powerful enough to run some of the world’s most complex systems.</a:t>
            </a:r>
          </a:p>
          <a:p>
            <a:endParaRPr lang="en-IN" sz="2800" dirty="0">
              <a:solidFill>
                <a:schemeClr val="tx2"/>
              </a:solidFill>
              <a:latin typeface="Helavetica"/>
              <a:cs typeface="Segoe UI" panose="020B0502040204020203" pitchFamily="34" charset="0"/>
            </a:endParaRPr>
          </a:p>
        </p:txBody>
      </p:sp>
      <p:pic>
        <p:nvPicPr>
          <p:cNvPr id="1026" name="Picture 2" descr="What is Python programming? - techknowledgehub">
            <a:extLst>
              <a:ext uri="{FF2B5EF4-FFF2-40B4-BE49-F238E27FC236}">
                <a16:creationId xmlns:a16="http://schemas.microsoft.com/office/drawing/2014/main" id="{90268EAF-1B87-6CCB-0147-68B326BBF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264152"/>
            <a:ext cx="4656083" cy="276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Python used for? - Python Applications">
            <a:extLst>
              <a:ext uri="{FF2B5EF4-FFF2-40B4-BE49-F238E27FC236}">
                <a16:creationId xmlns:a16="http://schemas.microsoft.com/office/drawing/2014/main" id="{5A54AF3A-9BFB-3AA4-9E0E-D8E76DD6E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3112" y="4095551"/>
            <a:ext cx="3016737" cy="3033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79267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6079E-A627-100B-3669-D5CD90222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9FA17A3C-00D8-B151-A415-162227DA12BF}"/>
              </a:ext>
            </a:extLst>
          </p:cNvPr>
          <p:cNvSpPr/>
          <p:nvPr/>
        </p:nvSpPr>
        <p:spPr>
          <a:xfrm>
            <a:off x="7670567" y="464327"/>
            <a:ext cx="1953631" cy="794199"/>
          </a:xfrm>
          <a:custGeom>
            <a:avLst/>
            <a:gdLst/>
            <a:ahLst/>
            <a:cxnLst/>
            <a:rect l="l" t="t" r="r" b="b"/>
            <a:pathLst>
              <a:path w="1953631" h="794199">
                <a:moveTo>
                  <a:pt x="0" y="0"/>
                </a:moveTo>
                <a:lnTo>
                  <a:pt x="1953631" y="0"/>
                </a:lnTo>
                <a:lnTo>
                  <a:pt x="1953631" y="794199"/>
                </a:lnTo>
                <a:lnTo>
                  <a:pt x="0" y="794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568E088-D3CD-2E61-1DA5-A88DB14BE4CB}"/>
              </a:ext>
            </a:extLst>
          </p:cNvPr>
          <p:cNvSpPr/>
          <p:nvPr/>
        </p:nvSpPr>
        <p:spPr>
          <a:xfrm>
            <a:off x="0" y="6439417"/>
            <a:ext cx="4976798" cy="658727"/>
          </a:xfrm>
          <a:custGeom>
            <a:avLst/>
            <a:gdLst/>
            <a:ahLst/>
            <a:cxnLst/>
            <a:rect l="l" t="t" r="r" b="b"/>
            <a:pathLst>
              <a:path w="6199781" h="658727">
                <a:moveTo>
                  <a:pt x="0" y="0"/>
                </a:moveTo>
                <a:lnTo>
                  <a:pt x="6199781" y="0"/>
                </a:lnTo>
                <a:lnTo>
                  <a:pt x="619978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57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DE0C8C1-EB84-4303-2BAA-46427C5926D8}"/>
              </a:ext>
            </a:extLst>
          </p:cNvPr>
          <p:cNvSpPr/>
          <p:nvPr/>
        </p:nvSpPr>
        <p:spPr>
          <a:xfrm>
            <a:off x="3387" y="6439417"/>
            <a:ext cx="5353071" cy="658727"/>
          </a:xfrm>
          <a:custGeom>
            <a:avLst/>
            <a:gdLst/>
            <a:ahLst/>
            <a:cxnLst/>
            <a:rect l="l" t="t" r="r" b="b"/>
            <a:pathLst>
              <a:path w="5353071" h="658727">
                <a:moveTo>
                  <a:pt x="0" y="0"/>
                </a:moveTo>
                <a:lnTo>
                  <a:pt x="5353071" y="0"/>
                </a:lnTo>
                <a:lnTo>
                  <a:pt x="535307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817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9BC90AD-818D-64DB-5A71-3E77B8ABCE30}"/>
              </a:ext>
            </a:extLst>
          </p:cNvPr>
          <p:cNvGrpSpPr/>
          <p:nvPr/>
        </p:nvGrpSpPr>
        <p:grpSpPr>
          <a:xfrm>
            <a:off x="2053983" y="6737627"/>
            <a:ext cx="2625995" cy="310941"/>
            <a:chOff x="0" y="0"/>
            <a:chExt cx="972591" cy="11516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719041C-27E6-5EA2-EAF4-20B662073966}"/>
                </a:ext>
              </a:extLst>
            </p:cNvPr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2985892-5985-BD55-EE0F-F09FE35775C0}"/>
                </a:ext>
              </a:extLst>
            </p:cNvPr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B51A0245-0064-D85B-2BC0-897E218B835D}"/>
              </a:ext>
            </a:extLst>
          </p:cNvPr>
          <p:cNvSpPr/>
          <p:nvPr/>
        </p:nvSpPr>
        <p:spPr>
          <a:xfrm>
            <a:off x="2087407" y="6753204"/>
            <a:ext cx="279787" cy="279787"/>
          </a:xfrm>
          <a:custGeom>
            <a:avLst/>
            <a:gdLst/>
            <a:ahLst/>
            <a:cxnLst/>
            <a:rect l="l" t="t" r="r" b="b"/>
            <a:pathLst>
              <a:path w="279787" h="279787">
                <a:moveTo>
                  <a:pt x="0" y="0"/>
                </a:moveTo>
                <a:lnTo>
                  <a:pt x="279787" y="0"/>
                </a:lnTo>
                <a:lnTo>
                  <a:pt x="279787" y="279787"/>
                </a:lnTo>
                <a:lnTo>
                  <a:pt x="0" y="279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D20649B-19D4-ECD1-8B3E-81475534C06B}"/>
              </a:ext>
            </a:extLst>
          </p:cNvPr>
          <p:cNvSpPr txBox="1"/>
          <p:nvPr/>
        </p:nvSpPr>
        <p:spPr>
          <a:xfrm>
            <a:off x="2169223" y="6439417"/>
            <a:ext cx="2762250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  <a:spcBef>
                <a:spcPct val="0"/>
              </a:spcBef>
            </a:pPr>
            <a:r>
              <a:rPr lang="en-US" sz="1601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1921"/>
              </a:lnSpc>
              <a:spcBef>
                <a:spcPct val="0"/>
              </a:spcBef>
            </a:pPr>
            <a:endParaRPr lang="en-US" sz="1601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BC9D07D-AE2F-AE0F-1F5B-71A1C77C297D}"/>
              </a:ext>
            </a:extLst>
          </p:cNvPr>
          <p:cNvSpPr txBox="1"/>
          <p:nvPr/>
        </p:nvSpPr>
        <p:spPr>
          <a:xfrm>
            <a:off x="2425529" y="6805426"/>
            <a:ext cx="3112691" cy="1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  <a:spcBef>
                <a:spcPct val="0"/>
              </a:spcBef>
            </a:pPr>
            <a:r>
              <a:rPr lang="en-US" sz="1065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D39A418-0C1B-0FDA-47C7-BC095D35CE89}"/>
              </a:ext>
            </a:extLst>
          </p:cNvPr>
          <p:cNvSpPr/>
          <p:nvPr/>
        </p:nvSpPr>
        <p:spPr>
          <a:xfrm>
            <a:off x="8239509" y="6439417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B36ABE52-9487-3850-88CF-7AE7C6697C48}"/>
              </a:ext>
            </a:extLst>
          </p:cNvPr>
          <p:cNvSpPr/>
          <p:nvPr/>
        </p:nvSpPr>
        <p:spPr>
          <a:xfrm>
            <a:off x="0" y="64664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C3642EC7-7D66-93D8-2AE9-415AD50B5C25}"/>
              </a:ext>
            </a:extLst>
          </p:cNvPr>
          <p:cNvSpPr/>
          <p:nvPr/>
        </p:nvSpPr>
        <p:spPr>
          <a:xfrm flipV="1">
            <a:off x="9789" y="227073"/>
            <a:ext cx="9740424" cy="1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42627B-D6FB-0690-308B-8229FB49D1A9}"/>
              </a:ext>
            </a:extLst>
          </p:cNvPr>
          <p:cNvSpPr txBox="1"/>
          <p:nvPr/>
        </p:nvSpPr>
        <p:spPr>
          <a:xfrm>
            <a:off x="223128" y="483243"/>
            <a:ext cx="7015871" cy="2605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Python syntax?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Python syntax refers to the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rules that define how Python programs are written and interpreted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. Python is known for its clean and easy-to-read syntax.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lang="en-US" sz="2000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EC756A-1A87-98CC-4A6B-AFD5B1D101F8}"/>
              </a:ext>
            </a:extLst>
          </p:cNvPr>
          <p:cNvSpPr txBox="1"/>
          <p:nvPr/>
        </p:nvSpPr>
        <p:spPr>
          <a:xfrm>
            <a:off x="223128" y="2049124"/>
            <a:ext cx="7015871" cy="3071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INPUT: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100" dirty="0">
                <a:solidFill>
                  <a:srgbClr val="00B05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 This is a simple Python program</a:t>
            </a:r>
            <a:endParaRPr lang="en-US" sz="1600" kern="100" dirty="0"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100" dirty="0">
                <a:solidFill>
                  <a:srgbClr val="00B05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 greet(name):                 # Function definition</a:t>
            </a:r>
            <a:endParaRPr lang="en-US" sz="1600" kern="100" dirty="0"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100" dirty="0">
                <a:solidFill>
                  <a:srgbClr val="00B05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print("Hello,", name)        # Indented block</a:t>
            </a:r>
            <a:endParaRPr lang="en-US" sz="1600" kern="100" dirty="0"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100" dirty="0">
                <a:solidFill>
                  <a:srgbClr val="00B05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greet("Lakshmi")                 # Function call</a:t>
            </a:r>
            <a:endParaRPr lang="en-US" sz="1600" kern="100" dirty="0"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1600" kern="100" dirty="0">
              <a:effectLst/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600" kern="100" dirty="0">
                <a:effectLst/>
                <a:latin typeface="Georgia" panose="02040502050405020303" pitchFamily="18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Hello, Lakshmi</a:t>
            </a:r>
            <a:endParaRPr lang="en-US" sz="1600" kern="100" dirty="0"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pic>
        <p:nvPicPr>
          <p:cNvPr id="14338" name="Picture 2" descr="Python Syntax - Take your first step in the Python Programming World -  DataFlair">
            <a:extLst>
              <a:ext uri="{FF2B5EF4-FFF2-40B4-BE49-F238E27FC236}">
                <a16:creationId xmlns:a16="http://schemas.microsoft.com/office/drawing/2014/main" id="{C7E16352-0016-4E89-37BE-B95165B69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384" y="4194889"/>
            <a:ext cx="5661798" cy="2061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302384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F38D2-F652-C28E-C6DE-64763E74F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92EC99-BF1B-63DD-2CA7-2813D3245526}"/>
              </a:ext>
            </a:extLst>
          </p:cNvPr>
          <p:cNvSpPr/>
          <p:nvPr/>
        </p:nvSpPr>
        <p:spPr>
          <a:xfrm>
            <a:off x="64922" y="1371600"/>
            <a:ext cx="7587252" cy="3084403"/>
          </a:xfrm>
          <a:custGeom>
            <a:avLst/>
            <a:gdLst/>
            <a:ahLst/>
            <a:cxnLst/>
            <a:rect l="l" t="t" r="r" b="b"/>
            <a:pathLst>
              <a:path w="7587252" h="3084403">
                <a:moveTo>
                  <a:pt x="0" y="0"/>
                </a:moveTo>
                <a:lnTo>
                  <a:pt x="7587252" y="0"/>
                </a:lnTo>
                <a:lnTo>
                  <a:pt x="7587252" y="3084403"/>
                </a:lnTo>
                <a:lnTo>
                  <a:pt x="0" y="3084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37F82F2-32ED-CE22-41B0-6AA4DD1C6942}"/>
              </a:ext>
            </a:extLst>
          </p:cNvPr>
          <p:cNvSpPr/>
          <p:nvPr/>
        </p:nvSpPr>
        <p:spPr>
          <a:xfrm>
            <a:off x="7670567" y="464327"/>
            <a:ext cx="1953631" cy="794199"/>
          </a:xfrm>
          <a:custGeom>
            <a:avLst/>
            <a:gdLst/>
            <a:ahLst/>
            <a:cxnLst/>
            <a:rect l="l" t="t" r="r" b="b"/>
            <a:pathLst>
              <a:path w="1953631" h="794199">
                <a:moveTo>
                  <a:pt x="0" y="0"/>
                </a:moveTo>
                <a:lnTo>
                  <a:pt x="1953631" y="0"/>
                </a:lnTo>
                <a:lnTo>
                  <a:pt x="1953631" y="794199"/>
                </a:lnTo>
                <a:lnTo>
                  <a:pt x="0" y="794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E633EBF-7C15-FC1B-F8A8-460C7781B701}"/>
              </a:ext>
            </a:extLst>
          </p:cNvPr>
          <p:cNvSpPr/>
          <p:nvPr/>
        </p:nvSpPr>
        <p:spPr>
          <a:xfrm>
            <a:off x="0" y="6439417"/>
            <a:ext cx="4976798" cy="658727"/>
          </a:xfrm>
          <a:custGeom>
            <a:avLst/>
            <a:gdLst/>
            <a:ahLst/>
            <a:cxnLst/>
            <a:rect l="l" t="t" r="r" b="b"/>
            <a:pathLst>
              <a:path w="6199781" h="658727">
                <a:moveTo>
                  <a:pt x="0" y="0"/>
                </a:moveTo>
                <a:lnTo>
                  <a:pt x="6199781" y="0"/>
                </a:lnTo>
                <a:lnTo>
                  <a:pt x="619978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57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C5848C4-4425-9042-2B65-3171623F6403}"/>
              </a:ext>
            </a:extLst>
          </p:cNvPr>
          <p:cNvSpPr/>
          <p:nvPr/>
        </p:nvSpPr>
        <p:spPr>
          <a:xfrm>
            <a:off x="3387" y="6439417"/>
            <a:ext cx="5353071" cy="658727"/>
          </a:xfrm>
          <a:custGeom>
            <a:avLst/>
            <a:gdLst/>
            <a:ahLst/>
            <a:cxnLst/>
            <a:rect l="l" t="t" r="r" b="b"/>
            <a:pathLst>
              <a:path w="5353071" h="658727">
                <a:moveTo>
                  <a:pt x="0" y="0"/>
                </a:moveTo>
                <a:lnTo>
                  <a:pt x="5353071" y="0"/>
                </a:lnTo>
                <a:lnTo>
                  <a:pt x="535307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817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2C1CAE0-64E5-59BD-60B7-12BF68071A0F}"/>
              </a:ext>
            </a:extLst>
          </p:cNvPr>
          <p:cNvGrpSpPr/>
          <p:nvPr/>
        </p:nvGrpSpPr>
        <p:grpSpPr>
          <a:xfrm>
            <a:off x="2053983" y="6737627"/>
            <a:ext cx="2625995" cy="310941"/>
            <a:chOff x="0" y="0"/>
            <a:chExt cx="972591" cy="11516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7341985-0ED8-26F7-45B1-E57A0DA7E2E7}"/>
                </a:ext>
              </a:extLst>
            </p:cNvPr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7E61ED5-6D17-2789-E552-491ECC68EADD}"/>
                </a:ext>
              </a:extLst>
            </p:cNvPr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A2E2D618-A66A-6427-9BB8-77F41AB55DA0}"/>
              </a:ext>
            </a:extLst>
          </p:cNvPr>
          <p:cNvSpPr/>
          <p:nvPr/>
        </p:nvSpPr>
        <p:spPr>
          <a:xfrm>
            <a:off x="2087407" y="6753204"/>
            <a:ext cx="279787" cy="279787"/>
          </a:xfrm>
          <a:custGeom>
            <a:avLst/>
            <a:gdLst/>
            <a:ahLst/>
            <a:cxnLst/>
            <a:rect l="l" t="t" r="r" b="b"/>
            <a:pathLst>
              <a:path w="279787" h="279787">
                <a:moveTo>
                  <a:pt x="0" y="0"/>
                </a:moveTo>
                <a:lnTo>
                  <a:pt x="279787" y="0"/>
                </a:lnTo>
                <a:lnTo>
                  <a:pt x="279787" y="279787"/>
                </a:lnTo>
                <a:lnTo>
                  <a:pt x="0" y="279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CBA248C-EEF2-1184-C27B-4FA49635431D}"/>
              </a:ext>
            </a:extLst>
          </p:cNvPr>
          <p:cNvSpPr txBox="1"/>
          <p:nvPr/>
        </p:nvSpPr>
        <p:spPr>
          <a:xfrm>
            <a:off x="2169223" y="6439417"/>
            <a:ext cx="2762250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  <a:spcBef>
                <a:spcPct val="0"/>
              </a:spcBef>
            </a:pPr>
            <a:r>
              <a:rPr lang="en-US" sz="1601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1921"/>
              </a:lnSpc>
              <a:spcBef>
                <a:spcPct val="0"/>
              </a:spcBef>
            </a:pPr>
            <a:endParaRPr lang="en-US" sz="1601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2989A3A-36B4-CD9D-9672-D5A3AA51252B}"/>
              </a:ext>
            </a:extLst>
          </p:cNvPr>
          <p:cNvSpPr txBox="1"/>
          <p:nvPr/>
        </p:nvSpPr>
        <p:spPr>
          <a:xfrm>
            <a:off x="2425529" y="6805426"/>
            <a:ext cx="3112691" cy="1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  <a:spcBef>
                <a:spcPct val="0"/>
              </a:spcBef>
            </a:pPr>
            <a:r>
              <a:rPr lang="en-US" sz="1065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0E34207-D6DD-9162-8647-73CD1ADC4B84}"/>
              </a:ext>
            </a:extLst>
          </p:cNvPr>
          <p:cNvSpPr/>
          <p:nvPr/>
        </p:nvSpPr>
        <p:spPr>
          <a:xfrm>
            <a:off x="8239509" y="6439417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B93659E2-3733-113F-395D-9FE79F75C9DB}"/>
              </a:ext>
            </a:extLst>
          </p:cNvPr>
          <p:cNvSpPr/>
          <p:nvPr/>
        </p:nvSpPr>
        <p:spPr>
          <a:xfrm>
            <a:off x="0" y="64664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47E22272-D00A-88CE-0B74-01D982524E2E}"/>
              </a:ext>
            </a:extLst>
          </p:cNvPr>
          <p:cNvSpPr/>
          <p:nvPr/>
        </p:nvSpPr>
        <p:spPr>
          <a:xfrm flipV="1">
            <a:off x="9789" y="227073"/>
            <a:ext cx="9740424" cy="1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D6D1DB-E4C7-9238-8ABC-8B1E5C494B52}"/>
              </a:ext>
            </a:extLst>
          </p:cNvPr>
          <p:cNvSpPr txBox="1"/>
          <p:nvPr/>
        </p:nvSpPr>
        <p:spPr>
          <a:xfrm>
            <a:off x="69136" y="587830"/>
            <a:ext cx="4971392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the use of python?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</a:p>
          <a:p>
            <a:r>
              <a:rPr lang="en-IN" sz="2000" dirty="0">
                <a:latin typeface="Georgia" panose="02040502050405020303" pitchFamily="18" charset="0"/>
                <a:ea typeface="Cambria" panose="02040503050406030204" pitchFamily="18" charset="0"/>
              </a:rPr>
              <a:t> </a:t>
            </a:r>
            <a:r>
              <a:rPr lang="en-IN" dirty="0">
                <a:latin typeface="Georgia" panose="02040502050405020303" pitchFamily="18" charset="0"/>
              </a:rPr>
              <a:t> </a:t>
            </a:r>
            <a:r>
              <a:rPr lang="en-IN" dirty="0">
                <a:solidFill>
                  <a:srgbClr val="0000CC"/>
                </a:solidFill>
                <a:latin typeface="Georgia" panose="02040502050405020303" pitchFamily="18" charset="0"/>
              </a:rPr>
              <a:t>·  </a:t>
            </a:r>
            <a:r>
              <a:rPr lang="en-IN" b="1" dirty="0">
                <a:solidFill>
                  <a:srgbClr val="0000CC"/>
                </a:solidFill>
                <a:latin typeface="Georgia" panose="02040502050405020303" pitchFamily="18" charset="0"/>
              </a:rPr>
              <a:t>Web Development</a:t>
            </a:r>
            <a:r>
              <a:rPr lang="en-IN" dirty="0">
                <a:solidFill>
                  <a:srgbClr val="0000CC"/>
                </a:solidFill>
                <a:latin typeface="Georgia" panose="02040502050405020303" pitchFamily="18" charset="0"/>
              </a:rPr>
              <a:t> – Build websites and web apps using frameworks like Django and Flask.</a:t>
            </a:r>
          </a:p>
          <a:p>
            <a:r>
              <a:rPr lang="en-IN" dirty="0">
                <a:solidFill>
                  <a:srgbClr val="0000CC"/>
                </a:solidFill>
                <a:latin typeface="Georgia" panose="02040502050405020303" pitchFamily="18" charset="0"/>
              </a:rPr>
              <a:t>  </a:t>
            </a:r>
          </a:p>
          <a:p>
            <a:r>
              <a:rPr lang="en-IN" dirty="0">
                <a:solidFill>
                  <a:srgbClr val="0000CC"/>
                </a:solidFill>
                <a:latin typeface="Georgia" panose="02040502050405020303" pitchFamily="18" charset="0"/>
              </a:rPr>
              <a:t>·  </a:t>
            </a:r>
            <a:r>
              <a:rPr lang="en-IN" b="1" dirty="0">
                <a:solidFill>
                  <a:srgbClr val="0000CC"/>
                </a:solidFill>
                <a:latin typeface="Georgia" panose="02040502050405020303" pitchFamily="18" charset="0"/>
              </a:rPr>
              <a:t>Data Science &amp; Machine Learning</a:t>
            </a:r>
            <a:r>
              <a:rPr lang="en-IN" dirty="0">
                <a:solidFill>
                  <a:srgbClr val="0000CC"/>
                </a:solidFill>
                <a:latin typeface="Georgia" panose="02040502050405020303" pitchFamily="18" charset="0"/>
              </a:rPr>
              <a:t> – </a:t>
            </a:r>
            <a:r>
              <a:rPr lang="en-IN" dirty="0" err="1">
                <a:solidFill>
                  <a:srgbClr val="0000CC"/>
                </a:solidFill>
                <a:latin typeface="Georgia" panose="02040502050405020303" pitchFamily="18" charset="0"/>
              </a:rPr>
              <a:t>Analyze</a:t>
            </a:r>
            <a:r>
              <a:rPr lang="en-IN" dirty="0">
                <a:solidFill>
                  <a:srgbClr val="0000CC"/>
                </a:solidFill>
                <a:latin typeface="Georgia" panose="02040502050405020303" pitchFamily="18" charset="0"/>
              </a:rPr>
              <a:t> data, build models, and implement AI using libraries like Pandas, NumPy, and TensorFlow.</a:t>
            </a:r>
          </a:p>
          <a:p>
            <a:r>
              <a:rPr lang="en-IN" dirty="0">
                <a:solidFill>
                  <a:srgbClr val="0000CC"/>
                </a:solidFill>
                <a:latin typeface="Georgia" panose="02040502050405020303" pitchFamily="18" charset="0"/>
              </a:rPr>
              <a:t>  </a:t>
            </a:r>
          </a:p>
          <a:p>
            <a:r>
              <a:rPr lang="en-IN" dirty="0">
                <a:solidFill>
                  <a:srgbClr val="0000CC"/>
                </a:solidFill>
                <a:latin typeface="Georgia" panose="02040502050405020303" pitchFamily="18" charset="0"/>
              </a:rPr>
              <a:t>·  </a:t>
            </a:r>
            <a:r>
              <a:rPr lang="en-IN" b="1" dirty="0">
                <a:solidFill>
                  <a:srgbClr val="0000CC"/>
                </a:solidFill>
                <a:latin typeface="Georgia" panose="02040502050405020303" pitchFamily="18" charset="0"/>
              </a:rPr>
              <a:t>Automation &amp; Scripting</a:t>
            </a:r>
            <a:r>
              <a:rPr lang="en-IN" dirty="0">
                <a:solidFill>
                  <a:srgbClr val="0000CC"/>
                </a:solidFill>
                <a:latin typeface="Georgia" panose="02040502050405020303" pitchFamily="18" charset="0"/>
              </a:rPr>
              <a:t> – Automate repetitive tasks and write efficient scripts.</a:t>
            </a:r>
          </a:p>
          <a:p>
            <a:r>
              <a:rPr lang="en-IN" dirty="0">
                <a:solidFill>
                  <a:srgbClr val="0000CC"/>
                </a:solidFill>
                <a:latin typeface="Georgia" panose="02040502050405020303" pitchFamily="18" charset="0"/>
              </a:rPr>
              <a:t> </a:t>
            </a:r>
          </a:p>
          <a:p>
            <a:r>
              <a:rPr lang="en-IN" dirty="0">
                <a:solidFill>
                  <a:srgbClr val="0000CC"/>
                </a:solidFill>
                <a:latin typeface="Georgia" panose="02040502050405020303" pitchFamily="18" charset="0"/>
              </a:rPr>
              <a:t> ·  </a:t>
            </a:r>
            <a:r>
              <a:rPr lang="en-IN" b="1" dirty="0">
                <a:solidFill>
                  <a:srgbClr val="0000CC"/>
                </a:solidFill>
                <a:latin typeface="Georgia" panose="02040502050405020303" pitchFamily="18" charset="0"/>
              </a:rPr>
              <a:t>Software Development</a:t>
            </a:r>
            <a:r>
              <a:rPr lang="en-IN" dirty="0">
                <a:solidFill>
                  <a:srgbClr val="0000CC"/>
                </a:solidFill>
                <a:latin typeface="Georgia" panose="02040502050405020303" pitchFamily="18" charset="0"/>
              </a:rPr>
              <a:t> – Create desktop apps, backend systems, and prototypes quickly.</a:t>
            </a:r>
          </a:p>
          <a:p>
            <a:r>
              <a:rPr lang="en-IN" dirty="0">
                <a:solidFill>
                  <a:srgbClr val="0000CC"/>
                </a:solidFill>
                <a:latin typeface="Georgia" panose="02040502050405020303" pitchFamily="18" charset="0"/>
              </a:rPr>
              <a:t>  </a:t>
            </a:r>
          </a:p>
          <a:p>
            <a:r>
              <a:rPr lang="en-IN" dirty="0">
                <a:solidFill>
                  <a:srgbClr val="0000CC"/>
                </a:solidFill>
                <a:latin typeface="Georgia" panose="02040502050405020303" pitchFamily="18" charset="0"/>
              </a:rPr>
              <a:t>·  </a:t>
            </a:r>
            <a:r>
              <a:rPr lang="en-IN" b="1" dirty="0">
                <a:solidFill>
                  <a:srgbClr val="0000CC"/>
                </a:solidFill>
                <a:latin typeface="Georgia" panose="02040502050405020303" pitchFamily="18" charset="0"/>
              </a:rPr>
              <a:t>Cybersecurity &amp; Ethical Hacking</a:t>
            </a:r>
            <a:r>
              <a:rPr lang="en-IN" dirty="0">
                <a:solidFill>
                  <a:srgbClr val="0000CC"/>
                </a:solidFill>
                <a:latin typeface="Georgia" panose="02040502050405020303" pitchFamily="18" charset="0"/>
              </a:rPr>
              <a:t> – Develop security tools and automate vulnerability testing.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074" name="Picture 2" descr="Python | Innovative IT Services to Forward-thinking Businesses">
            <a:extLst>
              <a:ext uri="{FF2B5EF4-FFF2-40B4-BE49-F238E27FC236}">
                <a16:creationId xmlns:a16="http://schemas.microsoft.com/office/drawing/2014/main" id="{E1D54B27-6604-703A-B904-BE5B4766E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0482" y="1420561"/>
            <a:ext cx="2974868" cy="2684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op 7 Compelling Reasons Why Python is So Popular With Developers">
            <a:extLst>
              <a:ext uri="{FF2B5EF4-FFF2-40B4-BE49-F238E27FC236}">
                <a16:creationId xmlns:a16="http://schemas.microsoft.com/office/drawing/2014/main" id="{75587872-E336-FF31-E9E8-FF49A5070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2303" y="4291575"/>
            <a:ext cx="4601895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659502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CFB5F-B9D8-70B5-FAFC-CE98542A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C56E70C-F7D6-D455-35CE-87306A51EE81}"/>
              </a:ext>
            </a:extLst>
          </p:cNvPr>
          <p:cNvSpPr/>
          <p:nvPr/>
        </p:nvSpPr>
        <p:spPr>
          <a:xfrm>
            <a:off x="64922" y="1371600"/>
            <a:ext cx="7587252" cy="3084403"/>
          </a:xfrm>
          <a:custGeom>
            <a:avLst/>
            <a:gdLst/>
            <a:ahLst/>
            <a:cxnLst/>
            <a:rect l="l" t="t" r="r" b="b"/>
            <a:pathLst>
              <a:path w="7587252" h="3084403">
                <a:moveTo>
                  <a:pt x="0" y="0"/>
                </a:moveTo>
                <a:lnTo>
                  <a:pt x="7587252" y="0"/>
                </a:lnTo>
                <a:lnTo>
                  <a:pt x="7587252" y="3084403"/>
                </a:lnTo>
                <a:lnTo>
                  <a:pt x="0" y="3084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B744CF4-2611-748A-AB8E-888455E7FBB5}"/>
              </a:ext>
            </a:extLst>
          </p:cNvPr>
          <p:cNvSpPr/>
          <p:nvPr/>
        </p:nvSpPr>
        <p:spPr>
          <a:xfrm>
            <a:off x="7670567" y="464327"/>
            <a:ext cx="1953631" cy="794199"/>
          </a:xfrm>
          <a:custGeom>
            <a:avLst/>
            <a:gdLst/>
            <a:ahLst/>
            <a:cxnLst/>
            <a:rect l="l" t="t" r="r" b="b"/>
            <a:pathLst>
              <a:path w="1953631" h="794199">
                <a:moveTo>
                  <a:pt x="0" y="0"/>
                </a:moveTo>
                <a:lnTo>
                  <a:pt x="1953631" y="0"/>
                </a:lnTo>
                <a:lnTo>
                  <a:pt x="1953631" y="794199"/>
                </a:lnTo>
                <a:lnTo>
                  <a:pt x="0" y="794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42657D5-5C9C-5DDF-7006-2C47B8CE8104}"/>
              </a:ext>
            </a:extLst>
          </p:cNvPr>
          <p:cNvSpPr/>
          <p:nvPr/>
        </p:nvSpPr>
        <p:spPr>
          <a:xfrm>
            <a:off x="0" y="6439417"/>
            <a:ext cx="4976798" cy="658727"/>
          </a:xfrm>
          <a:custGeom>
            <a:avLst/>
            <a:gdLst/>
            <a:ahLst/>
            <a:cxnLst/>
            <a:rect l="l" t="t" r="r" b="b"/>
            <a:pathLst>
              <a:path w="6199781" h="658727">
                <a:moveTo>
                  <a:pt x="0" y="0"/>
                </a:moveTo>
                <a:lnTo>
                  <a:pt x="6199781" y="0"/>
                </a:lnTo>
                <a:lnTo>
                  <a:pt x="619978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57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2B64C5C-2BFA-5B72-CBF6-7ED5267FC20F}"/>
              </a:ext>
            </a:extLst>
          </p:cNvPr>
          <p:cNvSpPr/>
          <p:nvPr/>
        </p:nvSpPr>
        <p:spPr>
          <a:xfrm>
            <a:off x="3387" y="6439417"/>
            <a:ext cx="5353071" cy="658727"/>
          </a:xfrm>
          <a:custGeom>
            <a:avLst/>
            <a:gdLst/>
            <a:ahLst/>
            <a:cxnLst/>
            <a:rect l="l" t="t" r="r" b="b"/>
            <a:pathLst>
              <a:path w="5353071" h="658727">
                <a:moveTo>
                  <a:pt x="0" y="0"/>
                </a:moveTo>
                <a:lnTo>
                  <a:pt x="5353071" y="0"/>
                </a:lnTo>
                <a:lnTo>
                  <a:pt x="535307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817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668F013-06A0-A0DE-C5CA-4C30F0BF4CA2}"/>
              </a:ext>
            </a:extLst>
          </p:cNvPr>
          <p:cNvGrpSpPr/>
          <p:nvPr/>
        </p:nvGrpSpPr>
        <p:grpSpPr>
          <a:xfrm>
            <a:off x="2053983" y="6737627"/>
            <a:ext cx="2625995" cy="310941"/>
            <a:chOff x="0" y="0"/>
            <a:chExt cx="972591" cy="11516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6A256BF-F415-CA76-317A-1E86FAC2E602}"/>
                </a:ext>
              </a:extLst>
            </p:cNvPr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D147D79-127F-CE62-86BA-18BEF00EFAAF}"/>
                </a:ext>
              </a:extLst>
            </p:cNvPr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6D1E7771-A3F9-2F2E-BD58-1595ECE648BD}"/>
              </a:ext>
            </a:extLst>
          </p:cNvPr>
          <p:cNvSpPr/>
          <p:nvPr/>
        </p:nvSpPr>
        <p:spPr>
          <a:xfrm>
            <a:off x="2087407" y="6753204"/>
            <a:ext cx="279787" cy="279787"/>
          </a:xfrm>
          <a:custGeom>
            <a:avLst/>
            <a:gdLst/>
            <a:ahLst/>
            <a:cxnLst/>
            <a:rect l="l" t="t" r="r" b="b"/>
            <a:pathLst>
              <a:path w="279787" h="279787">
                <a:moveTo>
                  <a:pt x="0" y="0"/>
                </a:moveTo>
                <a:lnTo>
                  <a:pt x="279787" y="0"/>
                </a:lnTo>
                <a:lnTo>
                  <a:pt x="279787" y="279787"/>
                </a:lnTo>
                <a:lnTo>
                  <a:pt x="0" y="279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B1913C8-8EEF-963F-9BF3-5466A107AC1F}"/>
              </a:ext>
            </a:extLst>
          </p:cNvPr>
          <p:cNvSpPr txBox="1"/>
          <p:nvPr/>
        </p:nvSpPr>
        <p:spPr>
          <a:xfrm>
            <a:off x="2169223" y="6439417"/>
            <a:ext cx="2762250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  <a:spcBef>
                <a:spcPct val="0"/>
              </a:spcBef>
            </a:pPr>
            <a:r>
              <a:rPr lang="en-US" sz="1601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1921"/>
              </a:lnSpc>
              <a:spcBef>
                <a:spcPct val="0"/>
              </a:spcBef>
            </a:pPr>
            <a:endParaRPr lang="en-US" sz="1601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ADF9B64-F8E2-BB3F-2B2A-9D336E9A0839}"/>
              </a:ext>
            </a:extLst>
          </p:cNvPr>
          <p:cNvSpPr txBox="1"/>
          <p:nvPr/>
        </p:nvSpPr>
        <p:spPr>
          <a:xfrm>
            <a:off x="2425529" y="6805426"/>
            <a:ext cx="3112691" cy="1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  <a:spcBef>
                <a:spcPct val="0"/>
              </a:spcBef>
            </a:pPr>
            <a:r>
              <a:rPr lang="en-US" sz="1065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0F7D1C2-9EE0-0C5B-DD11-646DBBED972F}"/>
              </a:ext>
            </a:extLst>
          </p:cNvPr>
          <p:cNvSpPr/>
          <p:nvPr/>
        </p:nvSpPr>
        <p:spPr>
          <a:xfrm>
            <a:off x="8239509" y="6439417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D3A10703-F9AD-8652-9885-C28D9CA62100}"/>
              </a:ext>
            </a:extLst>
          </p:cNvPr>
          <p:cNvSpPr/>
          <p:nvPr/>
        </p:nvSpPr>
        <p:spPr>
          <a:xfrm>
            <a:off x="0" y="64664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4C115DB9-8D9A-468E-B993-70DD5A7664E3}"/>
              </a:ext>
            </a:extLst>
          </p:cNvPr>
          <p:cNvSpPr/>
          <p:nvPr/>
        </p:nvSpPr>
        <p:spPr>
          <a:xfrm flipV="1">
            <a:off x="9789" y="227073"/>
            <a:ext cx="9740424" cy="1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02F895-7282-92A5-79ED-C863D4EADEA7}"/>
              </a:ext>
            </a:extLst>
          </p:cNvPr>
          <p:cNvSpPr txBox="1"/>
          <p:nvPr/>
        </p:nvSpPr>
        <p:spPr>
          <a:xfrm>
            <a:off x="129402" y="430338"/>
            <a:ext cx="4913586" cy="596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solidFill>
                  <a:srgbClr val="2E75B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Advantages and Disadvantages of python?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000" kern="100" dirty="0">
                <a:solidFill>
                  <a:srgbClr val="2E75B5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IN" b="1" dirty="0">
                <a:latin typeface="Georgia" panose="02040502050405020303" pitchFamily="18" charset="0"/>
              </a:rPr>
              <a:t> Advantages of Python: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     Easy to Learn &amp; Use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    Versatile Libraries &amp; Frameworks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     Strong Community Support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   </a:t>
            </a:r>
            <a:r>
              <a:rPr lang="en-IN" b="1" dirty="0">
                <a:latin typeface="Georgia" panose="02040502050405020303" pitchFamily="18" charset="0"/>
              </a:rPr>
              <a:t>Disadvantages of Python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     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Slower Execution Speed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Mobile Development Limitations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       Memory Usage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IN" dirty="0"/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IN" dirty="0">
              <a:solidFill>
                <a:schemeClr val="accent2">
                  <a:lumMod val="75000"/>
                </a:schemeClr>
              </a:solidFill>
              <a:latin typeface="Helavetica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IN" dirty="0"/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IN" b="1" dirty="0"/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Advantages and Disadvantages of Python - Major Pros and Cons">
            <a:extLst>
              <a:ext uri="{FF2B5EF4-FFF2-40B4-BE49-F238E27FC236}">
                <a16:creationId xmlns:a16="http://schemas.microsoft.com/office/drawing/2014/main" id="{41541288-259C-FCD7-155A-9773E43BE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9722" y="1624535"/>
            <a:ext cx="5573878" cy="4507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906691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5BCF5-05BB-0C06-B2B9-BED9027B6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F64529-1BF9-4F1E-CE2D-5966E93A6DD3}"/>
              </a:ext>
            </a:extLst>
          </p:cNvPr>
          <p:cNvSpPr/>
          <p:nvPr/>
        </p:nvSpPr>
        <p:spPr>
          <a:xfrm>
            <a:off x="64922" y="1371600"/>
            <a:ext cx="7587252" cy="3084403"/>
          </a:xfrm>
          <a:custGeom>
            <a:avLst/>
            <a:gdLst/>
            <a:ahLst/>
            <a:cxnLst/>
            <a:rect l="l" t="t" r="r" b="b"/>
            <a:pathLst>
              <a:path w="7587252" h="3084403">
                <a:moveTo>
                  <a:pt x="0" y="0"/>
                </a:moveTo>
                <a:lnTo>
                  <a:pt x="7587252" y="0"/>
                </a:lnTo>
                <a:lnTo>
                  <a:pt x="7587252" y="3084403"/>
                </a:lnTo>
                <a:lnTo>
                  <a:pt x="0" y="3084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8BDF48F-9997-E03B-D1D2-95087C485BFE}"/>
              </a:ext>
            </a:extLst>
          </p:cNvPr>
          <p:cNvSpPr/>
          <p:nvPr/>
        </p:nvSpPr>
        <p:spPr>
          <a:xfrm>
            <a:off x="7670567" y="464327"/>
            <a:ext cx="1953631" cy="794199"/>
          </a:xfrm>
          <a:custGeom>
            <a:avLst/>
            <a:gdLst/>
            <a:ahLst/>
            <a:cxnLst/>
            <a:rect l="l" t="t" r="r" b="b"/>
            <a:pathLst>
              <a:path w="1953631" h="794199">
                <a:moveTo>
                  <a:pt x="0" y="0"/>
                </a:moveTo>
                <a:lnTo>
                  <a:pt x="1953631" y="0"/>
                </a:lnTo>
                <a:lnTo>
                  <a:pt x="1953631" y="794199"/>
                </a:lnTo>
                <a:lnTo>
                  <a:pt x="0" y="794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FFB3820-0BDA-1810-8C6E-1E08C1E68B8F}"/>
              </a:ext>
            </a:extLst>
          </p:cNvPr>
          <p:cNvSpPr/>
          <p:nvPr/>
        </p:nvSpPr>
        <p:spPr>
          <a:xfrm>
            <a:off x="0" y="6439417"/>
            <a:ext cx="4976798" cy="658727"/>
          </a:xfrm>
          <a:custGeom>
            <a:avLst/>
            <a:gdLst/>
            <a:ahLst/>
            <a:cxnLst/>
            <a:rect l="l" t="t" r="r" b="b"/>
            <a:pathLst>
              <a:path w="6199781" h="658727">
                <a:moveTo>
                  <a:pt x="0" y="0"/>
                </a:moveTo>
                <a:lnTo>
                  <a:pt x="6199781" y="0"/>
                </a:lnTo>
                <a:lnTo>
                  <a:pt x="619978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57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B27EDD8-66B7-2477-9CCD-2F54AF261544}"/>
              </a:ext>
            </a:extLst>
          </p:cNvPr>
          <p:cNvSpPr/>
          <p:nvPr/>
        </p:nvSpPr>
        <p:spPr>
          <a:xfrm>
            <a:off x="3387" y="6439417"/>
            <a:ext cx="5353071" cy="658727"/>
          </a:xfrm>
          <a:custGeom>
            <a:avLst/>
            <a:gdLst/>
            <a:ahLst/>
            <a:cxnLst/>
            <a:rect l="l" t="t" r="r" b="b"/>
            <a:pathLst>
              <a:path w="5353071" h="658727">
                <a:moveTo>
                  <a:pt x="0" y="0"/>
                </a:moveTo>
                <a:lnTo>
                  <a:pt x="5353071" y="0"/>
                </a:lnTo>
                <a:lnTo>
                  <a:pt x="535307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817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CB6F9E9-44F8-01F3-9AB4-EA43B480F326}"/>
              </a:ext>
            </a:extLst>
          </p:cNvPr>
          <p:cNvGrpSpPr/>
          <p:nvPr/>
        </p:nvGrpSpPr>
        <p:grpSpPr>
          <a:xfrm>
            <a:off x="2053983" y="6737627"/>
            <a:ext cx="2625995" cy="310941"/>
            <a:chOff x="0" y="0"/>
            <a:chExt cx="972591" cy="11516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6673E94-416F-574A-3708-5BC53C6EC5D2}"/>
                </a:ext>
              </a:extLst>
            </p:cNvPr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B0BB50F-CCCF-042C-798E-3D090ECC96AA}"/>
                </a:ext>
              </a:extLst>
            </p:cNvPr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FF2630E5-B67C-DB61-58C8-F4B16ED1F742}"/>
              </a:ext>
            </a:extLst>
          </p:cNvPr>
          <p:cNvSpPr/>
          <p:nvPr/>
        </p:nvSpPr>
        <p:spPr>
          <a:xfrm>
            <a:off x="2087407" y="6753204"/>
            <a:ext cx="279787" cy="279787"/>
          </a:xfrm>
          <a:custGeom>
            <a:avLst/>
            <a:gdLst/>
            <a:ahLst/>
            <a:cxnLst/>
            <a:rect l="l" t="t" r="r" b="b"/>
            <a:pathLst>
              <a:path w="279787" h="279787">
                <a:moveTo>
                  <a:pt x="0" y="0"/>
                </a:moveTo>
                <a:lnTo>
                  <a:pt x="279787" y="0"/>
                </a:lnTo>
                <a:lnTo>
                  <a:pt x="279787" y="279787"/>
                </a:lnTo>
                <a:lnTo>
                  <a:pt x="0" y="279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CEF0B62-E8D4-D228-3B98-561A2BB3E091}"/>
              </a:ext>
            </a:extLst>
          </p:cNvPr>
          <p:cNvSpPr txBox="1"/>
          <p:nvPr/>
        </p:nvSpPr>
        <p:spPr>
          <a:xfrm>
            <a:off x="2169223" y="6439417"/>
            <a:ext cx="2762250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  <a:spcBef>
                <a:spcPct val="0"/>
              </a:spcBef>
            </a:pPr>
            <a:r>
              <a:rPr lang="en-US" sz="1601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1921"/>
              </a:lnSpc>
              <a:spcBef>
                <a:spcPct val="0"/>
              </a:spcBef>
            </a:pPr>
            <a:endParaRPr lang="en-US" sz="1601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4B3B746-93DE-7157-846D-711A01E00107}"/>
              </a:ext>
            </a:extLst>
          </p:cNvPr>
          <p:cNvSpPr txBox="1"/>
          <p:nvPr/>
        </p:nvSpPr>
        <p:spPr>
          <a:xfrm>
            <a:off x="2425529" y="6805426"/>
            <a:ext cx="3112691" cy="1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  <a:spcBef>
                <a:spcPct val="0"/>
              </a:spcBef>
            </a:pPr>
            <a:r>
              <a:rPr lang="en-US" sz="1065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E5B3F39-D0FC-10A7-7B70-F5182002A08A}"/>
              </a:ext>
            </a:extLst>
          </p:cNvPr>
          <p:cNvSpPr/>
          <p:nvPr/>
        </p:nvSpPr>
        <p:spPr>
          <a:xfrm>
            <a:off x="8239509" y="6439417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8ACA4A85-F1FA-BB66-F971-C2FFC48655C7}"/>
              </a:ext>
            </a:extLst>
          </p:cNvPr>
          <p:cNvSpPr/>
          <p:nvPr/>
        </p:nvSpPr>
        <p:spPr>
          <a:xfrm>
            <a:off x="0" y="64664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A39B83C3-764E-FCE7-656C-72839C6166DF}"/>
              </a:ext>
            </a:extLst>
          </p:cNvPr>
          <p:cNvSpPr/>
          <p:nvPr/>
        </p:nvSpPr>
        <p:spPr>
          <a:xfrm flipV="1">
            <a:off x="9789" y="227073"/>
            <a:ext cx="9740424" cy="1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7DEFD5-8FD1-63F3-ADF4-177F8D4D2E81}"/>
              </a:ext>
            </a:extLst>
          </p:cNvPr>
          <p:cNvSpPr txBox="1"/>
          <p:nvPr/>
        </p:nvSpPr>
        <p:spPr>
          <a:xfrm>
            <a:off x="63212" y="399143"/>
            <a:ext cx="4913586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IN" sz="2000" kern="100" dirty="0">
                <a:solidFill>
                  <a:srgbClr val="2F5496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</a:t>
            </a:r>
            <a:r>
              <a:rPr lang="en-IN" sz="2000" kern="100" dirty="0">
                <a:solidFill>
                  <a:srgbClr val="2F549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roperties of python?</a:t>
            </a:r>
            <a:endParaRPr lang="en-IN" sz="2000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C30F89-154A-BF65-1816-AEEBEE3C7575}"/>
              </a:ext>
            </a:extLst>
          </p:cNvPr>
          <p:cNvSpPr txBox="1"/>
          <p:nvPr/>
        </p:nvSpPr>
        <p:spPr>
          <a:xfrm>
            <a:off x="223129" y="1122854"/>
            <a:ext cx="4913586" cy="3649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IN" sz="1800" b="1" kern="100" dirty="0">
                <a:solidFill>
                  <a:schemeClr val="accent3">
                    <a:lumMod val="5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Interpreted Language</a:t>
            </a:r>
            <a:r>
              <a:rPr lang="en-IN" sz="1800" kern="100" dirty="0">
                <a:solidFill>
                  <a:schemeClr val="accent3">
                    <a:lumMod val="50000"/>
                  </a:schemeClr>
                </a:solidFill>
                <a:effectLst/>
                <a:latin typeface="Georgia" panose="02040502050405020303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</a:t>
            </a:r>
            <a:endParaRPr lang="en-IN" sz="1600" kern="100" dirty="0">
              <a:solidFill>
                <a:schemeClr val="accent3">
                  <a:lumMod val="50000"/>
                </a:schemeClr>
              </a:solidFill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 marL="457200" marR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IN" sz="1800" kern="0" dirty="0">
                <a:solidFill>
                  <a:schemeClr val="accent3">
                    <a:lumMod val="50000"/>
                  </a:schemeClr>
                </a:solidFill>
                <a:effectLst/>
                <a:latin typeface="Georgia" panose="02040502050405020303" pitchFamily="18" charset="0"/>
                <a:ea typeface="SimSun" panose="02010600030101010101" pitchFamily="2" charset="-122"/>
              </a:rPr>
              <a:t>Python code is executed line by line, making debugging easier and faster.</a:t>
            </a:r>
            <a:endParaRPr lang="en-IN" sz="1600" dirty="0">
              <a:solidFill>
                <a:schemeClr val="accent3">
                  <a:lumMod val="50000"/>
                </a:schemeClr>
              </a:solidFill>
              <a:effectLst/>
              <a:latin typeface="Georgia" panose="02040502050405020303" pitchFamily="18" charset="0"/>
              <a:ea typeface="SimSun" panose="02010600030101010101" pitchFamily="2" charset="-122"/>
            </a:endParaRPr>
          </a:p>
          <a:p>
            <a:pPr marL="0" marR="0" indent="89535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IN" sz="1800" b="1" dirty="0">
                <a:solidFill>
                  <a:schemeClr val="accent3">
                    <a:lumMod val="50000"/>
                  </a:schemeClr>
                </a:solidFill>
                <a:effectLst/>
                <a:latin typeface="Georgia" panose="02040502050405020303" pitchFamily="18" charset="0"/>
                <a:ea typeface="SimSun" panose="02010600030101010101" pitchFamily="2" charset="-122"/>
              </a:rPr>
              <a:t>Dynamically Typed</a:t>
            </a:r>
            <a:r>
              <a:rPr lang="en-IN" sz="1800" kern="0" dirty="0">
                <a:solidFill>
                  <a:schemeClr val="accent3">
                    <a:lumMod val="50000"/>
                  </a:schemeClr>
                </a:solidFill>
                <a:effectLst/>
                <a:latin typeface="Georgia" panose="02040502050405020303" pitchFamily="18" charset="0"/>
                <a:ea typeface="SimSun" panose="02010600030101010101" pitchFamily="2" charset="-122"/>
              </a:rPr>
              <a:t>  </a:t>
            </a:r>
            <a:endParaRPr lang="en-IN" sz="1600" dirty="0">
              <a:solidFill>
                <a:schemeClr val="accent3">
                  <a:lumMod val="50000"/>
                </a:schemeClr>
              </a:solidFill>
              <a:effectLst/>
              <a:latin typeface="Georgia" panose="02040502050405020303" pitchFamily="18" charset="0"/>
              <a:ea typeface="SimSun" panose="02010600030101010101" pitchFamily="2" charset="-122"/>
            </a:endParaRPr>
          </a:p>
          <a:p>
            <a:pPr marL="457200" marR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IN" sz="1800" kern="0" dirty="0">
                <a:solidFill>
                  <a:schemeClr val="accent3">
                    <a:lumMod val="50000"/>
                  </a:schemeClr>
                </a:solidFill>
                <a:effectLst/>
                <a:latin typeface="Georgia" panose="02040502050405020303" pitchFamily="18" charset="0"/>
                <a:ea typeface="SimSun" panose="02010600030101010101" pitchFamily="2" charset="-122"/>
              </a:rPr>
              <a:t>You don’t need to declare variable types; Python determines the type at runtime.</a:t>
            </a:r>
            <a:endParaRPr lang="en-IN" sz="1600" dirty="0">
              <a:solidFill>
                <a:schemeClr val="accent3">
                  <a:lumMod val="50000"/>
                </a:schemeClr>
              </a:solidFill>
              <a:effectLst/>
              <a:latin typeface="Georgia" panose="02040502050405020303" pitchFamily="18" charset="0"/>
              <a:ea typeface="SimSun" panose="02010600030101010101" pitchFamily="2" charset="-122"/>
            </a:endParaRPr>
          </a:p>
          <a:p>
            <a:pPr marL="0" marR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IN" sz="1800" b="1" dirty="0">
                <a:solidFill>
                  <a:schemeClr val="accent3">
                    <a:lumMod val="50000"/>
                  </a:schemeClr>
                </a:solidFill>
                <a:effectLst/>
                <a:latin typeface="Georgia" panose="02040502050405020303" pitchFamily="18" charset="0"/>
                <a:ea typeface="SimSun" panose="02010600030101010101" pitchFamily="2" charset="-122"/>
              </a:rPr>
              <a:t>Object-Oriented</a:t>
            </a:r>
            <a:endParaRPr lang="en-IN" sz="1600" dirty="0">
              <a:solidFill>
                <a:schemeClr val="accent3">
                  <a:lumMod val="50000"/>
                </a:schemeClr>
              </a:solidFill>
              <a:effectLst/>
              <a:latin typeface="Georgia" panose="02040502050405020303" pitchFamily="18" charset="0"/>
              <a:ea typeface="SimSun" panose="02010600030101010101" pitchFamily="2" charset="-122"/>
            </a:endParaRPr>
          </a:p>
          <a:p>
            <a:pPr indent="3556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IN" sz="1800" kern="100" dirty="0">
                <a:solidFill>
                  <a:schemeClr val="accent3">
                    <a:lumMod val="5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 supports object-oriented programming (OOP) with features like classes, inheritance, and polymorphism</a:t>
            </a:r>
            <a:r>
              <a:rPr lang="en-IN" sz="1800" kern="100" dirty="0">
                <a:solidFill>
                  <a:srgbClr val="222A35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1600" kern="100" dirty="0"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Python Property - The Problem and Solution - DataFlair">
            <a:extLst>
              <a:ext uri="{FF2B5EF4-FFF2-40B4-BE49-F238E27FC236}">
                <a16:creationId xmlns:a16="http://schemas.microsoft.com/office/drawing/2014/main" id="{E3D7F3DB-F4FA-CF14-B323-14788C590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563" y="1874042"/>
            <a:ext cx="3915837" cy="308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36758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D28C2-C855-8015-9E1D-6BEDC5968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0DE7F91-B92A-B552-956C-0F099E4F1285}"/>
              </a:ext>
            </a:extLst>
          </p:cNvPr>
          <p:cNvSpPr/>
          <p:nvPr/>
        </p:nvSpPr>
        <p:spPr>
          <a:xfrm>
            <a:off x="136470" y="422286"/>
            <a:ext cx="6461020" cy="931962"/>
          </a:xfrm>
          <a:custGeom>
            <a:avLst/>
            <a:gdLst/>
            <a:ahLst/>
            <a:cxnLst/>
            <a:rect l="l" t="t" r="r" b="b"/>
            <a:pathLst>
              <a:path w="7587252" h="3084403">
                <a:moveTo>
                  <a:pt x="0" y="0"/>
                </a:moveTo>
                <a:lnTo>
                  <a:pt x="7587252" y="0"/>
                </a:lnTo>
                <a:lnTo>
                  <a:pt x="7587252" y="3084403"/>
                </a:lnTo>
                <a:lnTo>
                  <a:pt x="0" y="3084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Helavetica"/>
              </a:rPr>
              <a:t>APPLICATIONS OF PYTHON: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CA83DFC-1215-8561-7C5E-FE73EA538C6D}"/>
              </a:ext>
            </a:extLst>
          </p:cNvPr>
          <p:cNvSpPr/>
          <p:nvPr/>
        </p:nvSpPr>
        <p:spPr>
          <a:xfrm>
            <a:off x="7670567" y="464327"/>
            <a:ext cx="1953631" cy="794199"/>
          </a:xfrm>
          <a:custGeom>
            <a:avLst/>
            <a:gdLst/>
            <a:ahLst/>
            <a:cxnLst/>
            <a:rect l="l" t="t" r="r" b="b"/>
            <a:pathLst>
              <a:path w="1953631" h="794199">
                <a:moveTo>
                  <a:pt x="0" y="0"/>
                </a:moveTo>
                <a:lnTo>
                  <a:pt x="1953631" y="0"/>
                </a:lnTo>
                <a:lnTo>
                  <a:pt x="1953631" y="794199"/>
                </a:lnTo>
                <a:lnTo>
                  <a:pt x="0" y="794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079F70C-200E-E789-C2CA-23B777087210}"/>
              </a:ext>
            </a:extLst>
          </p:cNvPr>
          <p:cNvSpPr/>
          <p:nvPr/>
        </p:nvSpPr>
        <p:spPr>
          <a:xfrm>
            <a:off x="0" y="6439417"/>
            <a:ext cx="4976798" cy="658727"/>
          </a:xfrm>
          <a:custGeom>
            <a:avLst/>
            <a:gdLst/>
            <a:ahLst/>
            <a:cxnLst/>
            <a:rect l="l" t="t" r="r" b="b"/>
            <a:pathLst>
              <a:path w="6199781" h="658727">
                <a:moveTo>
                  <a:pt x="0" y="0"/>
                </a:moveTo>
                <a:lnTo>
                  <a:pt x="6199781" y="0"/>
                </a:lnTo>
                <a:lnTo>
                  <a:pt x="619978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57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9F53DEB-301B-3261-26DA-B53FC465BF04}"/>
              </a:ext>
            </a:extLst>
          </p:cNvPr>
          <p:cNvSpPr/>
          <p:nvPr/>
        </p:nvSpPr>
        <p:spPr>
          <a:xfrm>
            <a:off x="3387" y="6439417"/>
            <a:ext cx="5353071" cy="658727"/>
          </a:xfrm>
          <a:custGeom>
            <a:avLst/>
            <a:gdLst/>
            <a:ahLst/>
            <a:cxnLst/>
            <a:rect l="l" t="t" r="r" b="b"/>
            <a:pathLst>
              <a:path w="5353071" h="658727">
                <a:moveTo>
                  <a:pt x="0" y="0"/>
                </a:moveTo>
                <a:lnTo>
                  <a:pt x="5353071" y="0"/>
                </a:lnTo>
                <a:lnTo>
                  <a:pt x="535307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817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9C7023D-6A81-66E8-6E50-3D3C2E6C1B1B}"/>
              </a:ext>
            </a:extLst>
          </p:cNvPr>
          <p:cNvGrpSpPr/>
          <p:nvPr/>
        </p:nvGrpSpPr>
        <p:grpSpPr>
          <a:xfrm>
            <a:off x="2053983" y="6737627"/>
            <a:ext cx="2625995" cy="310941"/>
            <a:chOff x="0" y="0"/>
            <a:chExt cx="972591" cy="11516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1296813-D538-2D29-65C3-61AA29977155}"/>
                </a:ext>
              </a:extLst>
            </p:cNvPr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3CE21BB-ED35-7F38-28A8-8A70D671C19B}"/>
                </a:ext>
              </a:extLst>
            </p:cNvPr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D2EEACC5-C5D8-EF28-6133-40E829187E77}"/>
              </a:ext>
            </a:extLst>
          </p:cNvPr>
          <p:cNvSpPr/>
          <p:nvPr/>
        </p:nvSpPr>
        <p:spPr>
          <a:xfrm>
            <a:off x="2087407" y="6753204"/>
            <a:ext cx="279787" cy="279787"/>
          </a:xfrm>
          <a:custGeom>
            <a:avLst/>
            <a:gdLst/>
            <a:ahLst/>
            <a:cxnLst/>
            <a:rect l="l" t="t" r="r" b="b"/>
            <a:pathLst>
              <a:path w="279787" h="279787">
                <a:moveTo>
                  <a:pt x="0" y="0"/>
                </a:moveTo>
                <a:lnTo>
                  <a:pt x="279787" y="0"/>
                </a:lnTo>
                <a:lnTo>
                  <a:pt x="279787" y="279787"/>
                </a:lnTo>
                <a:lnTo>
                  <a:pt x="0" y="279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159B9B7-7711-8306-2D69-2DB7897882EE}"/>
              </a:ext>
            </a:extLst>
          </p:cNvPr>
          <p:cNvSpPr txBox="1"/>
          <p:nvPr/>
        </p:nvSpPr>
        <p:spPr>
          <a:xfrm>
            <a:off x="2169223" y="6439417"/>
            <a:ext cx="2762250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  <a:spcBef>
                <a:spcPct val="0"/>
              </a:spcBef>
            </a:pPr>
            <a:r>
              <a:rPr lang="en-US" sz="1601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1921"/>
              </a:lnSpc>
              <a:spcBef>
                <a:spcPct val="0"/>
              </a:spcBef>
            </a:pPr>
            <a:endParaRPr lang="en-US" sz="1601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340304F-1327-7555-BC64-EC57161F5FEC}"/>
              </a:ext>
            </a:extLst>
          </p:cNvPr>
          <p:cNvSpPr txBox="1"/>
          <p:nvPr/>
        </p:nvSpPr>
        <p:spPr>
          <a:xfrm>
            <a:off x="2425529" y="6805426"/>
            <a:ext cx="3112691" cy="1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  <a:spcBef>
                <a:spcPct val="0"/>
              </a:spcBef>
            </a:pPr>
            <a:r>
              <a:rPr lang="en-US" sz="1065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D97654B-9C65-5BEB-9CA7-590775D09828}"/>
              </a:ext>
            </a:extLst>
          </p:cNvPr>
          <p:cNvSpPr/>
          <p:nvPr/>
        </p:nvSpPr>
        <p:spPr>
          <a:xfrm>
            <a:off x="8239509" y="6439417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F5905A35-E155-9711-82D1-CCF2D5256415}"/>
              </a:ext>
            </a:extLst>
          </p:cNvPr>
          <p:cNvSpPr/>
          <p:nvPr/>
        </p:nvSpPr>
        <p:spPr>
          <a:xfrm>
            <a:off x="0" y="64664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605CCCA7-D7DB-6092-231F-27FEB4835DAF}"/>
              </a:ext>
            </a:extLst>
          </p:cNvPr>
          <p:cNvSpPr/>
          <p:nvPr/>
        </p:nvSpPr>
        <p:spPr>
          <a:xfrm flipV="1">
            <a:off x="9789" y="227073"/>
            <a:ext cx="9740424" cy="1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7170" name="Picture 2" descr="Applications and Features of Python">
            <a:extLst>
              <a:ext uri="{FF2B5EF4-FFF2-40B4-BE49-F238E27FC236}">
                <a16:creationId xmlns:a16="http://schemas.microsoft.com/office/drawing/2014/main" id="{275F8307-AB9B-926E-0AAE-BC064D6F3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4885"/>
            <a:ext cx="8305800" cy="4997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32BAC7D-91D8-C703-47C1-BDE712CCF95D}"/>
              </a:ext>
            </a:extLst>
          </p:cNvPr>
          <p:cNvSpPr/>
          <p:nvPr/>
        </p:nvSpPr>
        <p:spPr>
          <a:xfrm>
            <a:off x="-304800" y="13542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72259A-4676-2E42-F8A0-AB2954DF44FD}"/>
              </a:ext>
            </a:extLst>
          </p:cNvPr>
          <p:cNvSpPr/>
          <p:nvPr/>
        </p:nvSpPr>
        <p:spPr>
          <a:xfrm>
            <a:off x="304800" y="1066800"/>
            <a:ext cx="10668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43982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A72D2-5B58-6644-420C-2E373162E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6BBCA6D-8292-FCB0-04B9-67C15C4F1CBE}"/>
              </a:ext>
            </a:extLst>
          </p:cNvPr>
          <p:cNvSpPr/>
          <p:nvPr/>
        </p:nvSpPr>
        <p:spPr>
          <a:xfrm>
            <a:off x="7670567" y="464327"/>
            <a:ext cx="1953631" cy="794199"/>
          </a:xfrm>
          <a:custGeom>
            <a:avLst/>
            <a:gdLst/>
            <a:ahLst/>
            <a:cxnLst/>
            <a:rect l="l" t="t" r="r" b="b"/>
            <a:pathLst>
              <a:path w="1953631" h="794199">
                <a:moveTo>
                  <a:pt x="0" y="0"/>
                </a:moveTo>
                <a:lnTo>
                  <a:pt x="1953631" y="0"/>
                </a:lnTo>
                <a:lnTo>
                  <a:pt x="1953631" y="794199"/>
                </a:lnTo>
                <a:lnTo>
                  <a:pt x="0" y="794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E7FC8D1-5CD1-D700-10DE-77D4E7EF2B51}"/>
              </a:ext>
            </a:extLst>
          </p:cNvPr>
          <p:cNvSpPr/>
          <p:nvPr/>
        </p:nvSpPr>
        <p:spPr>
          <a:xfrm>
            <a:off x="0" y="6439417"/>
            <a:ext cx="4976798" cy="658727"/>
          </a:xfrm>
          <a:custGeom>
            <a:avLst/>
            <a:gdLst/>
            <a:ahLst/>
            <a:cxnLst/>
            <a:rect l="l" t="t" r="r" b="b"/>
            <a:pathLst>
              <a:path w="6199781" h="658727">
                <a:moveTo>
                  <a:pt x="0" y="0"/>
                </a:moveTo>
                <a:lnTo>
                  <a:pt x="6199781" y="0"/>
                </a:lnTo>
                <a:lnTo>
                  <a:pt x="619978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57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5D6CB59-7AB1-F897-8D6F-3409752A6C79}"/>
              </a:ext>
            </a:extLst>
          </p:cNvPr>
          <p:cNvSpPr/>
          <p:nvPr/>
        </p:nvSpPr>
        <p:spPr>
          <a:xfrm>
            <a:off x="3387" y="6439417"/>
            <a:ext cx="5353071" cy="658727"/>
          </a:xfrm>
          <a:custGeom>
            <a:avLst/>
            <a:gdLst/>
            <a:ahLst/>
            <a:cxnLst/>
            <a:rect l="l" t="t" r="r" b="b"/>
            <a:pathLst>
              <a:path w="5353071" h="658727">
                <a:moveTo>
                  <a:pt x="0" y="0"/>
                </a:moveTo>
                <a:lnTo>
                  <a:pt x="5353071" y="0"/>
                </a:lnTo>
                <a:lnTo>
                  <a:pt x="535307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817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C2703D8-C0F7-A641-C920-BC1DDE30BD9F}"/>
              </a:ext>
            </a:extLst>
          </p:cNvPr>
          <p:cNvGrpSpPr/>
          <p:nvPr/>
        </p:nvGrpSpPr>
        <p:grpSpPr>
          <a:xfrm>
            <a:off x="2053983" y="6737627"/>
            <a:ext cx="2625995" cy="310941"/>
            <a:chOff x="0" y="0"/>
            <a:chExt cx="972591" cy="11516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3FCAB00-80AE-F615-3501-6C5A1095F9D1}"/>
                </a:ext>
              </a:extLst>
            </p:cNvPr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C3DB2F0-F7E7-B57E-7AB5-DEA74ED81153}"/>
                </a:ext>
              </a:extLst>
            </p:cNvPr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17FFC21A-13E5-EABF-DFA4-C1580CB9C2F1}"/>
              </a:ext>
            </a:extLst>
          </p:cNvPr>
          <p:cNvSpPr/>
          <p:nvPr/>
        </p:nvSpPr>
        <p:spPr>
          <a:xfrm>
            <a:off x="2087407" y="6753204"/>
            <a:ext cx="279787" cy="279787"/>
          </a:xfrm>
          <a:custGeom>
            <a:avLst/>
            <a:gdLst/>
            <a:ahLst/>
            <a:cxnLst/>
            <a:rect l="l" t="t" r="r" b="b"/>
            <a:pathLst>
              <a:path w="279787" h="279787">
                <a:moveTo>
                  <a:pt x="0" y="0"/>
                </a:moveTo>
                <a:lnTo>
                  <a:pt x="279787" y="0"/>
                </a:lnTo>
                <a:lnTo>
                  <a:pt x="279787" y="279787"/>
                </a:lnTo>
                <a:lnTo>
                  <a:pt x="0" y="279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E80A4EE-3B6D-D37F-3AB2-29C83B158734}"/>
              </a:ext>
            </a:extLst>
          </p:cNvPr>
          <p:cNvSpPr txBox="1"/>
          <p:nvPr/>
        </p:nvSpPr>
        <p:spPr>
          <a:xfrm>
            <a:off x="2169223" y="6439417"/>
            <a:ext cx="2762250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  <a:spcBef>
                <a:spcPct val="0"/>
              </a:spcBef>
            </a:pPr>
            <a:r>
              <a:rPr lang="en-US" sz="1601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1921"/>
              </a:lnSpc>
              <a:spcBef>
                <a:spcPct val="0"/>
              </a:spcBef>
            </a:pPr>
            <a:endParaRPr lang="en-US" sz="1601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3058082-F39B-816D-2F95-952904CF5D52}"/>
              </a:ext>
            </a:extLst>
          </p:cNvPr>
          <p:cNvSpPr txBox="1"/>
          <p:nvPr/>
        </p:nvSpPr>
        <p:spPr>
          <a:xfrm>
            <a:off x="2425529" y="6805426"/>
            <a:ext cx="3112691" cy="1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  <a:spcBef>
                <a:spcPct val="0"/>
              </a:spcBef>
            </a:pPr>
            <a:r>
              <a:rPr lang="en-US" sz="1065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B687F85-EF2B-3D96-8117-A8E902B57900}"/>
              </a:ext>
            </a:extLst>
          </p:cNvPr>
          <p:cNvSpPr/>
          <p:nvPr/>
        </p:nvSpPr>
        <p:spPr>
          <a:xfrm>
            <a:off x="8239509" y="6439417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0ACE2181-74C9-6599-C811-9FAB4112AB1B}"/>
              </a:ext>
            </a:extLst>
          </p:cNvPr>
          <p:cNvSpPr/>
          <p:nvPr/>
        </p:nvSpPr>
        <p:spPr>
          <a:xfrm>
            <a:off x="0" y="64664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55A0D666-0A1C-8DB0-12FB-ED2FB864FE2E}"/>
              </a:ext>
            </a:extLst>
          </p:cNvPr>
          <p:cNvSpPr/>
          <p:nvPr/>
        </p:nvSpPr>
        <p:spPr>
          <a:xfrm flipV="1">
            <a:off x="9789" y="227073"/>
            <a:ext cx="9740424" cy="1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7245B5-4DC6-388E-EE4B-00CFF797F007}"/>
              </a:ext>
            </a:extLst>
          </p:cNvPr>
          <p:cNvSpPr txBox="1"/>
          <p:nvPr/>
        </p:nvSpPr>
        <p:spPr>
          <a:xfrm>
            <a:off x="223129" y="483243"/>
            <a:ext cx="4913586" cy="416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000" kern="100" dirty="0">
                <a:solidFill>
                  <a:srgbClr val="2F5496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</a:t>
            </a:r>
            <a:r>
              <a:rPr lang="en-US" sz="2000" kern="100" dirty="0">
                <a:solidFill>
                  <a:srgbClr val="2F549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hat is variables in python with example?</a:t>
            </a:r>
            <a:endParaRPr lang="en-US" sz="2000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1C19CD-DD39-583C-F470-788128A2F650}"/>
              </a:ext>
            </a:extLst>
          </p:cNvPr>
          <p:cNvSpPr txBox="1"/>
          <p:nvPr/>
        </p:nvSpPr>
        <p:spPr>
          <a:xfrm>
            <a:off x="198468" y="940906"/>
            <a:ext cx="8122085" cy="160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0" dirty="0">
                <a:solidFill>
                  <a:srgbClr val="582C4F"/>
                </a:solidFill>
                <a:effectLst/>
                <a:latin typeface="Georgia" panose="02040502050405020303" pitchFamily="18" charset="0"/>
                <a:ea typeface="SimSun" panose="02010600030101010101" pitchFamily="2" charset="-122"/>
              </a:rPr>
              <a:t>A </a:t>
            </a:r>
            <a:r>
              <a:rPr lang="en-US" sz="1800" b="1" dirty="0">
                <a:solidFill>
                  <a:srgbClr val="582C4F"/>
                </a:solidFill>
                <a:effectLst/>
                <a:latin typeface="Georgia" panose="02040502050405020303" pitchFamily="18" charset="0"/>
                <a:ea typeface="SimSun" panose="02010600030101010101" pitchFamily="2" charset="-122"/>
              </a:rPr>
              <a:t>variable</a:t>
            </a:r>
            <a:r>
              <a:rPr lang="en-US" sz="1800" kern="0" dirty="0">
                <a:solidFill>
                  <a:srgbClr val="582C4F"/>
                </a:solidFill>
                <a:effectLst/>
                <a:latin typeface="Georgia" panose="02040502050405020303" pitchFamily="18" charset="0"/>
                <a:ea typeface="SimSun" panose="02010600030101010101" pitchFamily="2" charset="-122"/>
              </a:rPr>
              <a:t> in Python is a name used to store data.</a:t>
            </a:r>
            <a:br>
              <a:rPr lang="en-US" sz="1800" kern="0" dirty="0">
                <a:solidFill>
                  <a:srgbClr val="582C4F"/>
                </a:solidFill>
                <a:effectLst/>
                <a:latin typeface="Georgia" panose="02040502050405020303" pitchFamily="18" charset="0"/>
                <a:ea typeface="SimSun" panose="02010600030101010101" pitchFamily="2" charset="-122"/>
              </a:rPr>
            </a:br>
            <a:r>
              <a:rPr lang="en-US" sz="1800" kern="0" dirty="0">
                <a:solidFill>
                  <a:srgbClr val="582C4F"/>
                </a:solidFill>
                <a:effectLst/>
                <a:latin typeface="Georgia" panose="02040502050405020303" pitchFamily="18" charset="0"/>
                <a:ea typeface="SimSun" panose="02010600030101010101" pitchFamily="2" charset="-122"/>
              </a:rPr>
              <a:t>You can assign any value (number, text, etc.) to a variable without declaring its type.</a:t>
            </a:r>
            <a:endParaRPr lang="en-US" sz="1600" dirty="0">
              <a:solidFill>
                <a:srgbClr val="582C4F"/>
              </a:solidFill>
              <a:effectLst/>
              <a:latin typeface="Georgia" panose="02040502050405020303" pitchFamily="18" charset="0"/>
              <a:ea typeface="SimSun" panose="02010600030101010101" pitchFamily="2" charset="-122"/>
            </a:endParaRPr>
          </a:p>
          <a:p>
            <a:pPr marL="0" marR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0" dirty="0">
                <a:solidFill>
                  <a:srgbClr val="582C4F"/>
                </a:solidFill>
                <a:effectLst/>
                <a:latin typeface="Georgia" panose="02040502050405020303" pitchFamily="18" charset="0"/>
                <a:ea typeface="SimSun" panose="02010600030101010101" pitchFamily="2" charset="-122"/>
              </a:rPr>
              <a:t> </a:t>
            </a:r>
            <a:r>
              <a:rPr lang="en-US" sz="1800" b="1" dirty="0">
                <a:solidFill>
                  <a:srgbClr val="582C4F"/>
                </a:solidFill>
                <a:effectLst/>
                <a:latin typeface="Georgia" panose="02040502050405020303" pitchFamily="18" charset="0"/>
                <a:ea typeface="SimSun" panose="02010600030101010101" pitchFamily="2" charset="-122"/>
              </a:rPr>
              <a:t>Python is dynamically typed</a:t>
            </a:r>
            <a:r>
              <a:rPr lang="en-US" sz="1800" kern="0" dirty="0">
                <a:solidFill>
                  <a:srgbClr val="582C4F"/>
                </a:solidFill>
                <a:effectLst/>
                <a:latin typeface="Georgia" panose="02040502050405020303" pitchFamily="18" charset="0"/>
                <a:ea typeface="SimSun" panose="02010600030101010101" pitchFamily="2" charset="-122"/>
              </a:rPr>
              <a:t>, so it automatically detects the data type based on the assigned value.</a:t>
            </a:r>
            <a:endParaRPr lang="en-US" sz="1600" dirty="0">
              <a:solidFill>
                <a:srgbClr val="582C4F"/>
              </a:solidFill>
              <a:effectLst/>
              <a:latin typeface="Georgia" panose="02040502050405020303" pitchFamily="18" charset="0"/>
              <a:ea typeface="SimSun" panose="02010600030101010101" pitchFamily="2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ACF9E5-96A5-7618-A21D-7CE565C7D791}"/>
              </a:ext>
            </a:extLst>
          </p:cNvPr>
          <p:cNvSpPr txBox="1"/>
          <p:nvPr/>
        </p:nvSpPr>
        <p:spPr>
          <a:xfrm>
            <a:off x="223129" y="2693843"/>
            <a:ext cx="4913586" cy="2624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100" dirty="0">
                <a:solidFill>
                  <a:schemeClr val="accent2">
                    <a:lumMod val="75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 = "Lakshmi"     # string</a:t>
            </a:r>
            <a:endParaRPr lang="en-US" sz="1600" kern="100" dirty="0">
              <a:solidFill>
                <a:schemeClr val="accent2">
                  <a:lumMod val="75000"/>
                </a:schemeClr>
              </a:solidFill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100" dirty="0">
                <a:solidFill>
                  <a:schemeClr val="accent2">
                    <a:lumMod val="75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age = 20             # integer</a:t>
            </a:r>
            <a:endParaRPr lang="en-US" sz="1600" kern="100" dirty="0">
              <a:solidFill>
                <a:schemeClr val="accent2">
                  <a:lumMod val="75000"/>
                </a:schemeClr>
              </a:solidFill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100" dirty="0">
                <a:solidFill>
                  <a:schemeClr val="accent2">
                    <a:lumMod val="75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height = 5.4         # float</a:t>
            </a:r>
            <a:endParaRPr lang="en-US" sz="1600" kern="100" dirty="0">
              <a:solidFill>
                <a:schemeClr val="accent2">
                  <a:lumMod val="75000"/>
                </a:schemeClr>
              </a:solidFill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100" dirty="0">
                <a:solidFill>
                  <a:schemeClr val="accent2">
                    <a:lumMod val="75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print("Name:", name)</a:t>
            </a:r>
            <a:endParaRPr lang="en-US" sz="1600" kern="100" dirty="0">
              <a:solidFill>
                <a:schemeClr val="accent2">
                  <a:lumMod val="75000"/>
                </a:schemeClr>
              </a:solidFill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100" dirty="0">
                <a:solidFill>
                  <a:schemeClr val="accent2">
                    <a:lumMod val="75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print("Age:", age)</a:t>
            </a:r>
            <a:endParaRPr lang="en-US" sz="1600" kern="100" dirty="0">
              <a:solidFill>
                <a:schemeClr val="accent2">
                  <a:lumMod val="75000"/>
                </a:schemeClr>
              </a:solidFill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100" dirty="0">
                <a:solidFill>
                  <a:schemeClr val="accent2">
                    <a:lumMod val="75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print("Height:", height)</a:t>
            </a:r>
            <a:endParaRPr lang="en-US" sz="1600" kern="100" dirty="0">
              <a:solidFill>
                <a:schemeClr val="accent2">
                  <a:lumMod val="75000"/>
                </a:schemeClr>
              </a:solidFill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F99BD9-D1DF-B2E3-D45B-4DE7CEDCCD8B}"/>
              </a:ext>
            </a:extLst>
          </p:cNvPr>
          <p:cNvSpPr txBox="1"/>
          <p:nvPr/>
        </p:nvSpPr>
        <p:spPr>
          <a:xfrm>
            <a:off x="5629905" y="5724605"/>
            <a:ext cx="3978103" cy="1283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100" dirty="0">
                <a:solidFill>
                  <a:srgbClr val="7030A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Name: Lakshmi </a:t>
            </a:r>
            <a:endParaRPr lang="en-US" sz="1600" kern="100" dirty="0"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 indent="6223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100" dirty="0">
                <a:solidFill>
                  <a:srgbClr val="7030A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Age: 20</a:t>
            </a:r>
            <a:endParaRPr lang="en-US" sz="1600" kern="100" dirty="0"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 indent="6223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100" dirty="0">
                <a:solidFill>
                  <a:srgbClr val="7030A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Height: 5.4</a:t>
            </a:r>
            <a:endParaRPr lang="en-US" sz="1600" kern="100" dirty="0"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What Is Variable in Python | SourceCodester">
            <a:extLst>
              <a:ext uri="{FF2B5EF4-FFF2-40B4-BE49-F238E27FC236}">
                <a16:creationId xmlns:a16="http://schemas.microsoft.com/office/drawing/2014/main" id="{36B44928-EEEE-5D8A-E7DF-72FBC4B14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633450"/>
            <a:ext cx="5638800" cy="2624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69138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36402-692D-C857-F968-421FA4DE0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9C7CC6-ED65-FB2F-1A55-D49E90133C55}"/>
              </a:ext>
            </a:extLst>
          </p:cNvPr>
          <p:cNvSpPr/>
          <p:nvPr/>
        </p:nvSpPr>
        <p:spPr>
          <a:xfrm>
            <a:off x="36280" y="853058"/>
            <a:ext cx="7587252" cy="1653458"/>
          </a:xfrm>
          <a:custGeom>
            <a:avLst/>
            <a:gdLst/>
            <a:ahLst/>
            <a:cxnLst/>
            <a:rect l="l" t="t" r="r" b="b"/>
            <a:pathLst>
              <a:path w="7587252" h="3084403">
                <a:moveTo>
                  <a:pt x="0" y="0"/>
                </a:moveTo>
                <a:lnTo>
                  <a:pt x="7587252" y="0"/>
                </a:lnTo>
                <a:lnTo>
                  <a:pt x="7587252" y="3084403"/>
                </a:lnTo>
                <a:lnTo>
                  <a:pt x="0" y="3084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</a:rPr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</a:rPr>
              <a:t>data type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</a:rPr>
              <a:t> in Python specifies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</a:rPr>
              <a:t>type of value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</a:rPr>
              <a:t> a variable holds, such as a number, text, list, etc.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</a:rPr>
              <a:t>Python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</a:rPr>
              <a:t>dynamically typed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</a:rPr>
              <a:t>, so it automatically detects the data type when you assign a value.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B79B9EA-8BF2-7E63-9311-7576619F4F4A}"/>
              </a:ext>
            </a:extLst>
          </p:cNvPr>
          <p:cNvSpPr/>
          <p:nvPr/>
        </p:nvSpPr>
        <p:spPr>
          <a:xfrm>
            <a:off x="7670567" y="464327"/>
            <a:ext cx="1953631" cy="794199"/>
          </a:xfrm>
          <a:custGeom>
            <a:avLst/>
            <a:gdLst/>
            <a:ahLst/>
            <a:cxnLst/>
            <a:rect l="l" t="t" r="r" b="b"/>
            <a:pathLst>
              <a:path w="1953631" h="794199">
                <a:moveTo>
                  <a:pt x="0" y="0"/>
                </a:moveTo>
                <a:lnTo>
                  <a:pt x="1953631" y="0"/>
                </a:lnTo>
                <a:lnTo>
                  <a:pt x="1953631" y="794199"/>
                </a:lnTo>
                <a:lnTo>
                  <a:pt x="0" y="794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88467C3-3974-296E-B809-3837239F5BB7}"/>
              </a:ext>
            </a:extLst>
          </p:cNvPr>
          <p:cNvSpPr/>
          <p:nvPr/>
        </p:nvSpPr>
        <p:spPr>
          <a:xfrm>
            <a:off x="0" y="6439417"/>
            <a:ext cx="4976798" cy="658727"/>
          </a:xfrm>
          <a:custGeom>
            <a:avLst/>
            <a:gdLst/>
            <a:ahLst/>
            <a:cxnLst/>
            <a:rect l="l" t="t" r="r" b="b"/>
            <a:pathLst>
              <a:path w="6199781" h="658727">
                <a:moveTo>
                  <a:pt x="0" y="0"/>
                </a:moveTo>
                <a:lnTo>
                  <a:pt x="6199781" y="0"/>
                </a:lnTo>
                <a:lnTo>
                  <a:pt x="619978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57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493F350-5A33-6915-FDDB-14C0B052BAC9}"/>
              </a:ext>
            </a:extLst>
          </p:cNvPr>
          <p:cNvSpPr/>
          <p:nvPr/>
        </p:nvSpPr>
        <p:spPr>
          <a:xfrm>
            <a:off x="3387" y="6439417"/>
            <a:ext cx="5353071" cy="658727"/>
          </a:xfrm>
          <a:custGeom>
            <a:avLst/>
            <a:gdLst/>
            <a:ahLst/>
            <a:cxnLst/>
            <a:rect l="l" t="t" r="r" b="b"/>
            <a:pathLst>
              <a:path w="5353071" h="658727">
                <a:moveTo>
                  <a:pt x="0" y="0"/>
                </a:moveTo>
                <a:lnTo>
                  <a:pt x="5353071" y="0"/>
                </a:lnTo>
                <a:lnTo>
                  <a:pt x="535307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817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4F71535-8522-9462-9F04-99BBFEE4B929}"/>
              </a:ext>
            </a:extLst>
          </p:cNvPr>
          <p:cNvGrpSpPr/>
          <p:nvPr/>
        </p:nvGrpSpPr>
        <p:grpSpPr>
          <a:xfrm>
            <a:off x="2053983" y="6737627"/>
            <a:ext cx="2625995" cy="310941"/>
            <a:chOff x="0" y="0"/>
            <a:chExt cx="972591" cy="11516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2D35075-A8EA-BE28-DE09-56879A634411}"/>
                </a:ext>
              </a:extLst>
            </p:cNvPr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4DAEB83-13E4-0097-8424-AFB7F75F4663}"/>
                </a:ext>
              </a:extLst>
            </p:cNvPr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FADB5D9A-F7A0-7B2D-C60B-314973ECE0E9}"/>
              </a:ext>
            </a:extLst>
          </p:cNvPr>
          <p:cNvSpPr/>
          <p:nvPr/>
        </p:nvSpPr>
        <p:spPr>
          <a:xfrm>
            <a:off x="2087407" y="6753204"/>
            <a:ext cx="279787" cy="279787"/>
          </a:xfrm>
          <a:custGeom>
            <a:avLst/>
            <a:gdLst/>
            <a:ahLst/>
            <a:cxnLst/>
            <a:rect l="l" t="t" r="r" b="b"/>
            <a:pathLst>
              <a:path w="279787" h="279787">
                <a:moveTo>
                  <a:pt x="0" y="0"/>
                </a:moveTo>
                <a:lnTo>
                  <a:pt x="279787" y="0"/>
                </a:lnTo>
                <a:lnTo>
                  <a:pt x="279787" y="279787"/>
                </a:lnTo>
                <a:lnTo>
                  <a:pt x="0" y="279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2EDFBEF-EDF2-D343-E580-6C7A995660C7}"/>
              </a:ext>
            </a:extLst>
          </p:cNvPr>
          <p:cNvSpPr txBox="1"/>
          <p:nvPr/>
        </p:nvSpPr>
        <p:spPr>
          <a:xfrm>
            <a:off x="2169223" y="6439417"/>
            <a:ext cx="2762250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  <a:spcBef>
                <a:spcPct val="0"/>
              </a:spcBef>
            </a:pPr>
            <a:r>
              <a:rPr lang="en-US" sz="1601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1921"/>
              </a:lnSpc>
              <a:spcBef>
                <a:spcPct val="0"/>
              </a:spcBef>
            </a:pPr>
            <a:endParaRPr lang="en-US" sz="1601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91C3AD1-F350-5CAE-F4B7-299CF987CAE0}"/>
              </a:ext>
            </a:extLst>
          </p:cNvPr>
          <p:cNvSpPr txBox="1"/>
          <p:nvPr/>
        </p:nvSpPr>
        <p:spPr>
          <a:xfrm>
            <a:off x="2425529" y="6805426"/>
            <a:ext cx="3112691" cy="1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  <a:spcBef>
                <a:spcPct val="0"/>
              </a:spcBef>
            </a:pPr>
            <a:r>
              <a:rPr lang="en-US" sz="1065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7CD6872-C40F-E0A8-C383-2CD7328574D4}"/>
              </a:ext>
            </a:extLst>
          </p:cNvPr>
          <p:cNvSpPr/>
          <p:nvPr/>
        </p:nvSpPr>
        <p:spPr>
          <a:xfrm>
            <a:off x="8239509" y="6439417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C67605BD-21BF-FA98-93CD-7A5CD6E8FAB2}"/>
              </a:ext>
            </a:extLst>
          </p:cNvPr>
          <p:cNvSpPr/>
          <p:nvPr/>
        </p:nvSpPr>
        <p:spPr>
          <a:xfrm>
            <a:off x="0" y="64664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7BAA6CC0-F801-79C0-79C6-F4FADA240B00}"/>
              </a:ext>
            </a:extLst>
          </p:cNvPr>
          <p:cNvSpPr/>
          <p:nvPr/>
        </p:nvSpPr>
        <p:spPr>
          <a:xfrm flipV="1">
            <a:off x="9789" y="227073"/>
            <a:ext cx="9740424" cy="1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6150" name="Picture 6" descr="Introduction To Data Types In Python For Beginners">
            <a:extLst>
              <a:ext uri="{FF2B5EF4-FFF2-40B4-BE49-F238E27FC236}">
                <a16:creationId xmlns:a16="http://schemas.microsoft.com/office/drawing/2014/main" id="{83DF4E11-FB70-F65D-D461-2CFA7BD08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5191" y="1779987"/>
            <a:ext cx="4257157" cy="2600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D9C91A7-F63D-A7F1-5056-C0B37CB3B94B}"/>
              </a:ext>
            </a:extLst>
          </p:cNvPr>
          <p:cNvSpPr txBox="1"/>
          <p:nvPr/>
        </p:nvSpPr>
        <p:spPr>
          <a:xfrm>
            <a:off x="76351" y="368975"/>
            <a:ext cx="4918840" cy="416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000" kern="100" dirty="0">
                <a:solidFill>
                  <a:srgbClr val="2F5496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</a:t>
            </a:r>
            <a:r>
              <a:rPr lang="en-US" sz="2000" kern="100" dirty="0">
                <a:solidFill>
                  <a:srgbClr val="2F549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hat is data type in python with example?</a:t>
            </a:r>
            <a:endParaRPr lang="en-US" sz="2000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46A6BC-1D99-674F-6E3F-3EAC92B8D2FF}"/>
              </a:ext>
            </a:extLst>
          </p:cNvPr>
          <p:cNvSpPr txBox="1"/>
          <p:nvPr/>
        </p:nvSpPr>
        <p:spPr>
          <a:xfrm>
            <a:off x="201666" y="2071144"/>
            <a:ext cx="3348682" cy="4300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b="1" kern="100" dirty="0">
                <a:solidFill>
                  <a:schemeClr val="accent2">
                    <a:lumMod val="5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600" kern="100" dirty="0">
                <a:solidFill>
                  <a:schemeClr val="accent2">
                    <a:lumMod val="5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age = 21              # Integer</a:t>
            </a:r>
            <a:endParaRPr lang="en-US" sz="1600" kern="100" dirty="0">
              <a:solidFill>
                <a:schemeClr val="accent2">
                  <a:lumMod val="50000"/>
                </a:schemeClr>
              </a:solidFill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600" kern="100" dirty="0">
                <a:solidFill>
                  <a:schemeClr val="accent2">
                    <a:lumMod val="5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height = 5.8          # Float</a:t>
            </a:r>
            <a:endParaRPr lang="en-US" sz="1600" kern="100" dirty="0">
              <a:solidFill>
                <a:schemeClr val="accent2">
                  <a:lumMod val="50000"/>
                </a:schemeClr>
              </a:solidFill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600" kern="100" dirty="0" err="1">
                <a:solidFill>
                  <a:schemeClr val="accent2">
                    <a:lumMod val="5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is_student</a:t>
            </a:r>
            <a:r>
              <a:rPr lang="en-US" sz="1600" kern="100" dirty="0">
                <a:solidFill>
                  <a:schemeClr val="accent2">
                    <a:lumMod val="5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True     # Boolean</a:t>
            </a:r>
            <a:endParaRPr lang="en-US" sz="1600" kern="100" dirty="0">
              <a:solidFill>
                <a:schemeClr val="accent2">
                  <a:lumMod val="50000"/>
                </a:schemeClr>
              </a:solidFill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600" kern="100" dirty="0">
                <a:solidFill>
                  <a:schemeClr val="accent2">
                    <a:lumMod val="5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print("Name:", name, "| Type:", type(name))</a:t>
            </a:r>
            <a:endParaRPr lang="en-US" sz="1600" kern="100" dirty="0">
              <a:solidFill>
                <a:schemeClr val="accent2">
                  <a:lumMod val="50000"/>
                </a:schemeClr>
              </a:solidFill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600" kern="100" dirty="0">
                <a:solidFill>
                  <a:schemeClr val="accent2">
                    <a:lumMod val="5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print("Age:", age, "| Type:", type(age))</a:t>
            </a:r>
            <a:endParaRPr lang="en-US" sz="1600" kern="100" dirty="0">
              <a:solidFill>
                <a:schemeClr val="accent2">
                  <a:lumMod val="50000"/>
                </a:schemeClr>
              </a:solidFill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600" kern="100" dirty="0">
                <a:solidFill>
                  <a:schemeClr val="accent2">
                    <a:lumMod val="5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print("Height:", height, "| Type:", type(height))</a:t>
            </a:r>
            <a:endParaRPr lang="en-US" sz="1600" kern="100" dirty="0">
              <a:solidFill>
                <a:schemeClr val="accent2">
                  <a:lumMod val="50000"/>
                </a:schemeClr>
              </a:solidFill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solidFill>
                  <a:schemeClr val="accent2">
                    <a:lumMod val="5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print("Is Student:", </a:t>
            </a:r>
            <a:r>
              <a:rPr lang="en-US" sz="1600" kern="100" dirty="0" err="1">
                <a:solidFill>
                  <a:schemeClr val="accent2">
                    <a:lumMod val="5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is_student</a:t>
            </a:r>
            <a:r>
              <a:rPr lang="en-US" sz="1600" kern="100" dirty="0">
                <a:solidFill>
                  <a:schemeClr val="accent2">
                    <a:lumMod val="5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"| Type:", type(</a:t>
            </a:r>
            <a:r>
              <a:rPr lang="en-US" sz="1600" kern="100" dirty="0" err="1">
                <a:solidFill>
                  <a:schemeClr val="accent2">
                    <a:lumMod val="5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is_student</a:t>
            </a:r>
            <a:r>
              <a:rPr lang="en-US" sz="1600" kern="100" dirty="0">
                <a:solidFill>
                  <a:schemeClr val="accent2">
                    <a:lumMod val="5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))</a:t>
            </a:r>
            <a:endParaRPr lang="en-US" sz="1600" kern="100" dirty="0">
              <a:solidFill>
                <a:schemeClr val="accent2">
                  <a:lumMod val="50000"/>
                </a:schemeClr>
              </a:solidFill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68BEC5-7455-379A-5B67-84606D19BCD7}"/>
              </a:ext>
            </a:extLst>
          </p:cNvPr>
          <p:cNvSpPr txBox="1"/>
          <p:nvPr/>
        </p:nvSpPr>
        <p:spPr>
          <a:xfrm>
            <a:off x="3728542" y="4688014"/>
            <a:ext cx="4918840" cy="1730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45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100" dirty="0">
                <a:solidFill>
                  <a:schemeClr val="accent2">
                    <a:lumMod val="5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Name: Gokula | Type: &lt;class 'str'&gt;</a:t>
            </a:r>
            <a:endParaRPr lang="en-US" sz="1600" kern="100" dirty="0">
              <a:solidFill>
                <a:schemeClr val="accent2">
                  <a:lumMod val="50000"/>
                </a:schemeClr>
              </a:solidFill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 indent="4445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100" dirty="0">
                <a:solidFill>
                  <a:schemeClr val="accent2">
                    <a:lumMod val="5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Age: 21 | Type: &lt;class 'int'&gt;</a:t>
            </a:r>
            <a:endParaRPr lang="en-US" sz="1600" kern="100" dirty="0">
              <a:solidFill>
                <a:schemeClr val="accent2">
                  <a:lumMod val="50000"/>
                </a:schemeClr>
              </a:solidFill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 indent="4445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100" dirty="0">
                <a:solidFill>
                  <a:schemeClr val="accent2">
                    <a:lumMod val="5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Height: 5.8 | Type: &lt;class 'float'&gt;</a:t>
            </a:r>
            <a:endParaRPr lang="en-US" sz="1600" kern="100" dirty="0">
              <a:solidFill>
                <a:schemeClr val="accent2">
                  <a:lumMod val="50000"/>
                </a:schemeClr>
              </a:solidFill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 indent="4445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100" dirty="0">
                <a:solidFill>
                  <a:schemeClr val="accent2">
                    <a:lumMod val="5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Student: True | Type: &lt;class 'bool'&gt;</a:t>
            </a:r>
            <a:endParaRPr lang="en-US" sz="1600" kern="100" dirty="0">
              <a:solidFill>
                <a:schemeClr val="accent2">
                  <a:lumMod val="50000"/>
                </a:schemeClr>
              </a:solidFill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01427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71844-F9DF-00BD-66E0-CFAFC462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E07A47B-812E-BC04-B3E0-0B5E6CF555ED}"/>
              </a:ext>
            </a:extLst>
          </p:cNvPr>
          <p:cNvSpPr/>
          <p:nvPr/>
        </p:nvSpPr>
        <p:spPr>
          <a:xfrm>
            <a:off x="7670567" y="464327"/>
            <a:ext cx="1953631" cy="794199"/>
          </a:xfrm>
          <a:custGeom>
            <a:avLst/>
            <a:gdLst/>
            <a:ahLst/>
            <a:cxnLst/>
            <a:rect l="l" t="t" r="r" b="b"/>
            <a:pathLst>
              <a:path w="1953631" h="794199">
                <a:moveTo>
                  <a:pt x="0" y="0"/>
                </a:moveTo>
                <a:lnTo>
                  <a:pt x="1953631" y="0"/>
                </a:lnTo>
                <a:lnTo>
                  <a:pt x="1953631" y="794199"/>
                </a:lnTo>
                <a:lnTo>
                  <a:pt x="0" y="794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3041E3B-0CB6-0712-FF22-EBBC0B5E6351}"/>
              </a:ext>
            </a:extLst>
          </p:cNvPr>
          <p:cNvSpPr/>
          <p:nvPr/>
        </p:nvSpPr>
        <p:spPr>
          <a:xfrm>
            <a:off x="0" y="6439417"/>
            <a:ext cx="4976798" cy="658727"/>
          </a:xfrm>
          <a:custGeom>
            <a:avLst/>
            <a:gdLst/>
            <a:ahLst/>
            <a:cxnLst/>
            <a:rect l="l" t="t" r="r" b="b"/>
            <a:pathLst>
              <a:path w="6199781" h="658727">
                <a:moveTo>
                  <a:pt x="0" y="0"/>
                </a:moveTo>
                <a:lnTo>
                  <a:pt x="6199781" y="0"/>
                </a:lnTo>
                <a:lnTo>
                  <a:pt x="619978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57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C92163D-B6C9-ED59-DA1D-F7A1BE8967C7}"/>
              </a:ext>
            </a:extLst>
          </p:cNvPr>
          <p:cNvSpPr/>
          <p:nvPr/>
        </p:nvSpPr>
        <p:spPr>
          <a:xfrm>
            <a:off x="3387" y="6439417"/>
            <a:ext cx="5353071" cy="658727"/>
          </a:xfrm>
          <a:custGeom>
            <a:avLst/>
            <a:gdLst/>
            <a:ahLst/>
            <a:cxnLst/>
            <a:rect l="l" t="t" r="r" b="b"/>
            <a:pathLst>
              <a:path w="5353071" h="658727">
                <a:moveTo>
                  <a:pt x="0" y="0"/>
                </a:moveTo>
                <a:lnTo>
                  <a:pt x="5353071" y="0"/>
                </a:lnTo>
                <a:lnTo>
                  <a:pt x="535307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817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AE1800B-30CD-E16E-0CFB-8EF5E0AA8E5C}"/>
              </a:ext>
            </a:extLst>
          </p:cNvPr>
          <p:cNvGrpSpPr/>
          <p:nvPr/>
        </p:nvGrpSpPr>
        <p:grpSpPr>
          <a:xfrm>
            <a:off x="2053983" y="6737627"/>
            <a:ext cx="2625995" cy="310941"/>
            <a:chOff x="0" y="0"/>
            <a:chExt cx="972591" cy="11516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B254B6D-EB15-0E14-524D-EA5C4F56BC81}"/>
                </a:ext>
              </a:extLst>
            </p:cNvPr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B906283-7E60-D9B9-E84F-64E7D26059FE}"/>
                </a:ext>
              </a:extLst>
            </p:cNvPr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7B10B936-213D-3EF7-3435-49CB48301A25}"/>
              </a:ext>
            </a:extLst>
          </p:cNvPr>
          <p:cNvSpPr/>
          <p:nvPr/>
        </p:nvSpPr>
        <p:spPr>
          <a:xfrm>
            <a:off x="2087407" y="6753204"/>
            <a:ext cx="279787" cy="279787"/>
          </a:xfrm>
          <a:custGeom>
            <a:avLst/>
            <a:gdLst/>
            <a:ahLst/>
            <a:cxnLst/>
            <a:rect l="l" t="t" r="r" b="b"/>
            <a:pathLst>
              <a:path w="279787" h="279787">
                <a:moveTo>
                  <a:pt x="0" y="0"/>
                </a:moveTo>
                <a:lnTo>
                  <a:pt x="279787" y="0"/>
                </a:lnTo>
                <a:lnTo>
                  <a:pt x="279787" y="279787"/>
                </a:lnTo>
                <a:lnTo>
                  <a:pt x="0" y="279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9D2D68B-B885-8B53-1F9D-AA9E3AD82C3C}"/>
              </a:ext>
            </a:extLst>
          </p:cNvPr>
          <p:cNvSpPr txBox="1"/>
          <p:nvPr/>
        </p:nvSpPr>
        <p:spPr>
          <a:xfrm>
            <a:off x="2169223" y="6439417"/>
            <a:ext cx="2762250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  <a:spcBef>
                <a:spcPct val="0"/>
              </a:spcBef>
            </a:pPr>
            <a:r>
              <a:rPr lang="en-US" sz="1601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1921"/>
              </a:lnSpc>
              <a:spcBef>
                <a:spcPct val="0"/>
              </a:spcBef>
            </a:pPr>
            <a:endParaRPr lang="en-US" sz="1601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D96AD14-02AA-7AC6-B15D-2A70DFCE6457}"/>
              </a:ext>
            </a:extLst>
          </p:cNvPr>
          <p:cNvSpPr txBox="1"/>
          <p:nvPr/>
        </p:nvSpPr>
        <p:spPr>
          <a:xfrm>
            <a:off x="2425529" y="6805426"/>
            <a:ext cx="3112691" cy="1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  <a:spcBef>
                <a:spcPct val="0"/>
              </a:spcBef>
            </a:pPr>
            <a:r>
              <a:rPr lang="en-US" sz="1065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509D0D5-9005-23EF-FCC7-DF8F36420B57}"/>
              </a:ext>
            </a:extLst>
          </p:cNvPr>
          <p:cNvSpPr/>
          <p:nvPr/>
        </p:nvSpPr>
        <p:spPr>
          <a:xfrm>
            <a:off x="8239509" y="6439417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9167F825-6CD7-06DB-519A-7BC24C00CDC8}"/>
              </a:ext>
            </a:extLst>
          </p:cNvPr>
          <p:cNvSpPr/>
          <p:nvPr/>
        </p:nvSpPr>
        <p:spPr>
          <a:xfrm>
            <a:off x="0" y="64664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2A333F94-3202-52B7-9EBD-9E66880A3CD2}"/>
              </a:ext>
            </a:extLst>
          </p:cNvPr>
          <p:cNvSpPr/>
          <p:nvPr/>
        </p:nvSpPr>
        <p:spPr>
          <a:xfrm flipV="1">
            <a:off x="9789" y="227073"/>
            <a:ext cx="9740424" cy="1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A72FF3-E2C8-4378-B1AF-C5E4655EA387}"/>
              </a:ext>
            </a:extLst>
          </p:cNvPr>
          <p:cNvSpPr txBox="1"/>
          <p:nvPr/>
        </p:nvSpPr>
        <p:spPr>
          <a:xfrm>
            <a:off x="129402" y="671497"/>
            <a:ext cx="6728598" cy="898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000" kern="100" dirty="0">
                <a:solidFill>
                  <a:srgbClr val="2F5496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</a:t>
            </a:r>
            <a:r>
              <a:rPr lang="en-US" sz="2000" kern="100" dirty="0">
                <a:solidFill>
                  <a:srgbClr val="2F549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ompare data type and variables in python with example?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lang="en-US" sz="2000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411AFBD-0B96-7468-665B-1E0ABC4CD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064561"/>
              </p:ext>
            </p:extLst>
          </p:nvPr>
        </p:nvGraphicFramePr>
        <p:xfrm>
          <a:off x="228925" y="2004510"/>
          <a:ext cx="9295749" cy="31328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98583">
                  <a:extLst>
                    <a:ext uri="{9D8B030D-6E8A-4147-A177-3AD203B41FA5}">
                      <a16:colId xmlns:a16="http://schemas.microsoft.com/office/drawing/2014/main" val="3768937202"/>
                    </a:ext>
                  </a:extLst>
                </a:gridCol>
                <a:gridCol w="3098583">
                  <a:extLst>
                    <a:ext uri="{9D8B030D-6E8A-4147-A177-3AD203B41FA5}">
                      <a16:colId xmlns:a16="http://schemas.microsoft.com/office/drawing/2014/main" val="2713569481"/>
                    </a:ext>
                  </a:extLst>
                </a:gridCol>
                <a:gridCol w="3098583">
                  <a:extLst>
                    <a:ext uri="{9D8B030D-6E8A-4147-A177-3AD203B41FA5}">
                      <a16:colId xmlns:a16="http://schemas.microsoft.com/office/drawing/2014/main" val="2955364251"/>
                    </a:ext>
                  </a:extLst>
                </a:gridCol>
              </a:tblGrid>
              <a:tr h="57501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Feature</a:t>
                      </a:r>
                      <a:endParaRPr lang="en-IN" sz="1200" b="1" kern="100" dirty="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Data Type</a:t>
                      </a:r>
                      <a:endParaRPr lang="en-IN" sz="1200" b="1" kern="10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Variable</a:t>
                      </a:r>
                      <a:endParaRPr lang="en-IN" sz="1200" b="1" kern="10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78229605"/>
                  </a:ext>
                </a:extLst>
              </a:tr>
              <a:tr h="38675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Definition</a:t>
                      </a:r>
                      <a:endParaRPr lang="en-IN" sz="1200" b="1" kern="10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Tells the kind of value (e.g., int, str)</a:t>
                      </a:r>
                      <a:endParaRPr lang="en-US" sz="1200" b="1" kern="10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A named storage for data</a:t>
                      </a:r>
                      <a:endParaRPr lang="en-IN" sz="1200" b="1" kern="10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26466065"/>
                  </a:ext>
                </a:extLst>
              </a:tr>
              <a:tr h="44054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Purpose</a:t>
                      </a:r>
                      <a:endParaRPr lang="en-IN" sz="1200" b="1" kern="100" dirty="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Classifies the data</a:t>
                      </a:r>
                      <a:endParaRPr lang="en-IN" sz="1200" b="1" kern="10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Holds and references data</a:t>
                      </a:r>
                      <a:endParaRPr lang="en-IN" sz="1200" b="1" kern="10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1602671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Example</a:t>
                      </a:r>
                      <a:endParaRPr lang="en-IN" sz="1200" b="1" kern="10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int, float, str, bool, etc.</a:t>
                      </a:r>
                      <a:endParaRPr lang="en-IN" sz="1200" b="1" kern="10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age = 25, name = "Gokula"</a:t>
                      </a:r>
                      <a:endParaRPr lang="en-IN" sz="1200" b="1" kern="10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9533907"/>
                  </a:ext>
                </a:extLst>
              </a:tr>
              <a:tr h="60630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Usage</a:t>
                      </a:r>
                      <a:endParaRPr lang="en-IN" sz="1200" b="1" kern="100" dirty="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dirty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Helps Python understand how to use data</a:t>
                      </a:r>
                      <a:endParaRPr lang="en-US" sz="1200" b="1" kern="100" dirty="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dirty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Used to perform operations using data</a:t>
                      </a:r>
                      <a:endParaRPr lang="en-US" sz="1200" b="1" kern="100" dirty="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68778549"/>
                  </a:ext>
                </a:extLst>
              </a:tr>
              <a:tr h="56416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Need to Declare</a:t>
                      </a:r>
                      <a:endParaRPr lang="en-IN" sz="1200" b="1" kern="10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dirty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No need to declare type (Python infers)</a:t>
                      </a:r>
                      <a:endParaRPr lang="en-US" sz="1200" b="1" kern="100" dirty="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Assigned using = symbol</a:t>
                      </a:r>
                      <a:endParaRPr lang="en-IN" sz="1200" b="1" kern="100" dirty="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26955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31928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3C6F5-6BD7-482D-242B-CAF7537E3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239EA68-1FEA-8BA6-93B3-9CE0757223FC}"/>
              </a:ext>
            </a:extLst>
          </p:cNvPr>
          <p:cNvSpPr/>
          <p:nvPr/>
        </p:nvSpPr>
        <p:spPr>
          <a:xfrm>
            <a:off x="7670567" y="464327"/>
            <a:ext cx="1953631" cy="794199"/>
          </a:xfrm>
          <a:custGeom>
            <a:avLst/>
            <a:gdLst/>
            <a:ahLst/>
            <a:cxnLst/>
            <a:rect l="l" t="t" r="r" b="b"/>
            <a:pathLst>
              <a:path w="1953631" h="794199">
                <a:moveTo>
                  <a:pt x="0" y="0"/>
                </a:moveTo>
                <a:lnTo>
                  <a:pt x="1953631" y="0"/>
                </a:lnTo>
                <a:lnTo>
                  <a:pt x="1953631" y="794199"/>
                </a:lnTo>
                <a:lnTo>
                  <a:pt x="0" y="794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BCA3A0B-F44E-0D53-1F4A-33A523BD9AF0}"/>
              </a:ext>
            </a:extLst>
          </p:cNvPr>
          <p:cNvSpPr/>
          <p:nvPr/>
        </p:nvSpPr>
        <p:spPr>
          <a:xfrm>
            <a:off x="0" y="6439417"/>
            <a:ext cx="4976798" cy="658727"/>
          </a:xfrm>
          <a:custGeom>
            <a:avLst/>
            <a:gdLst/>
            <a:ahLst/>
            <a:cxnLst/>
            <a:rect l="l" t="t" r="r" b="b"/>
            <a:pathLst>
              <a:path w="6199781" h="658727">
                <a:moveTo>
                  <a:pt x="0" y="0"/>
                </a:moveTo>
                <a:lnTo>
                  <a:pt x="6199781" y="0"/>
                </a:lnTo>
                <a:lnTo>
                  <a:pt x="619978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57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CCE0B55-3BD1-02C2-33F8-67746EE66F7E}"/>
              </a:ext>
            </a:extLst>
          </p:cNvPr>
          <p:cNvSpPr/>
          <p:nvPr/>
        </p:nvSpPr>
        <p:spPr>
          <a:xfrm>
            <a:off x="3387" y="6439417"/>
            <a:ext cx="5353071" cy="658727"/>
          </a:xfrm>
          <a:custGeom>
            <a:avLst/>
            <a:gdLst/>
            <a:ahLst/>
            <a:cxnLst/>
            <a:rect l="l" t="t" r="r" b="b"/>
            <a:pathLst>
              <a:path w="5353071" h="658727">
                <a:moveTo>
                  <a:pt x="0" y="0"/>
                </a:moveTo>
                <a:lnTo>
                  <a:pt x="5353071" y="0"/>
                </a:lnTo>
                <a:lnTo>
                  <a:pt x="535307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817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FA8CBF4-4E4F-C49E-7880-38B5038E2858}"/>
              </a:ext>
            </a:extLst>
          </p:cNvPr>
          <p:cNvGrpSpPr/>
          <p:nvPr/>
        </p:nvGrpSpPr>
        <p:grpSpPr>
          <a:xfrm>
            <a:off x="2053983" y="6737627"/>
            <a:ext cx="2625995" cy="310941"/>
            <a:chOff x="0" y="0"/>
            <a:chExt cx="972591" cy="11516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E42942B-E3DA-F7F0-67AC-6EA5D41F75BC}"/>
                </a:ext>
              </a:extLst>
            </p:cNvPr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07379D6-44F2-2268-A23D-32C86EC79273}"/>
                </a:ext>
              </a:extLst>
            </p:cNvPr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47F378AA-6247-8ADE-97CA-C52BFEEFE5C9}"/>
              </a:ext>
            </a:extLst>
          </p:cNvPr>
          <p:cNvSpPr/>
          <p:nvPr/>
        </p:nvSpPr>
        <p:spPr>
          <a:xfrm>
            <a:off x="2087407" y="6753204"/>
            <a:ext cx="279787" cy="279787"/>
          </a:xfrm>
          <a:custGeom>
            <a:avLst/>
            <a:gdLst/>
            <a:ahLst/>
            <a:cxnLst/>
            <a:rect l="l" t="t" r="r" b="b"/>
            <a:pathLst>
              <a:path w="279787" h="279787">
                <a:moveTo>
                  <a:pt x="0" y="0"/>
                </a:moveTo>
                <a:lnTo>
                  <a:pt x="279787" y="0"/>
                </a:lnTo>
                <a:lnTo>
                  <a:pt x="279787" y="279787"/>
                </a:lnTo>
                <a:lnTo>
                  <a:pt x="0" y="279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A1CAB3B-53B9-9735-F3D4-574E73A513D0}"/>
              </a:ext>
            </a:extLst>
          </p:cNvPr>
          <p:cNvSpPr txBox="1"/>
          <p:nvPr/>
        </p:nvSpPr>
        <p:spPr>
          <a:xfrm>
            <a:off x="2169223" y="6439417"/>
            <a:ext cx="2762250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  <a:spcBef>
                <a:spcPct val="0"/>
              </a:spcBef>
            </a:pPr>
            <a:r>
              <a:rPr lang="en-US" sz="1601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1921"/>
              </a:lnSpc>
              <a:spcBef>
                <a:spcPct val="0"/>
              </a:spcBef>
            </a:pPr>
            <a:endParaRPr lang="en-US" sz="1601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FF64235-1CBE-F369-29C8-1986BD6BCB3D}"/>
              </a:ext>
            </a:extLst>
          </p:cNvPr>
          <p:cNvSpPr txBox="1"/>
          <p:nvPr/>
        </p:nvSpPr>
        <p:spPr>
          <a:xfrm>
            <a:off x="2425529" y="6805426"/>
            <a:ext cx="3112691" cy="1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  <a:spcBef>
                <a:spcPct val="0"/>
              </a:spcBef>
            </a:pPr>
            <a:r>
              <a:rPr lang="en-US" sz="1065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A156E7D-1587-AF45-F784-030C6E158C44}"/>
              </a:ext>
            </a:extLst>
          </p:cNvPr>
          <p:cNvSpPr/>
          <p:nvPr/>
        </p:nvSpPr>
        <p:spPr>
          <a:xfrm>
            <a:off x="8239509" y="6439417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F95A9FDC-86C2-E3BF-8D35-A5033417D5AF}"/>
              </a:ext>
            </a:extLst>
          </p:cNvPr>
          <p:cNvSpPr/>
          <p:nvPr/>
        </p:nvSpPr>
        <p:spPr>
          <a:xfrm>
            <a:off x="0" y="64664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758F25A2-99AB-10A9-BAE9-79043463E8B6}"/>
              </a:ext>
            </a:extLst>
          </p:cNvPr>
          <p:cNvSpPr/>
          <p:nvPr/>
        </p:nvSpPr>
        <p:spPr>
          <a:xfrm flipV="1">
            <a:off x="9789" y="227073"/>
            <a:ext cx="9740424" cy="1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33A381-D7F3-68DF-31BF-D47F54AF2938}"/>
              </a:ext>
            </a:extLst>
          </p:cNvPr>
          <p:cNvSpPr txBox="1"/>
          <p:nvPr/>
        </p:nvSpPr>
        <p:spPr>
          <a:xfrm>
            <a:off x="223129" y="414908"/>
            <a:ext cx="7447438" cy="349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000" kern="100" dirty="0">
                <a:solidFill>
                  <a:srgbClr val="2F5496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</a:t>
            </a:r>
            <a:r>
              <a:rPr lang="en-US" sz="2000" kern="100" dirty="0">
                <a:solidFill>
                  <a:srgbClr val="2F549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ow to create variables in python?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Creating a variable in Python is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simple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 — you just assign a value to a name using the = sign.</a:t>
            </a:r>
          </a:p>
          <a:p>
            <a:r>
              <a:rPr lang="en-US" dirty="0" err="1">
                <a:latin typeface="Georgia" panose="02040502050405020303" pitchFamily="18" charset="0"/>
              </a:rPr>
              <a:t>variable_name</a:t>
            </a:r>
            <a:r>
              <a:rPr lang="en-US" dirty="0">
                <a:latin typeface="Georgia" panose="02040502050405020303" pitchFamily="18" charset="0"/>
              </a:rPr>
              <a:t> = value</a:t>
            </a:r>
          </a:p>
          <a:p>
            <a:r>
              <a:rPr lang="en-US" dirty="0">
                <a:latin typeface="Georgia" panose="02040502050405020303" pitchFamily="18" charset="0"/>
              </a:rPr>
              <a:t>name = "Lakshmi"       # string</a:t>
            </a:r>
          </a:p>
          <a:p>
            <a:r>
              <a:rPr lang="en-US" dirty="0">
                <a:latin typeface="Georgia" panose="02040502050405020303" pitchFamily="18" charset="0"/>
              </a:rPr>
              <a:t>age = 20               # integer</a:t>
            </a:r>
          </a:p>
          <a:p>
            <a:r>
              <a:rPr lang="en-US" dirty="0">
                <a:latin typeface="Georgia" panose="02040502050405020303" pitchFamily="18" charset="0"/>
              </a:rPr>
              <a:t>height = 5.5           # float</a:t>
            </a:r>
          </a:p>
          <a:p>
            <a:r>
              <a:rPr lang="en-US" dirty="0" err="1">
                <a:latin typeface="Georgia" panose="02040502050405020303" pitchFamily="18" charset="0"/>
              </a:rPr>
              <a:t>is_student</a:t>
            </a:r>
            <a:r>
              <a:rPr lang="en-US" dirty="0">
                <a:latin typeface="Georgia" panose="02040502050405020303" pitchFamily="18" charset="0"/>
              </a:rPr>
              <a:t> = True      # </a:t>
            </a:r>
            <a:r>
              <a:rPr lang="en-US" dirty="0" err="1">
                <a:latin typeface="Georgia" panose="02040502050405020303" pitchFamily="18" charset="0"/>
              </a:rPr>
              <a:t>boolean</a:t>
            </a:r>
            <a:endParaRPr lang="en-US" dirty="0">
              <a:latin typeface="Georgia" panose="02040502050405020303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Helavetica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lang="en-US" sz="2000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2" name="Picture 2" descr="Python Variables | A Comprehensive Guide + Examples // Unstop">
            <a:extLst>
              <a:ext uri="{FF2B5EF4-FFF2-40B4-BE49-F238E27FC236}">
                <a16:creationId xmlns:a16="http://schemas.microsoft.com/office/drawing/2014/main" id="{A17FA3B0-BE33-3AF8-DE6B-3F85D2460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282136"/>
            <a:ext cx="8382000" cy="2973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127537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958D6-A568-D788-A086-61EADE662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02867ED9-0F27-BBAA-5525-B2DFEFCC8BD4}"/>
              </a:ext>
            </a:extLst>
          </p:cNvPr>
          <p:cNvSpPr/>
          <p:nvPr/>
        </p:nvSpPr>
        <p:spPr>
          <a:xfrm>
            <a:off x="7670567" y="464327"/>
            <a:ext cx="1953631" cy="794199"/>
          </a:xfrm>
          <a:custGeom>
            <a:avLst/>
            <a:gdLst/>
            <a:ahLst/>
            <a:cxnLst/>
            <a:rect l="l" t="t" r="r" b="b"/>
            <a:pathLst>
              <a:path w="1953631" h="794199">
                <a:moveTo>
                  <a:pt x="0" y="0"/>
                </a:moveTo>
                <a:lnTo>
                  <a:pt x="1953631" y="0"/>
                </a:lnTo>
                <a:lnTo>
                  <a:pt x="1953631" y="794199"/>
                </a:lnTo>
                <a:lnTo>
                  <a:pt x="0" y="794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1C91B84-F8FF-1079-DD51-D8ED1BF98F73}"/>
              </a:ext>
            </a:extLst>
          </p:cNvPr>
          <p:cNvSpPr/>
          <p:nvPr/>
        </p:nvSpPr>
        <p:spPr>
          <a:xfrm>
            <a:off x="0" y="6439417"/>
            <a:ext cx="4976798" cy="658727"/>
          </a:xfrm>
          <a:custGeom>
            <a:avLst/>
            <a:gdLst/>
            <a:ahLst/>
            <a:cxnLst/>
            <a:rect l="l" t="t" r="r" b="b"/>
            <a:pathLst>
              <a:path w="6199781" h="658727">
                <a:moveTo>
                  <a:pt x="0" y="0"/>
                </a:moveTo>
                <a:lnTo>
                  <a:pt x="6199781" y="0"/>
                </a:lnTo>
                <a:lnTo>
                  <a:pt x="619978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57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91736B1-ACC1-E4C4-CFF6-A6E047776E8E}"/>
              </a:ext>
            </a:extLst>
          </p:cNvPr>
          <p:cNvSpPr/>
          <p:nvPr/>
        </p:nvSpPr>
        <p:spPr>
          <a:xfrm>
            <a:off x="3387" y="6439417"/>
            <a:ext cx="5353071" cy="658727"/>
          </a:xfrm>
          <a:custGeom>
            <a:avLst/>
            <a:gdLst/>
            <a:ahLst/>
            <a:cxnLst/>
            <a:rect l="l" t="t" r="r" b="b"/>
            <a:pathLst>
              <a:path w="5353071" h="658727">
                <a:moveTo>
                  <a:pt x="0" y="0"/>
                </a:moveTo>
                <a:lnTo>
                  <a:pt x="5353071" y="0"/>
                </a:lnTo>
                <a:lnTo>
                  <a:pt x="535307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817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6BD6F68-E8FE-98DC-92DB-A196FA04EDEA}"/>
              </a:ext>
            </a:extLst>
          </p:cNvPr>
          <p:cNvGrpSpPr/>
          <p:nvPr/>
        </p:nvGrpSpPr>
        <p:grpSpPr>
          <a:xfrm>
            <a:off x="2053983" y="6737627"/>
            <a:ext cx="2625995" cy="310941"/>
            <a:chOff x="0" y="0"/>
            <a:chExt cx="972591" cy="11516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8C5380F-C0F0-D552-5B83-0A4DC3E82FAA}"/>
                </a:ext>
              </a:extLst>
            </p:cNvPr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B28B133-62DD-339E-B985-541DD3F1D71F}"/>
                </a:ext>
              </a:extLst>
            </p:cNvPr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4C9ABB1E-CA1A-05A5-F338-D8B3BBCADB21}"/>
              </a:ext>
            </a:extLst>
          </p:cNvPr>
          <p:cNvSpPr/>
          <p:nvPr/>
        </p:nvSpPr>
        <p:spPr>
          <a:xfrm>
            <a:off x="2087407" y="6753204"/>
            <a:ext cx="279787" cy="279787"/>
          </a:xfrm>
          <a:custGeom>
            <a:avLst/>
            <a:gdLst/>
            <a:ahLst/>
            <a:cxnLst/>
            <a:rect l="l" t="t" r="r" b="b"/>
            <a:pathLst>
              <a:path w="279787" h="279787">
                <a:moveTo>
                  <a:pt x="0" y="0"/>
                </a:moveTo>
                <a:lnTo>
                  <a:pt x="279787" y="0"/>
                </a:lnTo>
                <a:lnTo>
                  <a:pt x="279787" y="279787"/>
                </a:lnTo>
                <a:lnTo>
                  <a:pt x="0" y="279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3FAA20B-E816-FAE7-158B-9EAA13C4934C}"/>
              </a:ext>
            </a:extLst>
          </p:cNvPr>
          <p:cNvSpPr txBox="1"/>
          <p:nvPr/>
        </p:nvSpPr>
        <p:spPr>
          <a:xfrm>
            <a:off x="2169223" y="6439417"/>
            <a:ext cx="2762250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  <a:spcBef>
                <a:spcPct val="0"/>
              </a:spcBef>
            </a:pPr>
            <a:r>
              <a:rPr lang="en-US" sz="1601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1921"/>
              </a:lnSpc>
              <a:spcBef>
                <a:spcPct val="0"/>
              </a:spcBef>
            </a:pPr>
            <a:endParaRPr lang="en-US" sz="1601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F5BC3E2-D221-C572-F4C1-A0FECE4C7F8E}"/>
              </a:ext>
            </a:extLst>
          </p:cNvPr>
          <p:cNvSpPr txBox="1"/>
          <p:nvPr/>
        </p:nvSpPr>
        <p:spPr>
          <a:xfrm>
            <a:off x="2425529" y="6805426"/>
            <a:ext cx="3112691" cy="1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  <a:spcBef>
                <a:spcPct val="0"/>
              </a:spcBef>
            </a:pPr>
            <a:r>
              <a:rPr lang="en-US" sz="1065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1E772CB-767A-3351-CDC8-B889F45673C6}"/>
              </a:ext>
            </a:extLst>
          </p:cNvPr>
          <p:cNvSpPr/>
          <p:nvPr/>
        </p:nvSpPr>
        <p:spPr>
          <a:xfrm>
            <a:off x="8239509" y="6439417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99193461-E429-F123-8D73-419208796718}"/>
              </a:ext>
            </a:extLst>
          </p:cNvPr>
          <p:cNvSpPr/>
          <p:nvPr/>
        </p:nvSpPr>
        <p:spPr>
          <a:xfrm>
            <a:off x="0" y="64664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E6715A58-3232-91FA-D6DB-5DE3A75CFB35}"/>
              </a:ext>
            </a:extLst>
          </p:cNvPr>
          <p:cNvSpPr/>
          <p:nvPr/>
        </p:nvSpPr>
        <p:spPr>
          <a:xfrm flipV="1">
            <a:off x="9789" y="227073"/>
            <a:ext cx="9740424" cy="1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69F150-64E2-4035-2763-F1E889EA7BBD}"/>
              </a:ext>
            </a:extLst>
          </p:cNvPr>
          <p:cNvSpPr txBox="1"/>
          <p:nvPr/>
        </p:nvSpPr>
        <p:spPr>
          <a:xfrm>
            <a:off x="99998" y="525284"/>
            <a:ext cx="4913586" cy="5011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Rules for Naming Variables: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1.Must start with a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letter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 or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underscore (_)</a:t>
            </a:r>
            <a:br>
              <a:rPr lang="en-US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 name, _value</a:t>
            </a:r>
            <a:br>
              <a:rPr lang="en-US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 1name (invalid)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2.Can contain letters, numbers, and underscores</a:t>
            </a:r>
            <a:br>
              <a:rPr lang="en-US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 student_1,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total_marks</a:t>
            </a:r>
            <a:endParaRPr lang="en-US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3.Case-sensitive: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Name and name are different variables</a:t>
            </a:r>
          </a:p>
          <a:p>
            <a:r>
              <a:rPr lang="en-IN" sz="2000" b="1" kern="100" dirty="0">
                <a:latin typeface="Georgia" panose="02040502050405020303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Georgia" panose="02040502050405020303" pitchFamily="18" charset="0"/>
              </a:rPr>
              <a:t> INPUT:</a:t>
            </a:r>
          </a:p>
          <a:p>
            <a:r>
              <a:rPr lang="en-US" dirty="0">
                <a:latin typeface="Georgia" panose="02040502050405020303" pitchFamily="18" charset="0"/>
              </a:rPr>
              <a:t>   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Georgia" panose="02040502050405020303" pitchFamily="18" charset="0"/>
              </a:rPr>
              <a:t>name = "Gokula"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Georgia" panose="02040502050405020303" pitchFamily="18" charset="0"/>
              </a:rPr>
              <a:t>age = 22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Georgia" panose="02040502050405020303" pitchFamily="18" charset="0"/>
              </a:rPr>
              <a:t>height = 5.8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Georgia" panose="02040502050405020303" pitchFamily="18" charset="0"/>
              </a:rPr>
              <a:t>print("Name:", name)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Georgia" panose="02040502050405020303" pitchFamily="18" charset="0"/>
              </a:rPr>
              <a:t>print("Age:", age)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Georgia" panose="02040502050405020303" pitchFamily="18" charset="0"/>
              </a:rPr>
              <a:t>print("Height:", height)</a:t>
            </a:r>
            <a:endParaRPr lang="en-IN" sz="2000" kern="100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Georgia" panose="02040502050405020303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127DDB-3A58-77FA-F3B1-0FFFFF7B5454}"/>
              </a:ext>
            </a:extLst>
          </p:cNvPr>
          <p:cNvSpPr txBox="1"/>
          <p:nvPr/>
        </p:nvSpPr>
        <p:spPr>
          <a:xfrm>
            <a:off x="2216574" y="3423286"/>
            <a:ext cx="3752193" cy="1653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solidFill>
                  <a:srgbClr val="0C0C0C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OUTPUT: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sz="1800" kern="100" dirty="0">
                <a:solidFill>
                  <a:srgbClr val="002060"/>
                </a:solidFill>
                <a:effectLst/>
                <a:latin typeface="Georgia" panose="02040502050405020303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Name: Gokula</a:t>
            </a:r>
            <a:endParaRPr lang="en-US" sz="1600" kern="100" dirty="0"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 indent="62230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solidFill>
                  <a:srgbClr val="002060"/>
                </a:solidFill>
                <a:effectLst/>
                <a:latin typeface="Georgia" panose="02040502050405020303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Age: 22</a:t>
            </a:r>
            <a:endParaRPr lang="en-US" sz="1600" kern="100" dirty="0"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 indent="62230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solidFill>
                  <a:srgbClr val="002060"/>
                </a:solidFill>
                <a:effectLst/>
                <a:latin typeface="Georgia" panose="02040502050405020303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Height: 5.8</a:t>
            </a:r>
            <a:endParaRPr lang="en-US" sz="1600" kern="100" dirty="0"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10" name="Picture 2" descr="What are the rules for defining a VARIABLE name in Python​ - Brainly.in">
            <a:extLst>
              <a:ext uri="{FF2B5EF4-FFF2-40B4-BE49-F238E27FC236}">
                <a16:creationId xmlns:a16="http://schemas.microsoft.com/office/drawing/2014/main" id="{A43D3DF0-2077-0215-542B-26437EE43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7401" y="2892598"/>
            <a:ext cx="4976797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177427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FB377-2FEB-0468-A4D2-EABB02294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6A0F34B-F37A-4451-F7DA-19D348E48B71}"/>
              </a:ext>
            </a:extLst>
          </p:cNvPr>
          <p:cNvSpPr/>
          <p:nvPr/>
        </p:nvSpPr>
        <p:spPr>
          <a:xfrm>
            <a:off x="7670567" y="464327"/>
            <a:ext cx="1953631" cy="794199"/>
          </a:xfrm>
          <a:custGeom>
            <a:avLst/>
            <a:gdLst/>
            <a:ahLst/>
            <a:cxnLst/>
            <a:rect l="l" t="t" r="r" b="b"/>
            <a:pathLst>
              <a:path w="1953631" h="794199">
                <a:moveTo>
                  <a:pt x="0" y="0"/>
                </a:moveTo>
                <a:lnTo>
                  <a:pt x="1953631" y="0"/>
                </a:lnTo>
                <a:lnTo>
                  <a:pt x="1953631" y="794199"/>
                </a:lnTo>
                <a:lnTo>
                  <a:pt x="0" y="794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900CD02-D0C1-3CF2-D5C3-C26CB01A3DD8}"/>
              </a:ext>
            </a:extLst>
          </p:cNvPr>
          <p:cNvSpPr/>
          <p:nvPr/>
        </p:nvSpPr>
        <p:spPr>
          <a:xfrm>
            <a:off x="0" y="6439417"/>
            <a:ext cx="4976798" cy="658727"/>
          </a:xfrm>
          <a:custGeom>
            <a:avLst/>
            <a:gdLst/>
            <a:ahLst/>
            <a:cxnLst/>
            <a:rect l="l" t="t" r="r" b="b"/>
            <a:pathLst>
              <a:path w="6199781" h="658727">
                <a:moveTo>
                  <a:pt x="0" y="0"/>
                </a:moveTo>
                <a:lnTo>
                  <a:pt x="6199781" y="0"/>
                </a:lnTo>
                <a:lnTo>
                  <a:pt x="619978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57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18C27F0-9BEA-9A55-0FB6-C0218F5FAFE0}"/>
              </a:ext>
            </a:extLst>
          </p:cNvPr>
          <p:cNvSpPr/>
          <p:nvPr/>
        </p:nvSpPr>
        <p:spPr>
          <a:xfrm>
            <a:off x="3387" y="6439417"/>
            <a:ext cx="5353071" cy="658727"/>
          </a:xfrm>
          <a:custGeom>
            <a:avLst/>
            <a:gdLst/>
            <a:ahLst/>
            <a:cxnLst/>
            <a:rect l="l" t="t" r="r" b="b"/>
            <a:pathLst>
              <a:path w="5353071" h="658727">
                <a:moveTo>
                  <a:pt x="0" y="0"/>
                </a:moveTo>
                <a:lnTo>
                  <a:pt x="5353071" y="0"/>
                </a:lnTo>
                <a:lnTo>
                  <a:pt x="535307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817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63B4A0B-ECDD-CDC1-FBFF-9D5D72EF42FF}"/>
              </a:ext>
            </a:extLst>
          </p:cNvPr>
          <p:cNvGrpSpPr/>
          <p:nvPr/>
        </p:nvGrpSpPr>
        <p:grpSpPr>
          <a:xfrm>
            <a:off x="2053983" y="6737627"/>
            <a:ext cx="2625995" cy="310941"/>
            <a:chOff x="0" y="0"/>
            <a:chExt cx="972591" cy="11516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6B4E8CD-8F20-7F13-B662-DC63B92B21E4}"/>
                </a:ext>
              </a:extLst>
            </p:cNvPr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0586EB7-87C8-D2F4-8E2A-B7F35F5D70DB}"/>
                </a:ext>
              </a:extLst>
            </p:cNvPr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DE97B0CF-61FC-2AAC-A635-F1D35D4AB05B}"/>
              </a:ext>
            </a:extLst>
          </p:cNvPr>
          <p:cNvSpPr/>
          <p:nvPr/>
        </p:nvSpPr>
        <p:spPr>
          <a:xfrm>
            <a:off x="2087407" y="6753204"/>
            <a:ext cx="279787" cy="279787"/>
          </a:xfrm>
          <a:custGeom>
            <a:avLst/>
            <a:gdLst/>
            <a:ahLst/>
            <a:cxnLst/>
            <a:rect l="l" t="t" r="r" b="b"/>
            <a:pathLst>
              <a:path w="279787" h="279787">
                <a:moveTo>
                  <a:pt x="0" y="0"/>
                </a:moveTo>
                <a:lnTo>
                  <a:pt x="279787" y="0"/>
                </a:lnTo>
                <a:lnTo>
                  <a:pt x="279787" y="279787"/>
                </a:lnTo>
                <a:lnTo>
                  <a:pt x="0" y="279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B7AAC6E-D22D-C982-6C19-65DB157501FC}"/>
              </a:ext>
            </a:extLst>
          </p:cNvPr>
          <p:cNvSpPr txBox="1"/>
          <p:nvPr/>
        </p:nvSpPr>
        <p:spPr>
          <a:xfrm>
            <a:off x="2169223" y="6439417"/>
            <a:ext cx="2762250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  <a:spcBef>
                <a:spcPct val="0"/>
              </a:spcBef>
            </a:pPr>
            <a:r>
              <a:rPr lang="en-US" sz="1601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1921"/>
              </a:lnSpc>
              <a:spcBef>
                <a:spcPct val="0"/>
              </a:spcBef>
            </a:pPr>
            <a:endParaRPr lang="en-US" sz="1601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932322D-6DEA-FB1E-EFB9-C1ACB76B63F5}"/>
              </a:ext>
            </a:extLst>
          </p:cNvPr>
          <p:cNvSpPr txBox="1"/>
          <p:nvPr/>
        </p:nvSpPr>
        <p:spPr>
          <a:xfrm>
            <a:off x="2425529" y="6805426"/>
            <a:ext cx="3112691" cy="1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  <a:spcBef>
                <a:spcPct val="0"/>
              </a:spcBef>
            </a:pPr>
            <a:r>
              <a:rPr lang="en-US" sz="1065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6A2EA1F-43F9-06CE-6D43-62D56B8954D6}"/>
              </a:ext>
            </a:extLst>
          </p:cNvPr>
          <p:cNvSpPr/>
          <p:nvPr/>
        </p:nvSpPr>
        <p:spPr>
          <a:xfrm>
            <a:off x="8239509" y="6439417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C956EAF7-2AAE-1F8A-0A40-51B7934E5F0F}"/>
              </a:ext>
            </a:extLst>
          </p:cNvPr>
          <p:cNvSpPr/>
          <p:nvPr/>
        </p:nvSpPr>
        <p:spPr>
          <a:xfrm>
            <a:off x="0" y="64664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8B37C324-6276-9E54-9D0E-6B2C97D85CBB}"/>
              </a:ext>
            </a:extLst>
          </p:cNvPr>
          <p:cNvSpPr/>
          <p:nvPr/>
        </p:nvSpPr>
        <p:spPr>
          <a:xfrm flipV="1">
            <a:off x="9789" y="227073"/>
            <a:ext cx="9740424" cy="1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986ED7-77D3-E7C8-5B84-FD0E6A4A8B06}"/>
              </a:ext>
            </a:extLst>
          </p:cNvPr>
          <p:cNvSpPr txBox="1"/>
          <p:nvPr/>
        </p:nvSpPr>
        <p:spPr>
          <a:xfrm>
            <a:off x="63212" y="382016"/>
            <a:ext cx="7251988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solidFill>
                  <a:srgbClr val="2F5496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sz="2000" kern="10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ow to assign multiple variables and global variables in python?</a:t>
            </a:r>
            <a:endParaRPr lang="en-US" sz="20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DC8289-0D13-5324-2E33-D100E0783EB2}"/>
              </a:ext>
            </a:extLst>
          </p:cNvPr>
          <p:cNvSpPr txBox="1"/>
          <p:nvPr/>
        </p:nvSpPr>
        <p:spPr>
          <a:xfrm>
            <a:off x="223128" y="807517"/>
            <a:ext cx="7251987" cy="644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600" b="1" kern="100" dirty="0">
                <a:solidFill>
                  <a:srgbClr val="2F5496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600" b="1" kern="10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ea typeface="等线 Light" panose="02010600030101010101" pitchFamily="2" charset="-122"/>
                <a:cs typeface="Arial" panose="020B0604020202020204" pitchFamily="34" charset="0"/>
              </a:rPr>
              <a:t>Assigning Multiple Variables -You can assign values to multiple variables in a single line.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74FD7F-016F-A738-4F85-3F586E9D47CE}"/>
              </a:ext>
            </a:extLst>
          </p:cNvPr>
          <p:cNvSpPr txBox="1"/>
          <p:nvPr/>
        </p:nvSpPr>
        <p:spPr>
          <a:xfrm>
            <a:off x="150911" y="1711022"/>
            <a:ext cx="4913586" cy="5633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Assigning different values</a:t>
            </a:r>
            <a:endParaRPr lang="en-US" sz="1600" kern="100" dirty="0">
              <a:effectLst/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a, b, c = 10, 20, 30</a:t>
            </a:r>
          </a:p>
          <a:p>
            <a:r>
              <a:rPr lang="en-US" dirty="0"/>
              <a:t> Assigning same value to multiple variables</a:t>
            </a:r>
          </a:p>
          <a:p>
            <a:r>
              <a:rPr lang="en-US" dirty="0"/>
              <a:t>            x = y = z = 100</a:t>
            </a:r>
          </a:p>
          <a:p>
            <a:r>
              <a:rPr lang="en-US" dirty="0"/>
              <a:t>             print(a, b, c)  # Output: 10 20 30</a:t>
            </a:r>
          </a:p>
          <a:p>
            <a:r>
              <a:rPr lang="en-US" dirty="0"/>
              <a:t>             print(x, y, z)  # Output: 100 100 100</a:t>
            </a:r>
          </a:p>
          <a:p>
            <a:endParaRPr lang="en-US" b="1" dirty="0"/>
          </a:p>
          <a:p>
            <a:r>
              <a:rPr lang="en-US" b="1" dirty="0"/>
              <a:t>Global Variables in Python - A global variable is declared outside any function and can be used anywhere in the program.</a:t>
            </a:r>
          </a:p>
          <a:p>
            <a:endParaRPr lang="en-US" dirty="0"/>
          </a:p>
          <a:p>
            <a:r>
              <a:rPr lang="en-US" dirty="0"/>
              <a:t> Global variable</a:t>
            </a:r>
          </a:p>
          <a:p>
            <a:r>
              <a:rPr lang="en-US" dirty="0"/>
              <a:t>message = "Hello from outside!"</a:t>
            </a:r>
          </a:p>
          <a:p>
            <a:r>
              <a:rPr lang="en-US" dirty="0"/>
              <a:t>def greet():</a:t>
            </a:r>
          </a:p>
          <a:p>
            <a:r>
              <a:rPr lang="en-US" dirty="0"/>
              <a:t>    print(message)  # Accessing global variable</a:t>
            </a:r>
          </a:p>
          <a:p>
            <a:r>
              <a:rPr lang="en-US" dirty="0"/>
              <a:t>greet()  # Output: Hello from outside!</a:t>
            </a:r>
          </a:p>
          <a:p>
            <a:endParaRPr lang="en-US" dirty="0"/>
          </a:p>
          <a:p>
            <a:r>
              <a:rPr lang="en-US" dirty="0"/>
              <a:t>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1026" name="Picture 2" descr="Python November 28, Unit 9+. Local and Global Variables There are two main  types of variables in Python: local and global –The explanation of local  and. - ppt download">
            <a:extLst>
              <a:ext uri="{FF2B5EF4-FFF2-40B4-BE49-F238E27FC236}">
                <a16:creationId xmlns:a16="http://schemas.microsoft.com/office/drawing/2014/main" id="{B236EFD3-662C-FA34-02E6-60FFF524B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497" y="2142186"/>
            <a:ext cx="4370737" cy="2936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0703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D9836-A0B7-7F9B-5904-730D00A7B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0E79497E-0065-28A3-6B14-886F6F67BFED}"/>
              </a:ext>
            </a:extLst>
          </p:cNvPr>
          <p:cNvSpPr/>
          <p:nvPr/>
        </p:nvSpPr>
        <p:spPr>
          <a:xfrm>
            <a:off x="7670567" y="464327"/>
            <a:ext cx="1953631" cy="794199"/>
          </a:xfrm>
          <a:custGeom>
            <a:avLst/>
            <a:gdLst/>
            <a:ahLst/>
            <a:cxnLst/>
            <a:rect l="l" t="t" r="r" b="b"/>
            <a:pathLst>
              <a:path w="1953631" h="794199">
                <a:moveTo>
                  <a:pt x="0" y="0"/>
                </a:moveTo>
                <a:lnTo>
                  <a:pt x="1953631" y="0"/>
                </a:lnTo>
                <a:lnTo>
                  <a:pt x="1953631" y="794199"/>
                </a:lnTo>
                <a:lnTo>
                  <a:pt x="0" y="794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142DCD6-5B90-F65C-B654-69446882B16A}"/>
              </a:ext>
            </a:extLst>
          </p:cNvPr>
          <p:cNvSpPr/>
          <p:nvPr/>
        </p:nvSpPr>
        <p:spPr>
          <a:xfrm>
            <a:off x="0" y="6439417"/>
            <a:ext cx="4976798" cy="658727"/>
          </a:xfrm>
          <a:custGeom>
            <a:avLst/>
            <a:gdLst/>
            <a:ahLst/>
            <a:cxnLst/>
            <a:rect l="l" t="t" r="r" b="b"/>
            <a:pathLst>
              <a:path w="6199781" h="658727">
                <a:moveTo>
                  <a:pt x="0" y="0"/>
                </a:moveTo>
                <a:lnTo>
                  <a:pt x="6199781" y="0"/>
                </a:lnTo>
                <a:lnTo>
                  <a:pt x="619978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57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59AF1BE-89B4-A647-2E09-C00D96AEF3E9}"/>
              </a:ext>
            </a:extLst>
          </p:cNvPr>
          <p:cNvSpPr/>
          <p:nvPr/>
        </p:nvSpPr>
        <p:spPr>
          <a:xfrm>
            <a:off x="3387" y="6439417"/>
            <a:ext cx="5353071" cy="658727"/>
          </a:xfrm>
          <a:custGeom>
            <a:avLst/>
            <a:gdLst/>
            <a:ahLst/>
            <a:cxnLst/>
            <a:rect l="l" t="t" r="r" b="b"/>
            <a:pathLst>
              <a:path w="5353071" h="658727">
                <a:moveTo>
                  <a:pt x="0" y="0"/>
                </a:moveTo>
                <a:lnTo>
                  <a:pt x="5353071" y="0"/>
                </a:lnTo>
                <a:lnTo>
                  <a:pt x="535307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817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404B74F-581E-5F06-8613-DD8E87D38715}"/>
              </a:ext>
            </a:extLst>
          </p:cNvPr>
          <p:cNvGrpSpPr/>
          <p:nvPr/>
        </p:nvGrpSpPr>
        <p:grpSpPr>
          <a:xfrm>
            <a:off x="2053983" y="6737627"/>
            <a:ext cx="2625995" cy="310941"/>
            <a:chOff x="0" y="0"/>
            <a:chExt cx="972591" cy="11516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CF3213F-F5C2-CB31-402F-C50EAAC76CDB}"/>
                </a:ext>
              </a:extLst>
            </p:cNvPr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290346D-AE3D-4DBB-D4F7-99C3FBBC7E01}"/>
                </a:ext>
              </a:extLst>
            </p:cNvPr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91DF65C8-4D7F-C4CD-172E-3114FFB56596}"/>
              </a:ext>
            </a:extLst>
          </p:cNvPr>
          <p:cNvSpPr/>
          <p:nvPr/>
        </p:nvSpPr>
        <p:spPr>
          <a:xfrm>
            <a:off x="2087407" y="6753204"/>
            <a:ext cx="279787" cy="279787"/>
          </a:xfrm>
          <a:custGeom>
            <a:avLst/>
            <a:gdLst/>
            <a:ahLst/>
            <a:cxnLst/>
            <a:rect l="l" t="t" r="r" b="b"/>
            <a:pathLst>
              <a:path w="279787" h="279787">
                <a:moveTo>
                  <a:pt x="0" y="0"/>
                </a:moveTo>
                <a:lnTo>
                  <a:pt x="279787" y="0"/>
                </a:lnTo>
                <a:lnTo>
                  <a:pt x="279787" y="279787"/>
                </a:lnTo>
                <a:lnTo>
                  <a:pt x="0" y="279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F310FFE-B23C-E99F-1DDE-21B643E5C087}"/>
              </a:ext>
            </a:extLst>
          </p:cNvPr>
          <p:cNvSpPr txBox="1"/>
          <p:nvPr/>
        </p:nvSpPr>
        <p:spPr>
          <a:xfrm>
            <a:off x="2169223" y="6439417"/>
            <a:ext cx="2762250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  <a:spcBef>
                <a:spcPct val="0"/>
              </a:spcBef>
            </a:pPr>
            <a:r>
              <a:rPr lang="en-US" sz="1601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1921"/>
              </a:lnSpc>
              <a:spcBef>
                <a:spcPct val="0"/>
              </a:spcBef>
            </a:pPr>
            <a:endParaRPr lang="en-US" sz="1601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7EAF9B0-B7E6-8392-6E69-417A50E60B6B}"/>
              </a:ext>
            </a:extLst>
          </p:cNvPr>
          <p:cNvSpPr txBox="1"/>
          <p:nvPr/>
        </p:nvSpPr>
        <p:spPr>
          <a:xfrm>
            <a:off x="2425529" y="6805426"/>
            <a:ext cx="3112691" cy="1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  <a:spcBef>
                <a:spcPct val="0"/>
              </a:spcBef>
            </a:pPr>
            <a:r>
              <a:rPr lang="en-US" sz="1065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3D6069F-59BD-8827-17C7-2C93C0EEFAB6}"/>
              </a:ext>
            </a:extLst>
          </p:cNvPr>
          <p:cNvSpPr/>
          <p:nvPr/>
        </p:nvSpPr>
        <p:spPr>
          <a:xfrm>
            <a:off x="8239509" y="6439417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E0FB28D9-BC41-ABD4-0EF8-8FAC4DB5A901}"/>
              </a:ext>
            </a:extLst>
          </p:cNvPr>
          <p:cNvSpPr/>
          <p:nvPr/>
        </p:nvSpPr>
        <p:spPr>
          <a:xfrm>
            <a:off x="0" y="64664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B90553A4-487E-DA65-4973-D133F8801E41}"/>
              </a:ext>
            </a:extLst>
          </p:cNvPr>
          <p:cNvSpPr/>
          <p:nvPr/>
        </p:nvSpPr>
        <p:spPr>
          <a:xfrm flipV="1">
            <a:off x="9789" y="227073"/>
            <a:ext cx="9740424" cy="1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003DE1-FBF3-7E70-4FFE-BA739D6094A0}"/>
              </a:ext>
            </a:extLst>
          </p:cNvPr>
          <p:cNvSpPr txBox="1"/>
          <p:nvPr/>
        </p:nvSpPr>
        <p:spPr>
          <a:xfrm>
            <a:off x="87117" y="326549"/>
            <a:ext cx="7251987" cy="6574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2000" dirty="0"/>
              <a:t>Explain the data types with examples in python?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b="1" dirty="0">
                <a:solidFill>
                  <a:srgbClr val="582C4F"/>
                </a:solidFill>
                <a:latin typeface="Georgia" panose="02040502050405020303" pitchFamily="18" charset="0"/>
              </a:rPr>
              <a:t>Integer (int) - Represents whole numbers (no decimals).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b="1" dirty="0">
                <a:solidFill>
                  <a:srgbClr val="582C4F"/>
                </a:solidFill>
                <a:latin typeface="Georgia" panose="02040502050405020303" pitchFamily="18" charset="0"/>
              </a:rPr>
              <a:t>Float (float) - Represents decimal numbers.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b="1" dirty="0">
                <a:solidFill>
                  <a:srgbClr val="582C4F"/>
                </a:solidFill>
                <a:latin typeface="Georgia" panose="02040502050405020303" pitchFamily="18" charset="0"/>
              </a:rPr>
              <a:t>String (str) - Represents text data, enclosed in ' ' or " 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b="1" dirty="0">
                <a:solidFill>
                  <a:srgbClr val="582C4F"/>
                </a:solidFill>
                <a:latin typeface="Georgia" panose="02040502050405020303" pitchFamily="18" charset="0"/>
              </a:rPr>
              <a:t>Boolean (bool) - Represents True or False values.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b="1" dirty="0">
                <a:solidFill>
                  <a:srgbClr val="582C4F"/>
                </a:solidFill>
                <a:latin typeface="Georgia" panose="02040502050405020303" pitchFamily="18" charset="0"/>
              </a:rPr>
              <a:t>List (list) - Represents a collection of values that is ordered and changeable.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b="1" dirty="0">
                <a:solidFill>
                  <a:srgbClr val="582C4F"/>
                </a:solidFill>
                <a:latin typeface="Georgia" panose="02040502050405020303" pitchFamily="18" charset="0"/>
              </a:rPr>
              <a:t>Tuple (tuple) - Represents a collection that is ordered and unchangeable (immutable)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b="1" dirty="0">
                <a:solidFill>
                  <a:srgbClr val="582C4F"/>
                </a:solidFill>
                <a:latin typeface="Georgia" panose="02040502050405020303" pitchFamily="18" charset="0"/>
              </a:rPr>
              <a:t>Dictionary (</a:t>
            </a:r>
            <a:r>
              <a:rPr lang="en-US" b="1" dirty="0" err="1">
                <a:solidFill>
                  <a:srgbClr val="582C4F"/>
                </a:solidFill>
                <a:latin typeface="Georgia" panose="02040502050405020303" pitchFamily="18" charset="0"/>
              </a:rPr>
              <a:t>dict</a:t>
            </a:r>
            <a:r>
              <a:rPr lang="en-US" b="1" dirty="0">
                <a:solidFill>
                  <a:srgbClr val="582C4F"/>
                </a:solidFill>
                <a:latin typeface="Georgia" panose="02040502050405020303" pitchFamily="18" charset="0"/>
              </a:rPr>
              <a:t>) - Represents data in key-value pairs.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b="1" dirty="0">
                <a:solidFill>
                  <a:srgbClr val="582C4F"/>
                </a:solidFill>
                <a:latin typeface="Georgia" panose="02040502050405020303" pitchFamily="18" charset="0"/>
              </a:rPr>
              <a:t>Set (set) - Represents a collection of unique items, unordered.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endParaRPr lang="en-US" b="1" dirty="0"/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endParaRPr lang="en-US" sz="2000" dirty="0"/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endParaRPr lang="en-US" sz="1600" b="1" kern="100" dirty="0">
              <a:solidFill>
                <a:schemeClr val="accent2">
                  <a:lumMod val="75000"/>
                </a:schemeClr>
              </a:solidFill>
              <a:effectLst/>
              <a:latin typeface="Arial" panose="020B0604020202020204" pitchFamily="34" charset="0"/>
              <a:ea typeface="等线 Light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6055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F622A-6CDC-CBBE-84C3-8A048C1ED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8816DB40-DA52-6352-214E-080FAD9E7331}"/>
              </a:ext>
            </a:extLst>
          </p:cNvPr>
          <p:cNvSpPr/>
          <p:nvPr/>
        </p:nvSpPr>
        <p:spPr>
          <a:xfrm>
            <a:off x="7670567" y="464327"/>
            <a:ext cx="1953631" cy="794199"/>
          </a:xfrm>
          <a:custGeom>
            <a:avLst/>
            <a:gdLst/>
            <a:ahLst/>
            <a:cxnLst/>
            <a:rect l="l" t="t" r="r" b="b"/>
            <a:pathLst>
              <a:path w="1953631" h="794199">
                <a:moveTo>
                  <a:pt x="0" y="0"/>
                </a:moveTo>
                <a:lnTo>
                  <a:pt x="1953631" y="0"/>
                </a:lnTo>
                <a:lnTo>
                  <a:pt x="1953631" y="794199"/>
                </a:lnTo>
                <a:lnTo>
                  <a:pt x="0" y="794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2F6BBED-2663-6F74-F699-6905D26A3CCF}"/>
              </a:ext>
            </a:extLst>
          </p:cNvPr>
          <p:cNvSpPr/>
          <p:nvPr/>
        </p:nvSpPr>
        <p:spPr>
          <a:xfrm>
            <a:off x="0" y="6439417"/>
            <a:ext cx="4976798" cy="658727"/>
          </a:xfrm>
          <a:custGeom>
            <a:avLst/>
            <a:gdLst/>
            <a:ahLst/>
            <a:cxnLst/>
            <a:rect l="l" t="t" r="r" b="b"/>
            <a:pathLst>
              <a:path w="6199781" h="658727">
                <a:moveTo>
                  <a:pt x="0" y="0"/>
                </a:moveTo>
                <a:lnTo>
                  <a:pt x="6199781" y="0"/>
                </a:lnTo>
                <a:lnTo>
                  <a:pt x="619978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57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189830F-67CF-4565-79EC-9DD5FB6BD0FC}"/>
              </a:ext>
            </a:extLst>
          </p:cNvPr>
          <p:cNvSpPr/>
          <p:nvPr/>
        </p:nvSpPr>
        <p:spPr>
          <a:xfrm>
            <a:off x="3387" y="6439417"/>
            <a:ext cx="5353071" cy="658727"/>
          </a:xfrm>
          <a:custGeom>
            <a:avLst/>
            <a:gdLst/>
            <a:ahLst/>
            <a:cxnLst/>
            <a:rect l="l" t="t" r="r" b="b"/>
            <a:pathLst>
              <a:path w="5353071" h="658727">
                <a:moveTo>
                  <a:pt x="0" y="0"/>
                </a:moveTo>
                <a:lnTo>
                  <a:pt x="5353071" y="0"/>
                </a:lnTo>
                <a:lnTo>
                  <a:pt x="535307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817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C7DBDE6-6BE6-6850-0835-0F57E44CC069}"/>
              </a:ext>
            </a:extLst>
          </p:cNvPr>
          <p:cNvGrpSpPr/>
          <p:nvPr/>
        </p:nvGrpSpPr>
        <p:grpSpPr>
          <a:xfrm>
            <a:off x="2053983" y="6737627"/>
            <a:ext cx="2625995" cy="310941"/>
            <a:chOff x="0" y="0"/>
            <a:chExt cx="972591" cy="11516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13ABEC0-1194-04FD-A377-83691A2383ED}"/>
                </a:ext>
              </a:extLst>
            </p:cNvPr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1CF3374-B41A-39B8-F9EE-9401BFD7A01C}"/>
                </a:ext>
              </a:extLst>
            </p:cNvPr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24FFE914-2283-8AA3-6A4C-513BD8B9003E}"/>
              </a:ext>
            </a:extLst>
          </p:cNvPr>
          <p:cNvSpPr/>
          <p:nvPr/>
        </p:nvSpPr>
        <p:spPr>
          <a:xfrm>
            <a:off x="2087407" y="6753204"/>
            <a:ext cx="279787" cy="279787"/>
          </a:xfrm>
          <a:custGeom>
            <a:avLst/>
            <a:gdLst/>
            <a:ahLst/>
            <a:cxnLst/>
            <a:rect l="l" t="t" r="r" b="b"/>
            <a:pathLst>
              <a:path w="279787" h="279787">
                <a:moveTo>
                  <a:pt x="0" y="0"/>
                </a:moveTo>
                <a:lnTo>
                  <a:pt x="279787" y="0"/>
                </a:lnTo>
                <a:lnTo>
                  <a:pt x="279787" y="279787"/>
                </a:lnTo>
                <a:lnTo>
                  <a:pt x="0" y="279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EFD629C-2D36-9782-860D-41B02C06D227}"/>
              </a:ext>
            </a:extLst>
          </p:cNvPr>
          <p:cNvSpPr txBox="1"/>
          <p:nvPr/>
        </p:nvSpPr>
        <p:spPr>
          <a:xfrm>
            <a:off x="2169223" y="6439417"/>
            <a:ext cx="2762250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  <a:spcBef>
                <a:spcPct val="0"/>
              </a:spcBef>
            </a:pPr>
            <a:r>
              <a:rPr lang="en-US" sz="1601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1921"/>
              </a:lnSpc>
              <a:spcBef>
                <a:spcPct val="0"/>
              </a:spcBef>
            </a:pPr>
            <a:endParaRPr lang="en-US" sz="1601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2225083-A2FA-1DC3-24EC-B76EE9136D41}"/>
              </a:ext>
            </a:extLst>
          </p:cNvPr>
          <p:cNvSpPr txBox="1"/>
          <p:nvPr/>
        </p:nvSpPr>
        <p:spPr>
          <a:xfrm>
            <a:off x="2425529" y="6805426"/>
            <a:ext cx="3112691" cy="1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  <a:spcBef>
                <a:spcPct val="0"/>
              </a:spcBef>
            </a:pPr>
            <a:r>
              <a:rPr lang="en-US" sz="1065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FCEE8A7-ADF6-E030-016D-BB05D3EDCA66}"/>
              </a:ext>
            </a:extLst>
          </p:cNvPr>
          <p:cNvSpPr/>
          <p:nvPr/>
        </p:nvSpPr>
        <p:spPr>
          <a:xfrm>
            <a:off x="8239509" y="6439417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D4D1A43E-CF01-FDA1-7180-26A3B629297B}"/>
              </a:ext>
            </a:extLst>
          </p:cNvPr>
          <p:cNvSpPr/>
          <p:nvPr/>
        </p:nvSpPr>
        <p:spPr>
          <a:xfrm>
            <a:off x="0" y="64664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23982157-C02B-2D35-8A47-088E79530481}"/>
              </a:ext>
            </a:extLst>
          </p:cNvPr>
          <p:cNvSpPr/>
          <p:nvPr/>
        </p:nvSpPr>
        <p:spPr>
          <a:xfrm flipV="1">
            <a:off x="9789" y="227073"/>
            <a:ext cx="9740424" cy="1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C94F55-8426-6CD9-25EF-B58FEA3FEA04}"/>
              </a:ext>
            </a:extLst>
          </p:cNvPr>
          <p:cNvSpPr txBox="1"/>
          <p:nvPr/>
        </p:nvSpPr>
        <p:spPr>
          <a:xfrm>
            <a:off x="87117" y="326549"/>
            <a:ext cx="7913883" cy="1535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2000" dirty="0"/>
              <a:t>What is conditional statements in python and explain them with example?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dirty="0">
                <a:latin typeface="Bahnschrift SemiBold" panose="020B0502040204020203" pitchFamily="34" charset="0"/>
              </a:rPr>
              <a:t>A </a:t>
            </a:r>
            <a:r>
              <a:rPr lang="en-US" b="1" dirty="0">
                <a:latin typeface="Bahnschrift SemiBold" panose="020B0502040204020203" pitchFamily="34" charset="0"/>
              </a:rPr>
              <a:t>conditional statement</a:t>
            </a:r>
            <a:r>
              <a:rPr lang="en-US" dirty="0">
                <a:latin typeface="Bahnschrift SemiBold" panose="020B0502040204020203" pitchFamily="34" charset="0"/>
              </a:rPr>
              <a:t> in Python is used to perform </a:t>
            </a:r>
            <a:r>
              <a:rPr lang="en-US" b="1" dirty="0">
                <a:latin typeface="Bahnschrift SemiBold" panose="020B0502040204020203" pitchFamily="34" charset="0"/>
              </a:rPr>
              <a:t>decision-making</a:t>
            </a:r>
            <a:r>
              <a:rPr lang="en-US" dirty="0">
                <a:latin typeface="Bahnschrift SemiBold" panose="020B0502040204020203" pitchFamily="34" charset="0"/>
              </a:rPr>
              <a:t> in a program. It allows your code to execute certain blocks only </a:t>
            </a:r>
            <a:r>
              <a:rPr lang="en-US" b="1" dirty="0">
                <a:latin typeface="Bahnschrift SemiBold" panose="020B0502040204020203" pitchFamily="34" charset="0"/>
              </a:rPr>
              <a:t>if a specific condition is true</a:t>
            </a:r>
            <a:r>
              <a:rPr lang="en-US" dirty="0">
                <a:latin typeface="Bahnschrift SemiBold" panose="020B0502040204020203" pitchFamily="34" charset="0"/>
              </a:rPr>
              <a:t>.</a:t>
            </a:r>
            <a:endParaRPr lang="en-US" b="1" kern="100" dirty="0">
              <a:solidFill>
                <a:schemeClr val="accent2">
                  <a:lumMod val="75000"/>
                </a:schemeClr>
              </a:solidFill>
              <a:effectLst/>
              <a:latin typeface="Bahnschrift SemiBold" panose="020B0502040204020203" pitchFamily="34" charset="0"/>
              <a:ea typeface="等线 Light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" name="AutoShape 7" descr="Python if Statement (With Step-By-Step Video Tutorial)">
            <a:extLst>
              <a:ext uri="{FF2B5EF4-FFF2-40B4-BE49-F238E27FC236}">
                <a16:creationId xmlns:a16="http://schemas.microsoft.com/office/drawing/2014/main" id="{A4F488D0-FF01-922C-CFDD-964B024E23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05200"/>
            <a:ext cx="20574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AutoShape 9" descr="Python if Statement (With Step-By-Step Video Tutorial)">
            <a:extLst>
              <a:ext uri="{FF2B5EF4-FFF2-40B4-BE49-F238E27FC236}">
                <a16:creationId xmlns:a16="http://schemas.microsoft.com/office/drawing/2014/main" id="{FDCD2860-1954-607C-DAA3-53F31FA56C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05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A6E9E1E-75F2-8B36-57A2-BA91BF33A0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1984964"/>
            <a:ext cx="9144000" cy="408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279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FC5E6-CD56-0820-37C0-8FB4B3A95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9F183E3E-0A87-9E31-4C8A-F29C6A49784E}"/>
              </a:ext>
            </a:extLst>
          </p:cNvPr>
          <p:cNvSpPr/>
          <p:nvPr/>
        </p:nvSpPr>
        <p:spPr>
          <a:xfrm>
            <a:off x="7670567" y="464327"/>
            <a:ext cx="1953631" cy="794199"/>
          </a:xfrm>
          <a:custGeom>
            <a:avLst/>
            <a:gdLst/>
            <a:ahLst/>
            <a:cxnLst/>
            <a:rect l="l" t="t" r="r" b="b"/>
            <a:pathLst>
              <a:path w="1953631" h="794199">
                <a:moveTo>
                  <a:pt x="0" y="0"/>
                </a:moveTo>
                <a:lnTo>
                  <a:pt x="1953631" y="0"/>
                </a:lnTo>
                <a:lnTo>
                  <a:pt x="1953631" y="794199"/>
                </a:lnTo>
                <a:lnTo>
                  <a:pt x="0" y="794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1815407-F9D3-E9BB-FC5F-E9E2DA4D64FE}"/>
              </a:ext>
            </a:extLst>
          </p:cNvPr>
          <p:cNvSpPr/>
          <p:nvPr/>
        </p:nvSpPr>
        <p:spPr>
          <a:xfrm>
            <a:off x="0" y="6439417"/>
            <a:ext cx="4976798" cy="658727"/>
          </a:xfrm>
          <a:custGeom>
            <a:avLst/>
            <a:gdLst/>
            <a:ahLst/>
            <a:cxnLst/>
            <a:rect l="l" t="t" r="r" b="b"/>
            <a:pathLst>
              <a:path w="6199781" h="658727">
                <a:moveTo>
                  <a:pt x="0" y="0"/>
                </a:moveTo>
                <a:lnTo>
                  <a:pt x="6199781" y="0"/>
                </a:lnTo>
                <a:lnTo>
                  <a:pt x="619978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57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D21A6E2-F47F-A5FA-6B7A-EEBD52538271}"/>
              </a:ext>
            </a:extLst>
          </p:cNvPr>
          <p:cNvSpPr/>
          <p:nvPr/>
        </p:nvSpPr>
        <p:spPr>
          <a:xfrm>
            <a:off x="3387" y="6439417"/>
            <a:ext cx="5353071" cy="658727"/>
          </a:xfrm>
          <a:custGeom>
            <a:avLst/>
            <a:gdLst/>
            <a:ahLst/>
            <a:cxnLst/>
            <a:rect l="l" t="t" r="r" b="b"/>
            <a:pathLst>
              <a:path w="5353071" h="658727">
                <a:moveTo>
                  <a:pt x="0" y="0"/>
                </a:moveTo>
                <a:lnTo>
                  <a:pt x="5353071" y="0"/>
                </a:lnTo>
                <a:lnTo>
                  <a:pt x="535307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817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5C451B3-C421-797B-34D2-3B9AD087A4FD}"/>
              </a:ext>
            </a:extLst>
          </p:cNvPr>
          <p:cNvGrpSpPr/>
          <p:nvPr/>
        </p:nvGrpSpPr>
        <p:grpSpPr>
          <a:xfrm>
            <a:off x="2053983" y="6737627"/>
            <a:ext cx="2625995" cy="310941"/>
            <a:chOff x="0" y="0"/>
            <a:chExt cx="972591" cy="11516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2BB8BDE-1973-4768-70A3-43D2FB9F44C7}"/>
                </a:ext>
              </a:extLst>
            </p:cNvPr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ED08DC8-4576-CB14-9CAB-7FC8AF81C00D}"/>
                </a:ext>
              </a:extLst>
            </p:cNvPr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AA05802F-DDA5-B033-0CD2-8DE61D62E68D}"/>
              </a:ext>
            </a:extLst>
          </p:cNvPr>
          <p:cNvSpPr/>
          <p:nvPr/>
        </p:nvSpPr>
        <p:spPr>
          <a:xfrm>
            <a:off x="2087407" y="6753204"/>
            <a:ext cx="279787" cy="279787"/>
          </a:xfrm>
          <a:custGeom>
            <a:avLst/>
            <a:gdLst/>
            <a:ahLst/>
            <a:cxnLst/>
            <a:rect l="l" t="t" r="r" b="b"/>
            <a:pathLst>
              <a:path w="279787" h="279787">
                <a:moveTo>
                  <a:pt x="0" y="0"/>
                </a:moveTo>
                <a:lnTo>
                  <a:pt x="279787" y="0"/>
                </a:lnTo>
                <a:lnTo>
                  <a:pt x="279787" y="279787"/>
                </a:lnTo>
                <a:lnTo>
                  <a:pt x="0" y="279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A70C341-4E35-549D-D543-28536BCF87E9}"/>
              </a:ext>
            </a:extLst>
          </p:cNvPr>
          <p:cNvSpPr txBox="1"/>
          <p:nvPr/>
        </p:nvSpPr>
        <p:spPr>
          <a:xfrm>
            <a:off x="2169223" y="6439417"/>
            <a:ext cx="2762250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  <a:spcBef>
                <a:spcPct val="0"/>
              </a:spcBef>
            </a:pPr>
            <a:r>
              <a:rPr lang="en-US" sz="1601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1921"/>
              </a:lnSpc>
              <a:spcBef>
                <a:spcPct val="0"/>
              </a:spcBef>
            </a:pPr>
            <a:endParaRPr lang="en-US" sz="1601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ED8AD48-AADE-2F2E-66BE-50EDDA44E344}"/>
              </a:ext>
            </a:extLst>
          </p:cNvPr>
          <p:cNvSpPr txBox="1"/>
          <p:nvPr/>
        </p:nvSpPr>
        <p:spPr>
          <a:xfrm>
            <a:off x="2425529" y="6805426"/>
            <a:ext cx="3112691" cy="1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  <a:spcBef>
                <a:spcPct val="0"/>
              </a:spcBef>
            </a:pPr>
            <a:r>
              <a:rPr lang="en-US" sz="1065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EF21E13-2DC4-527F-4197-C05CBBA49DE0}"/>
              </a:ext>
            </a:extLst>
          </p:cNvPr>
          <p:cNvSpPr/>
          <p:nvPr/>
        </p:nvSpPr>
        <p:spPr>
          <a:xfrm>
            <a:off x="8239509" y="6439417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5AC5482D-6073-E528-3D87-22E1A7EB7C11}"/>
              </a:ext>
            </a:extLst>
          </p:cNvPr>
          <p:cNvSpPr/>
          <p:nvPr/>
        </p:nvSpPr>
        <p:spPr>
          <a:xfrm>
            <a:off x="0" y="64664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90D5AC29-17C3-825D-51F6-846DB22DAF7C}"/>
              </a:ext>
            </a:extLst>
          </p:cNvPr>
          <p:cNvSpPr/>
          <p:nvPr/>
        </p:nvSpPr>
        <p:spPr>
          <a:xfrm flipV="1">
            <a:off x="9789" y="227073"/>
            <a:ext cx="9740424" cy="1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7" descr="Python if Statement (With Step-By-Step Video Tutorial)">
            <a:extLst>
              <a:ext uri="{FF2B5EF4-FFF2-40B4-BE49-F238E27FC236}">
                <a16:creationId xmlns:a16="http://schemas.microsoft.com/office/drawing/2014/main" id="{8E7E76E9-681F-0594-7626-A30140F7AF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05200"/>
            <a:ext cx="20574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AutoShape 9" descr="Python if Statement (With Step-By-Step Video Tutorial)">
            <a:extLst>
              <a:ext uri="{FF2B5EF4-FFF2-40B4-BE49-F238E27FC236}">
                <a16:creationId xmlns:a16="http://schemas.microsoft.com/office/drawing/2014/main" id="{15897A3C-43B8-0E8D-A637-5EF1943344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05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44CB93-4E63-19A6-8B84-4DE349B805FC}"/>
              </a:ext>
            </a:extLst>
          </p:cNvPr>
          <p:cNvSpPr txBox="1"/>
          <p:nvPr/>
        </p:nvSpPr>
        <p:spPr>
          <a:xfrm>
            <a:off x="327674" y="301014"/>
            <a:ext cx="4079039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100" dirty="0">
                <a:solidFill>
                  <a:srgbClr val="2F5496"/>
                </a:solidFill>
                <a:effectLst/>
                <a:latin typeface="Georgia" panose="02040502050405020303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if Statement:</a:t>
            </a:r>
          </a:p>
        </p:txBody>
      </p:sp>
      <p:pic>
        <p:nvPicPr>
          <p:cNvPr id="4098" name="Picture 2" descr="If Statement in Python | How If Statement Works in Python with Example?">
            <a:extLst>
              <a:ext uri="{FF2B5EF4-FFF2-40B4-BE49-F238E27FC236}">
                <a16:creationId xmlns:a16="http://schemas.microsoft.com/office/drawing/2014/main" id="{0BD6B4CA-A3B9-D263-A5B0-3D5145B40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80" y="676404"/>
            <a:ext cx="6602536" cy="2519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F4AE20F-01BC-DCA9-02AA-0E49B314834C}"/>
              </a:ext>
            </a:extLst>
          </p:cNvPr>
          <p:cNvSpPr txBox="1"/>
          <p:nvPr/>
        </p:nvSpPr>
        <p:spPr>
          <a:xfrm>
            <a:off x="139262" y="3242254"/>
            <a:ext cx="4913586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100" dirty="0">
                <a:solidFill>
                  <a:srgbClr val="2F5496"/>
                </a:solidFill>
                <a:effectLst/>
                <a:latin typeface="Georgia" panose="02040502050405020303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if...else Statement:</a:t>
            </a:r>
          </a:p>
        </p:txBody>
      </p:sp>
      <p:pic>
        <p:nvPicPr>
          <p:cNvPr id="4100" name="Picture 4" descr="The if-else Statement in Python">
            <a:extLst>
              <a:ext uri="{FF2B5EF4-FFF2-40B4-BE49-F238E27FC236}">
                <a16:creationId xmlns:a16="http://schemas.microsoft.com/office/drawing/2014/main" id="{C27A7A2A-9189-8BD1-F45C-58992674E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14" y="3817817"/>
            <a:ext cx="7620000" cy="2519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153861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4F616-9740-2E3C-78FB-19DEAE029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4B63FE40-296E-3151-4E53-8C3DB0F2C7AF}"/>
              </a:ext>
            </a:extLst>
          </p:cNvPr>
          <p:cNvSpPr/>
          <p:nvPr/>
        </p:nvSpPr>
        <p:spPr>
          <a:xfrm>
            <a:off x="7670567" y="464327"/>
            <a:ext cx="1953631" cy="794199"/>
          </a:xfrm>
          <a:custGeom>
            <a:avLst/>
            <a:gdLst/>
            <a:ahLst/>
            <a:cxnLst/>
            <a:rect l="l" t="t" r="r" b="b"/>
            <a:pathLst>
              <a:path w="1953631" h="794199">
                <a:moveTo>
                  <a:pt x="0" y="0"/>
                </a:moveTo>
                <a:lnTo>
                  <a:pt x="1953631" y="0"/>
                </a:lnTo>
                <a:lnTo>
                  <a:pt x="1953631" y="794199"/>
                </a:lnTo>
                <a:lnTo>
                  <a:pt x="0" y="794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E8F28F2-E270-682E-B500-3CC2BD0071D5}"/>
              </a:ext>
            </a:extLst>
          </p:cNvPr>
          <p:cNvSpPr/>
          <p:nvPr/>
        </p:nvSpPr>
        <p:spPr>
          <a:xfrm>
            <a:off x="0" y="6439417"/>
            <a:ext cx="4976798" cy="658727"/>
          </a:xfrm>
          <a:custGeom>
            <a:avLst/>
            <a:gdLst/>
            <a:ahLst/>
            <a:cxnLst/>
            <a:rect l="l" t="t" r="r" b="b"/>
            <a:pathLst>
              <a:path w="6199781" h="658727">
                <a:moveTo>
                  <a:pt x="0" y="0"/>
                </a:moveTo>
                <a:lnTo>
                  <a:pt x="6199781" y="0"/>
                </a:lnTo>
                <a:lnTo>
                  <a:pt x="619978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57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6265353-0EDD-D8EE-3988-3BED1F894120}"/>
              </a:ext>
            </a:extLst>
          </p:cNvPr>
          <p:cNvSpPr/>
          <p:nvPr/>
        </p:nvSpPr>
        <p:spPr>
          <a:xfrm>
            <a:off x="3387" y="6439417"/>
            <a:ext cx="5353071" cy="658727"/>
          </a:xfrm>
          <a:custGeom>
            <a:avLst/>
            <a:gdLst/>
            <a:ahLst/>
            <a:cxnLst/>
            <a:rect l="l" t="t" r="r" b="b"/>
            <a:pathLst>
              <a:path w="5353071" h="658727">
                <a:moveTo>
                  <a:pt x="0" y="0"/>
                </a:moveTo>
                <a:lnTo>
                  <a:pt x="5353071" y="0"/>
                </a:lnTo>
                <a:lnTo>
                  <a:pt x="535307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817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1380797-4583-79F7-DF18-01165C8010FE}"/>
              </a:ext>
            </a:extLst>
          </p:cNvPr>
          <p:cNvGrpSpPr/>
          <p:nvPr/>
        </p:nvGrpSpPr>
        <p:grpSpPr>
          <a:xfrm>
            <a:off x="2053983" y="6737627"/>
            <a:ext cx="2625995" cy="310941"/>
            <a:chOff x="0" y="0"/>
            <a:chExt cx="972591" cy="11516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9020495-008C-4D3C-85F6-FB1DADA905EB}"/>
                </a:ext>
              </a:extLst>
            </p:cNvPr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400815F-E3F5-FB6A-F07A-2AE607B0BABC}"/>
                </a:ext>
              </a:extLst>
            </p:cNvPr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E9D3510E-E5C8-FD14-F21E-002418EDFF87}"/>
              </a:ext>
            </a:extLst>
          </p:cNvPr>
          <p:cNvSpPr/>
          <p:nvPr/>
        </p:nvSpPr>
        <p:spPr>
          <a:xfrm>
            <a:off x="2087407" y="6753204"/>
            <a:ext cx="279787" cy="279787"/>
          </a:xfrm>
          <a:custGeom>
            <a:avLst/>
            <a:gdLst/>
            <a:ahLst/>
            <a:cxnLst/>
            <a:rect l="l" t="t" r="r" b="b"/>
            <a:pathLst>
              <a:path w="279787" h="279787">
                <a:moveTo>
                  <a:pt x="0" y="0"/>
                </a:moveTo>
                <a:lnTo>
                  <a:pt x="279787" y="0"/>
                </a:lnTo>
                <a:lnTo>
                  <a:pt x="279787" y="279787"/>
                </a:lnTo>
                <a:lnTo>
                  <a:pt x="0" y="279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32B9C29-119F-B403-6CE0-EE962C74396C}"/>
              </a:ext>
            </a:extLst>
          </p:cNvPr>
          <p:cNvSpPr txBox="1"/>
          <p:nvPr/>
        </p:nvSpPr>
        <p:spPr>
          <a:xfrm>
            <a:off x="2169223" y="6439417"/>
            <a:ext cx="2762250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  <a:spcBef>
                <a:spcPct val="0"/>
              </a:spcBef>
            </a:pPr>
            <a:r>
              <a:rPr lang="en-US" sz="1601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1921"/>
              </a:lnSpc>
              <a:spcBef>
                <a:spcPct val="0"/>
              </a:spcBef>
            </a:pPr>
            <a:endParaRPr lang="en-US" sz="1601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04F863B-9294-6281-B440-CA34A52CED77}"/>
              </a:ext>
            </a:extLst>
          </p:cNvPr>
          <p:cNvSpPr txBox="1"/>
          <p:nvPr/>
        </p:nvSpPr>
        <p:spPr>
          <a:xfrm>
            <a:off x="2425529" y="6805426"/>
            <a:ext cx="3112691" cy="1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  <a:spcBef>
                <a:spcPct val="0"/>
              </a:spcBef>
            </a:pPr>
            <a:r>
              <a:rPr lang="en-US" sz="1065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80BDCCB-6FF4-2482-1D37-4C7F41B3EEBB}"/>
              </a:ext>
            </a:extLst>
          </p:cNvPr>
          <p:cNvSpPr/>
          <p:nvPr/>
        </p:nvSpPr>
        <p:spPr>
          <a:xfrm>
            <a:off x="8239509" y="6439417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AC160466-A397-7AFE-0DDD-4A287FEE5BD1}"/>
              </a:ext>
            </a:extLst>
          </p:cNvPr>
          <p:cNvSpPr/>
          <p:nvPr/>
        </p:nvSpPr>
        <p:spPr>
          <a:xfrm>
            <a:off x="0" y="64664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68F29DAF-2F10-AB5F-62B9-F39E1B75483B}"/>
              </a:ext>
            </a:extLst>
          </p:cNvPr>
          <p:cNvSpPr/>
          <p:nvPr/>
        </p:nvSpPr>
        <p:spPr>
          <a:xfrm flipV="1">
            <a:off x="9789" y="227073"/>
            <a:ext cx="9740424" cy="1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7" descr="Python if Statement (With Step-By-Step Video Tutorial)">
            <a:extLst>
              <a:ext uri="{FF2B5EF4-FFF2-40B4-BE49-F238E27FC236}">
                <a16:creationId xmlns:a16="http://schemas.microsoft.com/office/drawing/2014/main" id="{BA956DAE-CBA9-FC07-3386-3E17BD9DBD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05200"/>
            <a:ext cx="20574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AutoShape 9" descr="Python if Statement (With Step-By-Step Video Tutorial)">
            <a:extLst>
              <a:ext uri="{FF2B5EF4-FFF2-40B4-BE49-F238E27FC236}">
                <a16:creationId xmlns:a16="http://schemas.microsoft.com/office/drawing/2014/main" id="{712FB652-486B-C54B-415E-BC9AC3A132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05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B5AE75-4CB8-324F-04CA-A1C4C0E71FF4}"/>
              </a:ext>
            </a:extLst>
          </p:cNvPr>
          <p:cNvSpPr txBox="1"/>
          <p:nvPr/>
        </p:nvSpPr>
        <p:spPr>
          <a:xfrm>
            <a:off x="223129" y="815030"/>
            <a:ext cx="4913586" cy="417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000" b="1" kern="100" dirty="0">
                <a:solidFill>
                  <a:srgbClr val="2F5496"/>
                </a:solidFill>
                <a:effectLst/>
                <a:latin typeface="Georgia" panose="02040502050405020303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if...</a:t>
            </a:r>
            <a:r>
              <a:rPr lang="en-IN" sz="2000" b="1" kern="100" dirty="0" err="1">
                <a:solidFill>
                  <a:srgbClr val="2F5496"/>
                </a:solidFill>
                <a:effectLst/>
                <a:latin typeface="Georgia" panose="02040502050405020303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elif</a:t>
            </a:r>
            <a:r>
              <a:rPr lang="en-IN" sz="2000" b="1" kern="100" dirty="0">
                <a:solidFill>
                  <a:srgbClr val="2F5496"/>
                </a:solidFill>
                <a:effectLst/>
                <a:latin typeface="Georgia" panose="02040502050405020303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...else Statement: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598D9C6-CA29-ABA3-D5A7-7813EDA1BA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057" y="1820152"/>
            <a:ext cx="7595804" cy="298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0466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2011D-0E8D-B0E6-56E9-BD406EE0A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730C4F9-EEF0-A9B6-632C-7C3FBA7AE796}"/>
              </a:ext>
            </a:extLst>
          </p:cNvPr>
          <p:cNvSpPr/>
          <p:nvPr/>
        </p:nvSpPr>
        <p:spPr>
          <a:xfrm>
            <a:off x="7670567" y="464327"/>
            <a:ext cx="1953631" cy="794199"/>
          </a:xfrm>
          <a:custGeom>
            <a:avLst/>
            <a:gdLst/>
            <a:ahLst/>
            <a:cxnLst/>
            <a:rect l="l" t="t" r="r" b="b"/>
            <a:pathLst>
              <a:path w="1953631" h="794199">
                <a:moveTo>
                  <a:pt x="0" y="0"/>
                </a:moveTo>
                <a:lnTo>
                  <a:pt x="1953631" y="0"/>
                </a:lnTo>
                <a:lnTo>
                  <a:pt x="1953631" y="794199"/>
                </a:lnTo>
                <a:lnTo>
                  <a:pt x="0" y="794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3DD76BC-5240-4ABB-ED3D-664EF7095837}"/>
              </a:ext>
            </a:extLst>
          </p:cNvPr>
          <p:cNvSpPr/>
          <p:nvPr/>
        </p:nvSpPr>
        <p:spPr>
          <a:xfrm>
            <a:off x="0" y="6439417"/>
            <a:ext cx="4976798" cy="658727"/>
          </a:xfrm>
          <a:custGeom>
            <a:avLst/>
            <a:gdLst/>
            <a:ahLst/>
            <a:cxnLst/>
            <a:rect l="l" t="t" r="r" b="b"/>
            <a:pathLst>
              <a:path w="6199781" h="658727">
                <a:moveTo>
                  <a:pt x="0" y="0"/>
                </a:moveTo>
                <a:lnTo>
                  <a:pt x="6199781" y="0"/>
                </a:lnTo>
                <a:lnTo>
                  <a:pt x="619978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57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E411AF2-3EC1-C904-4892-C01382032E6B}"/>
              </a:ext>
            </a:extLst>
          </p:cNvPr>
          <p:cNvSpPr/>
          <p:nvPr/>
        </p:nvSpPr>
        <p:spPr>
          <a:xfrm>
            <a:off x="3387" y="6439417"/>
            <a:ext cx="5353071" cy="658727"/>
          </a:xfrm>
          <a:custGeom>
            <a:avLst/>
            <a:gdLst/>
            <a:ahLst/>
            <a:cxnLst/>
            <a:rect l="l" t="t" r="r" b="b"/>
            <a:pathLst>
              <a:path w="5353071" h="658727">
                <a:moveTo>
                  <a:pt x="0" y="0"/>
                </a:moveTo>
                <a:lnTo>
                  <a:pt x="5353071" y="0"/>
                </a:lnTo>
                <a:lnTo>
                  <a:pt x="535307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817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B0C4BB4-984A-B6AB-4EA0-7C1C1D64D1AF}"/>
              </a:ext>
            </a:extLst>
          </p:cNvPr>
          <p:cNvGrpSpPr/>
          <p:nvPr/>
        </p:nvGrpSpPr>
        <p:grpSpPr>
          <a:xfrm>
            <a:off x="2053983" y="6737627"/>
            <a:ext cx="2625995" cy="310941"/>
            <a:chOff x="0" y="0"/>
            <a:chExt cx="972591" cy="11516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CFDFA4C-8CD9-092F-2AC5-E70F5668C9A8}"/>
                </a:ext>
              </a:extLst>
            </p:cNvPr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6954AB6-E61D-603E-E4E2-A14A86F4DD8D}"/>
                </a:ext>
              </a:extLst>
            </p:cNvPr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AB6F962B-3524-9C72-F580-BEF695722229}"/>
              </a:ext>
            </a:extLst>
          </p:cNvPr>
          <p:cNvSpPr/>
          <p:nvPr/>
        </p:nvSpPr>
        <p:spPr>
          <a:xfrm>
            <a:off x="2087407" y="6753204"/>
            <a:ext cx="279787" cy="279787"/>
          </a:xfrm>
          <a:custGeom>
            <a:avLst/>
            <a:gdLst/>
            <a:ahLst/>
            <a:cxnLst/>
            <a:rect l="l" t="t" r="r" b="b"/>
            <a:pathLst>
              <a:path w="279787" h="279787">
                <a:moveTo>
                  <a:pt x="0" y="0"/>
                </a:moveTo>
                <a:lnTo>
                  <a:pt x="279787" y="0"/>
                </a:lnTo>
                <a:lnTo>
                  <a:pt x="279787" y="279787"/>
                </a:lnTo>
                <a:lnTo>
                  <a:pt x="0" y="279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25C362C-A949-DC93-A776-2D46F1A476AD}"/>
              </a:ext>
            </a:extLst>
          </p:cNvPr>
          <p:cNvSpPr txBox="1"/>
          <p:nvPr/>
        </p:nvSpPr>
        <p:spPr>
          <a:xfrm>
            <a:off x="2169223" y="6439417"/>
            <a:ext cx="2762250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  <a:spcBef>
                <a:spcPct val="0"/>
              </a:spcBef>
            </a:pPr>
            <a:r>
              <a:rPr lang="en-US" sz="1601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1921"/>
              </a:lnSpc>
              <a:spcBef>
                <a:spcPct val="0"/>
              </a:spcBef>
            </a:pPr>
            <a:endParaRPr lang="en-US" sz="1601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048A492-0A7D-958F-BEE9-97F631ED0B8C}"/>
              </a:ext>
            </a:extLst>
          </p:cNvPr>
          <p:cNvSpPr txBox="1"/>
          <p:nvPr/>
        </p:nvSpPr>
        <p:spPr>
          <a:xfrm>
            <a:off x="2425529" y="6805426"/>
            <a:ext cx="3112691" cy="1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  <a:spcBef>
                <a:spcPct val="0"/>
              </a:spcBef>
            </a:pPr>
            <a:r>
              <a:rPr lang="en-US" sz="1065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5770350-E162-4AC5-24C8-68289AFBAC10}"/>
              </a:ext>
            </a:extLst>
          </p:cNvPr>
          <p:cNvSpPr/>
          <p:nvPr/>
        </p:nvSpPr>
        <p:spPr>
          <a:xfrm>
            <a:off x="8239509" y="6439417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68E0F0EA-BE82-ECD3-F9E5-E4F78C0DB4F2}"/>
              </a:ext>
            </a:extLst>
          </p:cNvPr>
          <p:cNvSpPr/>
          <p:nvPr/>
        </p:nvSpPr>
        <p:spPr>
          <a:xfrm>
            <a:off x="0" y="64664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805DC9F7-B912-CD23-594E-38FAB5F93DFE}"/>
              </a:ext>
            </a:extLst>
          </p:cNvPr>
          <p:cNvSpPr/>
          <p:nvPr/>
        </p:nvSpPr>
        <p:spPr>
          <a:xfrm flipV="1">
            <a:off x="9789" y="227073"/>
            <a:ext cx="9740424" cy="1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7" descr="Python if Statement (With Step-By-Step Video Tutorial)">
            <a:extLst>
              <a:ext uri="{FF2B5EF4-FFF2-40B4-BE49-F238E27FC236}">
                <a16:creationId xmlns:a16="http://schemas.microsoft.com/office/drawing/2014/main" id="{418C4D32-9A4E-DCB5-8639-ACDEE044CA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05200"/>
            <a:ext cx="20574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AutoShape 9" descr="Python if Statement (With Step-By-Step Video Tutorial)">
            <a:extLst>
              <a:ext uri="{FF2B5EF4-FFF2-40B4-BE49-F238E27FC236}">
                <a16:creationId xmlns:a16="http://schemas.microsoft.com/office/drawing/2014/main" id="{7B94DAF9-7060-7A09-1413-7B83842EC2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05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28DB0E-0ECC-BFAD-AA26-85C234D3E96E}"/>
              </a:ext>
            </a:extLst>
          </p:cNvPr>
          <p:cNvSpPr txBox="1"/>
          <p:nvPr/>
        </p:nvSpPr>
        <p:spPr>
          <a:xfrm>
            <a:off x="63212" y="301918"/>
            <a:ext cx="7328188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Explain different type of operators with example in python?</a:t>
            </a:r>
          </a:p>
          <a:p>
            <a:endParaRPr lang="en-US" b="1" dirty="0">
              <a:solidFill>
                <a:schemeClr val="accent4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Operators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 are symbols that perform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operations on variables and values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.</a:t>
            </a:r>
          </a:p>
          <a:p>
            <a:endParaRPr lang="en-US" dirty="0">
              <a:solidFill>
                <a:schemeClr val="accent4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449DD19-66EA-552A-C38D-C90EF37CDC0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4471" b="16760"/>
          <a:stretch>
            <a:fillRect/>
          </a:stretch>
        </p:blipFill>
        <p:spPr>
          <a:xfrm>
            <a:off x="1884723" y="1680560"/>
            <a:ext cx="5590509" cy="4503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107530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841FF-EC87-5014-3139-E4B6F668D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5481DBCE-B831-EE58-CA10-715C98A0A1D8}"/>
              </a:ext>
            </a:extLst>
          </p:cNvPr>
          <p:cNvSpPr/>
          <p:nvPr/>
        </p:nvSpPr>
        <p:spPr>
          <a:xfrm>
            <a:off x="7670567" y="464327"/>
            <a:ext cx="1953631" cy="794199"/>
          </a:xfrm>
          <a:custGeom>
            <a:avLst/>
            <a:gdLst/>
            <a:ahLst/>
            <a:cxnLst/>
            <a:rect l="l" t="t" r="r" b="b"/>
            <a:pathLst>
              <a:path w="1953631" h="794199">
                <a:moveTo>
                  <a:pt x="0" y="0"/>
                </a:moveTo>
                <a:lnTo>
                  <a:pt x="1953631" y="0"/>
                </a:lnTo>
                <a:lnTo>
                  <a:pt x="1953631" y="794199"/>
                </a:lnTo>
                <a:lnTo>
                  <a:pt x="0" y="794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6548209-AB1B-C145-FEDC-85B03432B062}"/>
              </a:ext>
            </a:extLst>
          </p:cNvPr>
          <p:cNvSpPr/>
          <p:nvPr/>
        </p:nvSpPr>
        <p:spPr>
          <a:xfrm>
            <a:off x="0" y="6439417"/>
            <a:ext cx="4976798" cy="658727"/>
          </a:xfrm>
          <a:custGeom>
            <a:avLst/>
            <a:gdLst/>
            <a:ahLst/>
            <a:cxnLst/>
            <a:rect l="l" t="t" r="r" b="b"/>
            <a:pathLst>
              <a:path w="6199781" h="658727">
                <a:moveTo>
                  <a:pt x="0" y="0"/>
                </a:moveTo>
                <a:lnTo>
                  <a:pt x="6199781" y="0"/>
                </a:lnTo>
                <a:lnTo>
                  <a:pt x="619978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57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22B0943-8A75-CF88-CE86-4347DB63C1F7}"/>
              </a:ext>
            </a:extLst>
          </p:cNvPr>
          <p:cNvSpPr/>
          <p:nvPr/>
        </p:nvSpPr>
        <p:spPr>
          <a:xfrm>
            <a:off x="3387" y="6439417"/>
            <a:ext cx="5353071" cy="658727"/>
          </a:xfrm>
          <a:custGeom>
            <a:avLst/>
            <a:gdLst/>
            <a:ahLst/>
            <a:cxnLst/>
            <a:rect l="l" t="t" r="r" b="b"/>
            <a:pathLst>
              <a:path w="5353071" h="658727">
                <a:moveTo>
                  <a:pt x="0" y="0"/>
                </a:moveTo>
                <a:lnTo>
                  <a:pt x="5353071" y="0"/>
                </a:lnTo>
                <a:lnTo>
                  <a:pt x="535307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817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7B26C00-A48E-182E-11FE-C896775AC4C5}"/>
              </a:ext>
            </a:extLst>
          </p:cNvPr>
          <p:cNvGrpSpPr/>
          <p:nvPr/>
        </p:nvGrpSpPr>
        <p:grpSpPr>
          <a:xfrm>
            <a:off x="2053983" y="6737627"/>
            <a:ext cx="2625995" cy="310941"/>
            <a:chOff x="0" y="0"/>
            <a:chExt cx="972591" cy="11516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C065368-59E8-E34B-0846-8E0BE0F8F12B}"/>
                </a:ext>
              </a:extLst>
            </p:cNvPr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C9636F6-4B09-F0BE-97E2-B7BE0813CFEC}"/>
                </a:ext>
              </a:extLst>
            </p:cNvPr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7E107F54-8208-3D6A-920E-4051EA7A1C45}"/>
              </a:ext>
            </a:extLst>
          </p:cNvPr>
          <p:cNvSpPr/>
          <p:nvPr/>
        </p:nvSpPr>
        <p:spPr>
          <a:xfrm>
            <a:off x="2087407" y="6753204"/>
            <a:ext cx="279787" cy="279787"/>
          </a:xfrm>
          <a:custGeom>
            <a:avLst/>
            <a:gdLst/>
            <a:ahLst/>
            <a:cxnLst/>
            <a:rect l="l" t="t" r="r" b="b"/>
            <a:pathLst>
              <a:path w="279787" h="279787">
                <a:moveTo>
                  <a:pt x="0" y="0"/>
                </a:moveTo>
                <a:lnTo>
                  <a:pt x="279787" y="0"/>
                </a:lnTo>
                <a:lnTo>
                  <a:pt x="279787" y="279787"/>
                </a:lnTo>
                <a:lnTo>
                  <a:pt x="0" y="279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79C80B8-4603-C78E-2593-B93788A1CDB7}"/>
              </a:ext>
            </a:extLst>
          </p:cNvPr>
          <p:cNvSpPr txBox="1"/>
          <p:nvPr/>
        </p:nvSpPr>
        <p:spPr>
          <a:xfrm>
            <a:off x="2169223" y="6439417"/>
            <a:ext cx="2762250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  <a:spcBef>
                <a:spcPct val="0"/>
              </a:spcBef>
            </a:pPr>
            <a:r>
              <a:rPr lang="en-US" sz="1601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1921"/>
              </a:lnSpc>
              <a:spcBef>
                <a:spcPct val="0"/>
              </a:spcBef>
            </a:pPr>
            <a:endParaRPr lang="en-US" sz="1601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E2C2805-D23F-B311-4DCA-0006BA9D471C}"/>
              </a:ext>
            </a:extLst>
          </p:cNvPr>
          <p:cNvSpPr txBox="1"/>
          <p:nvPr/>
        </p:nvSpPr>
        <p:spPr>
          <a:xfrm>
            <a:off x="2425529" y="6805426"/>
            <a:ext cx="3112691" cy="1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  <a:spcBef>
                <a:spcPct val="0"/>
              </a:spcBef>
            </a:pPr>
            <a:r>
              <a:rPr lang="en-US" sz="1065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6E01BB4-D367-8F19-FC71-BDF205A86599}"/>
              </a:ext>
            </a:extLst>
          </p:cNvPr>
          <p:cNvSpPr/>
          <p:nvPr/>
        </p:nvSpPr>
        <p:spPr>
          <a:xfrm>
            <a:off x="8239509" y="6439417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30F290AC-C0F6-9E64-0D86-8C8AB4CD004B}"/>
              </a:ext>
            </a:extLst>
          </p:cNvPr>
          <p:cNvSpPr/>
          <p:nvPr/>
        </p:nvSpPr>
        <p:spPr>
          <a:xfrm>
            <a:off x="0" y="64664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D8413656-77B0-F172-26D9-6F9A8E330458}"/>
              </a:ext>
            </a:extLst>
          </p:cNvPr>
          <p:cNvSpPr/>
          <p:nvPr/>
        </p:nvSpPr>
        <p:spPr>
          <a:xfrm flipV="1">
            <a:off x="9789" y="227073"/>
            <a:ext cx="9740424" cy="1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7" descr="Python if Statement (With Step-By-Step Video Tutorial)">
            <a:extLst>
              <a:ext uri="{FF2B5EF4-FFF2-40B4-BE49-F238E27FC236}">
                <a16:creationId xmlns:a16="http://schemas.microsoft.com/office/drawing/2014/main" id="{2F902AF3-1A36-4740-664B-E43B861F7D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05200"/>
            <a:ext cx="20574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AutoShape 9" descr="Python if Statement (With Step-By-Step Video Tutorial)">
            <a:extLst>
              <a:ext uri="{FF2B5EF4-FFF2-40B4-BE49-F238E27FC236}">
                <a16:creationId xmlns:a16="http://schemas.microsoft.com/office/drawing/2014/main" id="{1C6A46F7-497D-6797-312E-C4C70A5AD4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05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7A24BE-C16B-992E-ADE9-5637BE0D548B}"/>
              </a:ext>
            </a:extLst>
          </p:cNvPr>
          <p:cNvSpPr txBox="1"/>
          <p:nvPr/>
        </p:nvSpPr>
        <p:spPr>
          <a:xfrm>
            <a:off x="111009" y="324548"/>
            <a:ext cx="8338973" cy="1073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Arithmetic Operators:</a:t>
            </a:r>
          </a:p>
          <a:p>
            <a:r>
              <a:rPr lang="en-US" dirty="0"/>
              <a:t>     Used to perform basic math operations.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endParaRPr lang="en-IN" sz="2000" b="1" kern="100" dirty="0">
              <a:solidFill>
                <a:srgbClr val="2F5496"/>
              </a:solidFill>
              <a:effectLst/>
              <a:latin typeface="Georgia" panose="02040502050405020303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050" name="Picture 2" descr="Python Arithmetic Operators (their Usage and order of Precedence)">
            <a:extLst>
              <a:ext uri="{FF2B5EF4-FFF2-40B4-BE49-F238E27FC236}">
                <a16:creationId xmlns:a16="http://schemas.microsoft.com/office/drawing/2014/main" id="{38CB6BD8-F3C3-AEB1-0341-C8352D9E8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8" y="1198825"/>
            <a:ext cx="4648200" cy="3371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A8E4122-9F86-32FE-AFC9-B4FE48390457}"/>
              </a:ext>
            </a:extLst>
          </p:cNvPr>
          <p:cNvSpPr txBox="1"/>
          <p:nvPr/>
        </p:nvSpPr>
        <p:spPr>
          <a:xfrm>
            <a:off x="4894687" y="1798600"/>
            <a:ext cx="4913586" cy="772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Comparison (Relational) Operators:</a:t>
            </a:r>
          </a:p>
          <a:p>
            <a:pPr marL="0" marR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600" kern="0" dirty="0">
                <a:effectLst/>
                <a:latin typeface="Segoe UI Semibold" panose="020B0702040204020203" pitchFamily="34" charset="0"/>
                <a:ea typeface="SimSun" panose="02010600030101010101" pitchFamily="2" charset="-122"/>
                <a:cs typeface="Segoe UI Semibold" panose="020B0702040204020203" pitchFamily="34" charset="0"/>
              </a:rPr>
              <a:t>Used to compare two values</a:t>
            </a:r>
            <a:endParaRPr lang="en-US" sz="1600" dirty="0">
              <a:effectLst/>
              <a:latin typeface="Segoe UI Semibold" panose="020B0702040204020203" pitchFamily="34" charset="0"/>
              <a:ea typeface="SimSun" panose="02010600030101010101" pitchFamily="2" charset="-122"/>
              <a:cs typeface="Segoe UI Semibold" panose="020B0702040204020203" pitchFamily="34" charset="0"/>
            </a:endParaRPr>
          </a:p>
        </p:txBody>
      </p:sp>
      <p:pic>
        <p:nvPicPr>
          <p:cNvPr id="2052" name="Picture 4" descr="Relational Operators In Python | 6 Types Explained (+Codes) // Unstop">
            <a:extLst>
              <a:ext uri="{FF2B5EF4-FFF2-40B4-BE49-F238E27FC236}">
                <a16:creationId xmlns:a16="http://schemas.microsoft.com/office/drawing/2014/main" id="{AF3F361F-E242-6AF2-48E6-2FD225D0A7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08" t="902" r="27306" b="-902"/>
          <a:stretch>
            <a:fillRect/>
          </a:stretch>
        </p:blipFill>
        <p:spPr bwMode="auto">
          <a:xfrm>
            <a:off x="5092015" y="2760507"/>
            <a:ext cx="3988348" cy="3585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306578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95B38-FA61-71BF-47CA-D12BC718E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7CB416D-9EE7-B37D-F3F8-A524A326841E}"/>
              </a:ext>
            </a:extLst>
          </p:cNvPr>
          <p:cNvSpPr/>
          <p:nvPr/>
        </p:nvSpPr>
        <p:spPr>
          <a:xfrm>
            <a:off x="7670567" y="464327"/>
            <a:ext cx="1953631" cy="794199"/>
          </a:xfrm>
          <a:custGeom>
            <a:avLst/>
            <a:gdLst/>
            <a:ahLst/>
            <a:cxnLst/>
            <a:rect l="l" t="t" r="r" b="b"/>
            <a:pathLst>
              <a:path w="1953631" h="794199">
                <a:moveTo>
                  <a:pt x="0" y="0"/>
                </a:moveTo>
                <a:lnTo>
                  <a:pt x="1953631" y="0"/>
                </a:lnTo>
                <a:lnTo>
                  <a:pt x="1953631" y="794199"/>
                </a:lnTo>
                <a:lnTo>
                  <a:pt x="0" y="794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D8F207E-CCA1-EFA6-07DA-A631D4879C1A}"/>
              </a:ext>
            </a:extLst>
          </p:cNvPr>
          <p:cNvSpPr/>
          <p:nvPr/>
        </p:nvSpPr>
        <p:spPr>
          <a:xfrm>
            <a:off x="0" y="6439417"/>
            <a:ext cx="4976798" cy="658727"/>
          </a:xfrm>
          <a:custGeom>
            <a:avLst/>
            <a:gdLst/>
            <a:ahLst/>
            <a:cxnLst/>
            <a:rect l="l" t="t" r="r" b="b"/>
            <a:pathLst>
              <a:path w="6199781" h="658727">
                <a:moveTo>
                  <a:pt x="0" y="0"/>
                </a:moveTo>
                <a:lnTo>
                  <a:pt x="6199781" y="0"/>
                </a:lnTo>
                <a:lnTo>
                  <a:pt x="619978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57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228B094-7AD1-21A6-34D0-D5B8135FC161}"/>
              </a:ext>
            </a:extLst>
          </p:cNvPr>
          <p:cNvSpPr/>
          <p:nvPr/>
        </p:nvSpPr>
        <p:spPr>
          <a:xfrm>
            <a:off x="3387" y="6439417"/>
            <a:ext cx="5353071" cy="658727"/>
          </a:xfrm>
          <a:custGeom>
            <a:avLst/>
            <a:gdLst/>
            <a:ahLst/>
            <a:cxnLst/>
            <a:rect l="l" t="t" r="r" b="b"/>
            <a:pathLst>
              <a:path w="5353071" h="658727">
                <a:moveTo>
                  <a:pt x="0" y="0"/>
                </a:moveTo>
                <a:lnTo>
                  <a:pt x="5353071" y="0"/>
                </a:lnTo>
                <a:lnTo>
                  <a:pt x="535307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817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2A7F981-ECDB-DEEE-7077-0FD7F6B90778}"/>
              </a:ext>
            </a:extLst>
          </p:cNvPr>
          <p:cNvGrpSpPr/>
          <p:nvPr/>
        </p:nvGrpSpPr>
        <p:grpSpPr>
          <a:xfrm>
            <a:off x="2053983" y="6737627"/>
            <a:ext cx="2625995" cy="310941"/>
            <a:chOff x="0" y="0"/>
            <a:chExt cx="972591" cy="11516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510CEE5-1B08-A660-46A9-2753DC37EAD9}"/>
                </a:ext>
              </a:extLst>
            </p:cNvPr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F8DC726-9815-94F9-9851-BE360EAD8981}"/>
                </a:ext>
              </a:extLst>
            </p:cNvPr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DC3CD460-1A68-ADAE-67FA-82F7233842EE}"/>
              </a:ext>
            </a:extLst>
          </p:cNvPr>
          <p:cNvSpPr/>
          <p:nvPr/>
        </p:nvSpPr>
        <p:spPr>
          <a:xfrm>
            <a:off x="2087407" y="6753204"/>
            <a:ext cx="279787" cy="279787"/>
          </a:xfrm>
          <a:custGeom>
            <a:avLst/>
            <a:gdLst/>
            <a:ahLst/>
            <a:cxnLst/>
            <a:rect l="l" t="t" r="r" b="b"/>
            <a:pathLst>
              <a:path w="279787" h="279787">
                <a:moveTo>
                  <a:pt x="0" y="0"/>
                </a:moveTo>
                <a:lnTo>
                  <a:pt x="279787" y="0"/>
                </a:lnTo>
                <a:lnTo>
                  <a:pt x="279787" y="279787"/>
                </a:lnTo>
                <a:lnTo>
                  <a:pt x="0" y="279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BCEE0D3-DFE8-6043-E2F9-D1846357C11B}"/>
              </a:ext>
            </a:extLst>
          </p:cNvPr>
          <p:cNvSpPr txBox="1"/>
          <p:nvPr/>
        </p:nvSpPr>
        <p:spPr>
          <a:xfrm>
            <a:off x="2169223" y="6439417"/>
            <a:ext cx="2762250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  <a:spcBef>
                <a:spcPct val="0"/>
              </a:spcBef>
            </a:pPr>
            <a:r>
              <a:rPr lang="en-US" sz="1601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1921"/>
              </a:lnSpc>
              <a:spcBef>
                <a:spcPct val="0"/>
              </a:spcBef>
            </a:pPr>
            <a:endParaRPr lang="en-US" sz="1601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029C4DE-A658-DF32-6326-F2D312F3910E}"/>
              </a:ext>
            </a:extLst>
          </p:cNvPr>
          <p:cNvSpPr txBox="1"/>
          <p:nvPr/>
        </p:nvSpPr>
        <p:spPr>
          <a:xfrm>
            <a:off x="2425529" y="6805426"/>
            <a:ext cx="3112691" cy="1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  <a:spcBef>
                <a:spcPct val="0"/>
              </a:spcBef>
            </a:pPr>
            <a:r>
              <a:rPr lang="en-US" sz="1065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2B6758D-C490-2CA1-A18B-94E7C240592E}"/>
              </a:ext>
            </a:extLst>
          </p:cNvPr>
          <p:cNvSpPr/>
          <p:nvPr/>
        </p:nvSpPr>
        <p:spPr>
          <a:xfrm>
            <a:off x="8239509" y="6439417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B263F274-8C5B-E8C4-FFDF-12CB3EE970DB}"/>
              </a:ext>
            </a:extLst>
          </p:cNvPr>
          <p:cNvSpPr/>
          <p:nvPr/>
        </p:nvSpPr>
        <p:spPr>
          <a:xfrm>
            <a:off x="0" y="64664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2EAD51E6-7D76-AA6F-A4CB-ABFAF2B21C5A}"/>
              </a:ext>
            </a:extLst>
          </p:cNvPr>
          <p:cNvSpPr/>
          <p:nvPr/>
        </p:nvSpPr>
        <p:spPr>
          <a:xfrm flipV="1">
            <a:off x="9789" y="227073"/>
            <a:ext cx="9740424" cy="1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7" descr="Python if Statement (With Step-By-Step Video Tutorial)">
            <a:extLst>
              <a:ext uri="{FF2B5EF4-FFF2-40B4-BE49-F238E27FC236}">
                <a16:creationId xmlns:a16="http://schemas.microsoft.com/office/drawing/2014/main" id="{C5696428-CD7A-6820-EF98-3E19F22648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05200"/>
            <a:ext cx="20574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AutoShape 9" descr="Python if Statement (With Step-By-Step Video Tutorial)">
            <a:extLst>
              <a:ext uri="{FF2B5EF4-FFF2-40B4-BE49-F238E27FC236}">
                <a16:creationId xmlns:a16="http://schemas.microsoft.com/office/drawing/2014/main" id="{3E5B915B-8346-7282-D08F-B18FF60A33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05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59B23F-917C-12AB-D456-0A13AE2DDD39}"/>
              </a:ext>
            </a:extLst>
          </p:cNvPr>
          <p:cNvSpPr txBox="1"/>
          <p:nvPr/>
        </p:nvSpPr>
        <p:spPr>
          <a:xfrm>
            <a:off x="78828" y="287653"/>
            <a:ext cx="4913586" cy="909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2400" b="1" kern="100" dirty="0">
                <a:solidFill>
                  <a:srgbClr val="2F5496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Logical Operators:</a:t>
            </a:r>
          </a:p>
          <a:p>
            <a:pPr marL="0" marR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Used to combine multiple conditions.</a:t>
            </a: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8885DB7-E727-0A4E-40D1-5B3CA68EEF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858" y="1257712"/>
            <a:ext cx="5181600" cy="315158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C11B7DD-1C95-2F3D-831A-3246B07B7C9B}"/>
              </a:ext>
            </a:extLst>
          </p:cNvPr>
          <p:cNvSpPr txBox="1"/>
          <p:nvPr/>
        </p:nvSpPr>
        <p:spPr>
          <a:xfrm>
            <a:off x="5538220" y="2070295"/>
            <a:ext cx="4924096" cy="909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2400" b="1" kern="100" dirty="0">
                <a:solidFill>
                  <a:srgbClr val="2F5496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Assignment Operators:</a:t>
            </a:r>
          </a:p>
          <a:p>
            <a:pPr marL="0" marR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Used to assign values to variables.</a:t>
            </a: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pic>
        <p:nvPicPr>
          <p:cNvPr id="3074" name="Picture 2" descr="7 Types of Python Operators that will ease your programming - TechVidvan">
            <a:extLst>
              <a:ext uri="{FF2B5EF4-FFF2-40B4-BE49-F238E27FC236}">
                <a16:creationId xmlns:a16="http://schemas.microsoft.com/office/drawing/2014/main" id="{8FB35F19-B73E-3A7D-D47C-0F1DE0B75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100" y="3101747"/>
            <a:ext cx="3581400" cy="275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090811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60693-5DF6-1B4E-7455-BA3834A99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6404BE8-90EF-AD42-1090-4C6AD36E58BB}"/>
              </a:ext>
            </a:extLst>
          </p:cNvPr>
          <p:cNvSpPr/>
          <p:nvPr/>
        </p:nvSpPr>
        <p:spPr>
          <a:xfrm>
            <a:off x="7670567" y="464327"/>
            <a:ext cx="1953631" cy="794199"/>
          </a:xfrm>
          <a:custGeom>
            <a:avLst/>
            <a:gdLst/>
            <a:ahLst/>
            <a:cxnLst/>
            <a:rect l="l" t="t" r="r" b="b"/>
            <a:pathLst>
              <a:path w="1953631" h="794199">
                <a:moveTo>
                  <a:pt x="0" y="0"/>
                </a:moveTo>
                <a:lnTo>
                  <a:pt x="1953631" y="0"/>
                </a:lnTo>
                <a:lnTo>
                  <a:pt x="1953631" y="794199"/>
                </a:lnTo>
                <a:lnTo>
                  <a:pt x="0" y="794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10212FC-E72F-AB5E-D4FB-BBF35EDF6826}"/>
              </a:ext>
            </a:extLst>
          </p:cNvPr>
          <p:cNvSpPr/>
          <p:nvPr/>
        </p:nvSpPr>
        <p:spPr>
          <a:xfrm>
            <a:off x="0" y="6439417"/>
            <a:ext cx="4976798" cy="658727"/>
          </a:xfrm>
          <a:custGeom>
            <a:avLst/>
            <a:gdLst/>
            <a:ahLst/>
            <a:cxnLst/>
            <a:rect l="l" t="t" r="r" b="b"/>
            <a:pathLst>
              <a:path w="6199781" h="658727">
                <a:moveTo>
                  <a:pt x="0" y="0"/>
                </a:moveTo>
                <a:lnTo>
                  <a:pt x="6199781" y="0"/>
                </a:lnTo>
                <a:lnTo>
                  <a:pt x="619978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457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F5188FE-472E-83D6-8864-3F80124EB5AB}"/>
              </a:ext>
            </a:extLst>
          </p:cNvPr>
          <p:cNvSpPr/>
          <p:nvPr/>
        </p:nvSpPr>
        <p:spPr>
          <a:xfrm>
            <a:off x="3387" y="6439417"/>
            <a:ext cx="5353071" cy="658727"/>
          </a:xfrm>
          <a:custGeom>
            <a:avLst/>
            <a:gdLst/>
            <a:ahLst/>
            <a:cxnLst/>
            <a:rect l="l" t="t" r="r" b="b"/>
            <a:pathLst>
              <a:path w="5353071" h="658727">
                <a:moveTo>
                  <a:pt x="0" y="0"/>
                </a:moveTo>
                <a:lnTo>
                  <a:pt x="5353071" y="0"/>
                </a:lnTo>
                <a:lnTo>
                  <a:pt x="535307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817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493E500-230B-5E29-151F-7AFAA67AE174}"/>
              </a:ext>
            </a:extLst>
          </p:cNvPr>
          <p:cNvGrpSpPr/>
          <p:nvPr/>
        </p:nvGrpSpPr>
        <p:grpSpPr>
          <a:xfrm>
            <a:off x="2053983" y="6737627"/>
            <a:ext cx="2625995" cy="310941"/>
            <a:chOff x="0" y="0"/>
            <a:chExt cx="972591" cy="11516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0D01BEF-37B9-D679-5221-4B83BA2340B9}"/>
                </a:ext>
              </a:extLst>
            </p:cNvPr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5C87FA1-70F9-67BC-1832-A9906C16482D}"/>
                </a:ext>
              </a:extLst>
            </p:cNvPr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6F9DE498-F7F4-6627-AE05-686819EDBE70}"/>
              </a:ext>
            </a:extLst>
          </p:cNvPr>
          <p:cNvSpPr/>
          <p:nvPr/>
        </p:nvSpPr>
        <p:spPr>
          <a:xfrm>
            <a:off x="2087407" y="6753204"/>
            <a:ext cx="279787" cy="279787"/>
          </a:xfrm>
          <a:custGeom>
            <a:avLst/>
            <a:gdLst/>
            <a:ahLst/>
            <a:cxnLst/>
            <a:rect l="l" t="t" r="r" b="b"/>
            <a:pathLst>
              <a:path w="279787" h="279787">
                <a:moveTo>
                  <a:pt x="0" y="0"/>
                </a:moveTo>
                <a:lnTo>
                  <a:pt x="279787" y="0"/>
                </a:lnTo>
                <a:lnTo>
                  <a:pt x="279787" y="279787"/>
                </a:lnTo>
                <a:lnTo>
                  <a:pt x="0" y="2797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30E4E2B-4227-6EA8-F10F-4E2D449802B1}"/>
              </a:ext>
            </a:extLst>
          </p:cNvPr>
          <p:cNvSpPr txBox="1"/>
          <p:nvPr/>
        </p:nvSpPr>
        <p:spPr>
          <a:xfrm>
            <a:off x="2169223" y="6439417"/>
            <a:ext cx="2762250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  <a:spcBef>
                <a:spcPct val="0"/>
              </a:spcBef>
            </a:pPr>
            <a:r>
              <a:rPr lang="en-US" sz="1601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1921"/>
              </a:lnSpc>
              <a:spcBef>
                <a:spcPct val="0"/>
              </a:spcBef>
            </a:pPr>
            <a:endParaRPr lang="en-US" sz="1601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151F862-E899-9E6B-B265-FB5AB76D46BB}"/>
              </a:ext>
            </a:extLst>
          </p:cNvPr>
          <p:cNvSpPr txBox="1"/>
          <p:nvPr/>
        </p:nvSpPr>
        <p:spPr>
          <a:xfrm>
            <a:off x="2425529" y="6805426"/>
            <a:ext cx="3112691" cy="1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  <a:spcBef>
                <a:spcPct val="0"/>
              </a:spcBef>
            </a:pPr>
            <a:r>
              <a:rPr lang="en-US" sz="1065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5C2D726-A480-6DEC-41C3-FDFE5A95026E}"/>
              </a:ext>
            </a:extLst>
          </p:cNvPr>
          <p:cNvSpPr/>
          <p:nvPr/>
        </p:nvSpPr>
        <p:spPr>
          <a:xfrm>
            <a:off x="8239509" y="6439417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93908A99-8D0F-740A-911B-523AA6B582AF}"/>
              </a:ext>
            </a:extLst>
          </p:cNvPr>
          <p:cNvSpPr/>
          <p:nvPr/>
        </p:nvSpPr>
        <p:spPr>
          <a:xfrm>
            <a:off x="0" y="64664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180273D8-DF09-0BC2-2AD9-B1561B17D094}"/>
              </a:ext>
            </a:extLst>
          </p:cNvPr>
          <p:cNvSpPr/>
          <p:nvPr/>
        </p:nvSpPr>
        <p:spPr>
          <a:xfrm flipV="1">
            <a:off x="9789" y="227073"/>
            <a:ext cx="9740424" cy="1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7" descr="Python if Statement (With Step-By-Step Video Tutorial)">
            <a:extLst>
              <a:ext uri="{FF2B5EF4-FFF2-40B4-BE49-F238E27FC236}">
                <a16:creationId xmlns:a16="http://schemas.microsoft.com/office/drawing/2014/main" id="{2BACB326-B81B-CF40-0EF4-24E18DA920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05200"/>
            <a:ext cx="20574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AutoShape 9" descr="Python if Statement (With Step-By-Step Video Tutorial)">
            <a:extLst>
              <a:ext uri="{FF2B5EF4-FFF2-40B4-BE49-F238E27FC236}">
                <a16:creationId xmlns:a16="http://schemas.microsoft.com/office/drawing/2014/main" id="{51179FE4-DC15-D84C-9A2D-379A87B1A2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05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DC7B8F-DC93-AFB4-A8F2-9BAD0B6E9D69}"/>
              </a:ext>
            </a:extLst>
          </p:cNvPr>
          <p:cNvSpPr txBox="1"/>
          <p:nvPr/>
        </p:nvSpPr>
        <p:spPr>
          <a:xfrm>
            <a:off x="115614" y="217056"/>
            <a:ext cx="5675586" cy="909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2400" b="1" kern="100" dirty="0">
                <a:solidFill>
                  <a:srgbClr val="2F5496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Bitwise Operators:</a:t>
            </a:r>
          </a:p>
          <a:p>
            <a:pPr marL="0" marR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Operate on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binary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values.</a:t>
            </a: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pic>
        <p:nvPicPr>
          <p:cNvPr id="5124" name="Picture 4" descr="Python Bitwise Operators With Detailed Code Examples // Unstop">
            <a:extLst>
              <a:ext uri="{FF2B5EF4-FFF2-40B4-BE49-F238E27FC236}">
                <a16:creationId xmlns:a16="http://schemas.microsoft.com/office/drawing/2014/main" id="{B809F0E6-63C1-801A-C7CF-452DDBFF5E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9" t="19091" r="6350" b="6079"/>
          <a:stretch>
            <a:fillRect/>
          </a:stretch>
        </p:blipFill>
        <p:spPr bwMode="auto">
          <a:xfrm>
            <a:off x="153050" y="1150383"/>
            <a:ext cx="5385170" cy="2507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1C9CCBC-214C-6F69-2164-A184C0F8DBBA}"/>
              </a:ext>
            </a:extLst>
          </p:cNvPr>
          <p:cNvSpPr txBox="1"/>
          <p:nvPr/>
        </p:nvSpPr>
        <p:spPr>
          <a:xfrm>
            <a:off x="5561868" y="3158603"/>
            <a:ext cx="4913586" cy="909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2400" b="1" kern="100" dirty="0">
                <a:solidFill>
                  <a:srgbClr val="2F5496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Membership Operators:</a:t>
            </a:r>
          </a:p>
          <a:p>
            <a:pPr marL="0" marR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Check if a value exists in a sequence.</a:t>
            </a: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1C0496B-6983-6644-8CF9-F4A69B79ACB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2501" r="10937" b="16518"/>
          <a:stretch>
            <a:fillRect/>
          </a:stretch>
        </p:blipFill>
        <p:spPr>
          <a:xfrm>
            <a:off x="5389882" y="4068083"/>
            <a:ext cx="3718738" cy="286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878632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66F90-3D44-7F86-0F44-82547DA4E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9EAD698-347B-E870-FAA9-D58B6F8F17FD}"/>
              </a:ext>
            </a:extLst>
          </p:cNvPr>
          <p:cNvSpPr/>
          <p:nvPr/>
        </p:nvSpPr>
        <p:spPr>
          <a:xfrm>
            <a:off x="7670567" y="464327"/>
            <a:ext cx="1953631" cy="794199"/>
          </a:xfrm>
          <a:custGeom>
            <a:avLst/>
            <a:gdLst/>
            <a:ahLst/>
            <a:cxnLst/>
            <a:rect l="l" t="t" r="r" b="b"/>
            <a:pathLst>
              <a:path w="1953631" h="794199">
                <a:moveTo>
                  <a:pt x="0" y="0"/>
                </a:moveTo>
                <a:lnTo>
                  <a:pt x="1953631" y="0"/>
                </a:lnTo>
                <a:lnTo>
                  <a:pt x="1953631" y="794199"/>
                </a:lnTo>
                <a:lnTo>
                  <a:pt x="0" y="794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C5E143B-6391-124A-1ECA-F05B22AEAF81}"/>
              </a:ext>
            </a:extLst>
          </p:cNvPr>
          <p:cNvSpPr/>
          <p:nvPr/>
        </p:nvSpPr>
        <p:spPr>
          <a:xfrm>
            <a:off x="0" y="6439417"/>
            <a:ext cx="4976798" cy="658727"/>
          </a:xfrm>
          <a:custGeom>
            <a:avLst/>
            <a:gdLst/>
            <a:ahLst/>
            <a:cxnLst/>
            <a:rect l="l" t="t" r="r" b="b"/>
            <a:pathLst>
              <a:path w="6199781" h="658727">
                <a:moveTo>
                  <a:pt x="0" y="0"/>
                </a:moveTo>
                <a:lnTo>
                  <a:pt x="6199781" y="0"/>
                </a:lnTo>
                <a:lnTo>
                  <a:pt x="619978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457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6F3FC8E-6D90-1BF0-7C89-C9C848B61E1B}"/>
              </a:ext>
            </a:extLst>
          </p:cNvPr>
          <p:cNvSpPr/>
          <p:nvPr/>
        </p:nvSpPr>
        <p:spPr>
          <a:xfrm>
            <a:off x="3387" y="6439417"/>
            <a:ext cx="5353071" cy="658727"/>
          </a:xfrm>
          <a:custGeom>
            <a:avLst/>
            <a:gdLst/>
            <a:ahLst/>
            <a:cxnLst/>
            <a:rect l="l" t="t" r="r" b="b"/>
            <a:pathLst>
              <a:path w="5353071" h="658727">
                <a:moveTo>
                  <a:pt x="0" y="0"/>
                </a:moveTo>
                <a:lnTo>
                  <a:pt x="5353071" y="0"/>
                </a:lnTo>
                <a:lnTo>
                  <a:pt x="5353071" y="658727"/>
                </a:lnTo>
                <a:lnTo>
                  <a:pt x="0" y="6587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817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7A40972-8570-BFFF-761B-E47861A6CE1C}"/>
              </a:ext>
            </a:extLst>
          </p:cNvPr>
          <p:cNvGrpSpPr/>
          <p:nvPr/>
        </p:nvGrpSpPr>
        <p:grpSpPr>
          <a:xfrm>
            <a:off x="2053983" y="6737627"/>
            <a:ext cx="2625995" cy="310941"/>
            <a:chOff x="0" y="0"/>
            <a:chExt cx="972591" cy="11516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E7A94E8-ACB1-9D16-F1B2-853C669469A5}"/>
                </a:ext>
              </a:extLst>
            </p:cNvPr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B40636C-7D01-F0AF-7D5C-C50B5B6B7AE9}"/>
                </a:ext>
              </a:extLst>
            </p:cNvPr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BA9A1EE5-08BC-2738-4EE7-ED90368402B5}"/>
              </a:ext>
            </a:extLst>
          </p:cNvPr>
          <p:cNvSpPr/>
          <p:nvPr/>
        </p:nvSpPr>
        <p:spPr>
          <a:xfrm>
            <a:off x="2087407" y="6753204"/>
            <a:ext cx="279787" cy="279787"/>
          </a:xfrm>
          <a:custGeom>
            <a:avLst/>
            <a:gdLst/>
            <a:ahLst/>
            <a:cxnLst/>
            <a:rect l="l" t="t" r="r" b="b"/>
            <a:pathLst>
              <a:path w="279787" h="279787">
                <a:moveTo>
                  <a:pt x="0" y="0"/>
                </a:moveTo>
                <a:lnTo>
                  <a:pt x="279787" y="0"/>
                </a:lnTo>
                <a:lnTo>
                  <a:pt x="279787" y="279787"/>
                </a:lnTo>
                <a:lnTo>
                  <a:pt x="0" y="2797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9B05CC0-9B40-7F7D-3399-5A4B37AD827A}"/>
              </a:ext>
            </a:extLst>
          </p:cNvPr>
          <p:cNvSpPr txBox="1"/>
          <p:nvPr/>
        </p:nvSpPr>
        <p:spPr>
          <a:xfrm>
            <a:off x="2169223" y="6439417"/>
            <a:ext cx="2762250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  <a:spcBef>
                <a:spcPct val="0"/>
              </a:spcBef>
            </a:pPr>
            <a:r>
              <a:rPr lang="en-US" sz="1601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Great Minds Technology</a:t>
            </a:r>
          </a:p>
          <a:p>
            <a:pPr algn="l">
              <a:lnSpc>
                <a:spcPts val="1921"/>
              </a:lnSpc>
              <a:spcBef>
                <a:spcPct val="0"/>
              </a:spcBef>
            </a:pPr>
            <a:endParaRPr lang="en-US" sz="1601" b="1" spc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F246028-E440-9262-1506-C4496FF41F25}"/>
              </a:ext>
            </a:extLst>
          </p:cNvPr>
          <p:cNvSpPr txBox="1"/>
          <p:nvPr/>
        </p:nvSpPr>
        <p:spPr>
          <a:xfrm>
            <a:off x="2425529" y="6805426"/>
            <a:ext cx="3112691" cy="17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  <a:spcBef>
                <a:spcPct val="0"/>
              </a:spcBef>
            </a:pPr>
            <a:r>
              <a:rPr lang="en-US" sz="1065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B6003FC-FD82-41DE-2A87-79863E864B4F}"/>
              </a:ext>
            </a:extLst>
          </p:cNvPr>
          <p:cNvSpPr/>
          <p:nvPr/>
        </p:nvSpPr>
        <p:spPr>
          <a:xfrm>
            <a:off x="8239509" y="6439417"/>
            <a:ext cx="1510704" cy="875783"/>
          </a:xfrm>
          <a:custGeom>
            <a:avLst/>
            <a:gdLst/>
            <a:ahLst/>
            <a:cxnLst/>
            <a:rect l="l" t="t" r="r" b="b"/>
            <a:pathLst>
              <a:path w="1510704" h="875783">
                <a:moveTo>
                  <a:pt x="0" y="0"/>
                </a:moveTo>
                <a:lnTo>
                  <a:pt x="1510704" y="0"/>
                </a:lnTo>
                <a:lnTo>
                  <a:pt x="1510704" y="875783"/>
                </a:lnTo>
                <a:lnTo>
                  <a:pt x="0" y="8757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158253" b="-139445"/>
            </a:stretch>
          </a:blip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57A90B91-FB4D-21EF-DAFB-E16B019CBE37}"/>
              </a:ext>
            </a:extLst>
          </p:cNvPr>
          <p:cNvSpPr/>
          <p:nvPr/>
        </p:nvSpPr>
        <p:spPr>
          <a:xfrm>
            <a:off x="0" y="64664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757D6C7C-7A6D-F761-D8CE-ADFFACD6AFF6}"/>
              </a:ext>
            </a:extLst>
          </p:cNvPr>
          <p:cNvSpPr/>
          <p:nvPr/>
        </p:nvSpPr>
        <p:spPr>
          <a:xfrm flipV="1">
            <a:off x="9789" y="227073"/>
            <a:ext cx="9740424" cy="1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7" descr="Python if Statement (With Step-By-Step Video Tutorial)">
            <a:extLst>
              <a:ext uri="{FF2B5EF4-FFF2-40B4-BE49-F238E27FC236}">
                <a16:creationId xmlns:a16="http://schemas.microsoft.com/office/drawing/2014/main" id="{EA1FAEEA-A034-562E-9BC2-FE44A75898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05200"/>
            <a:ext cx="20574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AutoShape 9" descr="Python if Statement (With Step-By-Step Video Tutorial)">
            <a:extLst>
              <a:ext uri="{FF2B5EF4-FFF2-40B4-BE49-F238E27FC236}">
                <a16:creationId xmlns:a16="http://schemas.microsoft.com/office/drawing/2014/main" id="{37E1AAF9-13B4-C45D-2D9C-47ACEB7AFE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05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B7AA32-6AE7-9A93-BCB3-F6D95D43FBDD}"/>
              </a:ext>
            </a:extLst>
          </p:cNvPr>
          <p:cNvSpPr txBox="1"/>
          <p:nvPr/>
        </p:nvSpPr>
        <p:spPr>
          <a:xfrm>
            <a:off x="228600" y="933535"/>
            <a:ext cx="5675586" cy="107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Identity Operators</a:t>
            </a:r>
          </a:p>
          <a:p>
            <a:r>
              <a:rPr lang="en-US" dirty="0"/>
              <a:t>Compare memory location of objects.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C5473AB-CF67-6834-6ADF-5B18443A89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5424" y="1914238"/>
            <a:ext cx="7917951" cy="318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09868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147871"/>
            <a:ext cx="9753600" cy="4795520"/>
          </a:xfrm>
          <a:custGeom>
            <a:avLst/>
            <a:gdLst/>
            <a:ahLst/>
            <a:cxnLst/>
            <a:rect l="l" t="t" r="r" b="b"/>
            <a:pathLst>
              <a:path w="9753600" h="4795520">
                <a:moveTo>
                  <a:pt x="0" y="0"/>
                </a:moveTo>
                <a:lnTo>
                  <a:pt x="9753600" y="0"/>
                </a:lnTo>
                <a:lnTo>
                  <a:pt x="9753600" y="4795520"/>
                </a:lnTo>
                <a:lnTo>
                  <a:pt x="0" y="4795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</a:blip>
            <a:stretch>
              <a:fillRect l="-8069" t="-1584" r="-8069" b="-158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632998" y="347729"/>
            <a:ext cx="1968250" cy="800142"/>
          </a:xfrm>
          <a:custGeom>
            <a:avLst/>
            <a:gdLst/>
            <a:ahLst/>
            <a:cxnLst/>
            <a:rect l="l" t="t" r="r" b="b"/>
            <a:pathLst>
              <a:path w="1968250" h="800142">
                <a:moveTo>
                  <a:pt x="0" y="0"/>
                </a:moveTo>
                <a:lnTo>
                  <a:pt x="1968250" y="0"/>
                </a:lnTo>
                <a:lnTo>
                  <a:pt x="1968250" y="800142"/>
                </a:lnTo>
                <a:lnTo>
                  <a:pt x="0" y="800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948113" y="3943160"/>
            <a:ext cx="3901440" cy="1804416"/>
            <a:chOff x="0" y="0"/>
            <a:chExt cx="5201920" cy="24058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01920" cy="2405888"/>
            </a:xfrm>
            <a:custGeom>
              <a:avLst/>
              <a:gdLst/>
              <a:ahLst/>
              <a:cxnLst/>
              <a:rect l="l" t="t" r="r" b="b"/>
              <a:pathLst>
                <a:path w="5201920" h="2405888">
                  <a:moveTo>
                    <a:pt x="0" y="0"/>
                  </a:moveTo>
                  <a:lnTo>
                    <a:pt x="5201920" y="0"/>
                  </a:lnTo>
                  <a:lnTo>
                    <a:pt x="5201920" y="2405888"/>
                  </a:lnTo>
                  <a:lnTo>
                    <a:pt x="0" y="2405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269930" y="557457"/>
              <a:ext cx="4662061" cy="1291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88"/>
                </a:lnSpc>
                <a:spcBef>
                  <a:spcPct val="0"/>
                </a:spcBef>
              </a:pPr>
              <a:r>
                <a:rPr lang="en-US" sz="2073" b="1">
                  <a:solidFill>
                    <a:srgbClr val="0133A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Great Minds Discuss Ideas </a:t>
              </a:r>
            </a:p>
            <a:p>
              <a:pPr algn="ctr">
                <a:lnSpc>
                  <a:spcPts val="2488"/>
                </a:lnSpc>
                <a:spcBef>
                  <a:spcPct val="0"/>
                </a:spcBef>
              </a:pPr>
              <a:r>
                <a:rPr lang="en-US" sz="2073" spc="-1">
                  <a:solidFill>
                    <a:srgbClr val="0133A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Average Minds Discuss Event </a:t>
              </a:r>
            </a:p>
            <a:p>
              <a:pPr algn="ctr">
                <a:lnSpc>
                  <a:spcPts val="2488"/>
                </a:lnSpc>
                <a:spcBef>
                  <a:spcPct val="0"/>
                </a:spcBef>
              </a:pPr>
              <a:r>
                <a:rPr lang="en-US" sz="2073" spc="-1">
                  <a:solidFill>
                    <a:srgbClr val="0133A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Small Minds discuss people</a:t>
              </a:r>
              <a:r>
                <a:rPr lang="en-US" sz="2073" b="1" spc="-1">
                  <a:solidFill>
                    <a:srgbClr val="0133A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82778" y="1872603"/>
            <a:ext cx="7788043" cy="1185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45"/>
              </a:lnSpc>
              <a:spcBef>
                <a:spcPct val="0"/>
              </a:spcBef>
            </a:pPr>
            <a:r>
              <a:rPr lang="en-US" sz="7788" spc="-3">
                <a:solidFill>
                  <a:srgbClr val="0133AB"/>
                </a:solidFill>
                <a:latin typeface="Brittany"/>
                <a:ea typeface="Brittany"/>
                <a:cs typeface="Brittany"/>
                <a:sym typeface="Brittany"/>
              </a:rPr>
              <a:t>Thank You</a:t>
            </a:r>
          </a:p>
        </p:txBody>
      </p:sp>
      <p:sp>
        <p:nvSpPr>
          <p:cNvPr id="9" name="Freeform 9"/>
          <p:cNvSpPr/>
          <p:nvPr/>
        </p:nvSpPr>
        <p:spPr>
          <a:xfrm>
            <a:off x="0" y="6615901"/>
            <a:ext cx="5744718" cy="699299"/>
          </a:xfrm>
          <a:custGeom>
            <a:avLst/>
            <a:gdLst/>
            <a:ahLst/>
            <a:cxnLst/>
            <a:rect l="l" t="t" r="r" b="b"/>
            <a:pathLst>
              <a:path w="5744718" h="699299">
                <a:moveTo>
                  <a:pt x="0" y="0"/>
                </a:moveTo>
                <a:lnTo>
                  <a:pt x="5744718" y="0"/>
                </a:lnTo>
                <a:lnTo>
                  <a:pt x="5744718" y="699299"/>
                </a:lnTo>
                <a:lnTo>
                  <a:pt x="0" y="6992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4568"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3986278" y="6615901"/>
            <a:ext cx="5770709" cy="699299"/>
          </a:xfrm>
          <a:custGeom>
            <a:avLst/>
            <a:gdLst/>
            <a:ahLst/>
            <a:cxnLst/>
            <a:rect l="l" t="t" r="r" b="b"/>
            <a:pathLst>
              <a:path w="5770709" h="699299">
                <a:moveTo>
                  <a:pt x="0" y="0"/>
                </a:moveTo>
                <a:lnTo>
                  <a:pt x="5770709" y="0"/>
                </a:lnTo>
                <a:lnTo>
                  <a:pt x="5770709" y="699299"/>
                </a:lnTo>
                <a:lnTo>
                  <a:pt x="0" y="6992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4052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881089" y="6645917"/>
            <a:ext cx="193249" cy="225363"/>
          </a:xfrm>
          <a:custGeom>
            <a:avLst/>
            <a:gdLst/>
            <a:ahLst/>
            <a:cxnLst/>
            <a:rect l="l" t="t" r="r" b="b"/>
            <a:pathLst>
              <a:path w="193249" h="225363">
                <a:moveTo>
                  <a:pt x="0" y="0"/>
                </a:moveTo>
                <a:lnTo>
                  <a:pt x="193249" y="0"/>
                </a:lnTo>
                <a:lnTo>
                  <a:pt x="193249" y="225364"/>
                </a:lnTo>
                <a:lnTo>
                  <a:pt x="0" y="2253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362009" y="6653916"/>
            <a:ext cx="193574" cy="193574"/>
          </a:xfrm>
          <a:custGeom>
            <a:avLst/>
            <a:gdLst/>
            <a:ahLst/>
            <a:cxnLst/>
            <a:rect l="l" t="t" r="r" b="b"/>
            <a:pathLst>
              <a:path w="193574" h="193574">
                <a:moveTo>
                  <a:pt x="0" y="0"/>
                </a:moveTo>
                <a:lnTo>
                  <a:pt x="193574" y="0"/>
                </a:lnTo>
                <a:lnTo>
                  <a:pt x="193574" y="193573"/>
                </a:lnTo>
                <a:lnTo>
                  <a:pt x="0" y="19357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984631" y="6617602"/>
            <a:ext cx="1335729" cy="23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400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9500101075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97232" y="6617602"/>
            <a:ext cx="2606570" cy="229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4"/>
              </a:lnSpc>
              <a:spcBef>
                <a:spcPct val="0"/>
              </a:spcBef>
            </a:pPr>
            <a:r>
              <a:rPr lang="en-US" sz="1395" b="1" spc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  <a:hlinkClick r:id="rId14" tooltip="mailto:info@greatmindstechnology.in"/>
              </a:rPr>
              <a:t>info@greatmindstechnology.in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3504965" y="6912625"/>
            <a:ext cx="2787736" cy="330092"/>
            <a:chOff x="0" y="0"/>
            <a:chExt cx="972591" cy="1151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72591" cy="115163"/>
            </a:xfrm>
            <a:custGeom>
              <a:avLst/>
              <a:gdLst/>
              <a:ahLst/>
              <a:cxnLst/>
              <a:rect l="l" t="t" r="r" b="b"/>
              <a:pathLst>
                <a:path w="972591" h="115163">
                  <a:moveTo>
                    <a:pt x="57582" y="0"/>
                  </a:moveTo>
                  <a:lnTo>
                    <a:pt x="915009" y="0"/>
                  </a:lnTo>
                  <a:cubicBezTo>
                    <a:pt x="930281" y="0"/>
                    <a:pt x="944927" y="6067"/>
                    <a:pt x="955726" y="16865"/>
                  </a:cubicBezTo>
                  <a:cubicBezTo>
                    <a:pt x="966524" y="27664"/>
                    <a:pt x="972591" y="42310"/>
                    <a:pt x="972591" y="57582"/>
                  </a:cubicBezTo>
                  <a:lnTo>
                    <a:pt x="972591" y="57582"/>
                  </a:lnTo>
                  <a:cubicBezTo>
                    <a:pt x="972591" y="72853"/>
                    <a:pt x="966524" y="87499"/>
                    <a:pt x="955726" y="98298"/>
                  </a:cubicBezTo>
                  <a:cubicBezTo>
                    <a:pt x="944927" y="109097"/>
                    <a:pt x="930281" y="115163"/>
                    <a:pt x="915009" y="115163"/>
                  </a:cubicBezTo>
                  <a:lnTo>
                    <a:pt x="57582" y="115163"/>
                  </a:lnTo>
                  <a:cubicBezTo>
                    <a:pt x="42310" y="115163"/>
                    <a:pt x="27664" y="109097"/>
                    <a:pt x="16865" y="98298"/>
                  </a:cubicBezTo>
                  <a:cubicBezTo>
                    <a:pt x="6067" y="87499"/>
                    <a:pt x="0" y="72853"/>
                    <a:pt x="0" y="57582"/>
                  </a:cubicBezTo>
                  <a:lnTo>
                    <a:pt x="0" y="57582"/>
                  </a:lnTo>
                  <a:cubicBezTo>
                    <a:pt x="0" y="42310"/>
                    <a:pt x="6067" y="27664"/>
                    <a:pt x="16865" y="16865"/>
                  </a:cubicBezTo>
                  <a:cubicBezTo>
                    <a:pt x="27664" y="6067"/>
                    <a:pt x="42310" y="0"/>
                    <a:pt x="575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972591" cy="11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1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3540447" y="6929161"/>
            <a:ext cx="297020" cy="297020"/>
          </a:xfrm>
          <a:custGeom>
            <a:avLst/>
            <a:gdLst/>
            <a:ahLst/>
            <a:cxnLst/>
            <a:rect l="l" t="t" r="r" b="b"/>
            <a:pathLst>
              <a:path w="297020" h="297020">
                <a:moveTo>
                  <a:pt x="0" y="0"/>
                </a:moveTo>
                <a:lnTo>
                  <a:pt x="297020" y="0"/>
                </a:lnTo>
                <a:lnTo>
                  <a:pt x="297020" y="297020"/>
                </a:lnTo>
                <a:lnTo>
                  <a:pt x="0" y="29702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899395" y="6984600"/>
            <a:ext cx="2198873" cy="18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7"/>
              </a:lnSpc>
              <a:spcBef>
                <a:spcPct val="0"/>
              </a:spcBef>
            </a:pPr>
            <a:r>
              <a:rPr lang="en-US" sz="1131" b="1" spc="0">
                <a:solidFill>
                  <a:srgbClr val="0133A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www.greatmindstechnology.in </a:t>
            </a:r>
          </a:p>
        </p:txBody>
      </p:sp>
      <p:sp>
        <p:nvSpPr>
          <p:cNvPr id="20" name="AutoShape 20"/>
          <p:cNvSpPr/>
          <p:nvPr/>
        </p:nvSpPr>
        <p:spPr>
          <a:xfrm>
            <a:off x="0" y="71437"/>
            <a:ext cx="9753600" cy="0"/>
          </a:xfrm>
          <a:prstGeom prst="line">
            <a:avLst/>
          </a:prstGeom>
          <a:ln w="142875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9789" y="233847"/>
            <a:ext cx="9743811" cy="0"/>
          </a:xfrm>
          <a:prstGeom prst="line">
            <a:avLst/>
          </a:prstGeom>
          <a:ln w="38100" cap="flat">
            <a:solidFill>
              <a:srgbClr val="0133A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1510</Words>
  <Application>Microsoft Office PowerPoint</Application>
  <PresentationFormat>Custom</PresentationFormat>
  <Paragraphs>223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40" baseType="lpstr">
      <vt:lpstr>Georgia</vt:lpstr>
      <vt:lpstr>Bahnschrift SemiBold</vt:lpstr>
      <vt:lpstr>Helvetica World Bold</vt:lpstr>
      <vt:lpstr>Consolas</vt:lpstr>
      <vt:lpstr>Microsoft Sans Serif</vt:lpstr>
      <vt:lpstr>Times New Roman</vt:lpstr>
      <vt:lpstr>Arial</vt:lpstr>
      <vt:lpstr>Helavetica</vt:lpstr>
      <vt:lpstr>Cambria</vt:lpstr>
      <vt:lpstr>Segoe UI Black</vt:lpstr>
      <vt:lpstr>Segoe UI Semibold</vt:lpstr>
      <vt:lpstr>Helvetica World</vt:lpstr>
      <vt:lpstr>Brittany</vt:lpstr>
      <vt:lpstr>SimSun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Gmt_pakages_workshop.ppt</dc:title>
  <dc:creator>Gokula lakshmi</dc:creator>
  <cp:lastModifiedBy>Gokulalakshmi M</cp:lastModifiedBy>
  <cp:revision>5</cp:revision>
  <dcterms:created xsi:type="dcterms:W3CDTF">2006-08-16T00:00:00Z</dcterms:created>
  <dcterms:modified xsi:type="dcterms:W3CDTF">2025-07-15T08:16:04Z</dcterms:modified>
  <dc:identifier>DAGh9l05GGg</dc:identifier>
</cp:coreProperties>
</file>